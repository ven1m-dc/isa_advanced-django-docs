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4A1D3F5-58A1-443D-978F-836DC81D758F}">
  <a:tblStyle styleId="{B4A1D3F5-58A1-443D-978F-836DC81D758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232C1606-2CB2-444E-9CAF-5D1FB21A1956}"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 name="Google Shape;6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4117a414f0_0_2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1" name="Google Shape;71;g24117a414f0_0_2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 name="Google Shape;72;g24117a414f0_0_24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d07e4e0d44_0_8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0" name="Google Shape;80;g1d07e4e0d44_0_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d07e4e0d44_0_13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7" name="Google Shape;87;g1d07e4e0d44_0_1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d079ec2df4_0_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1d079ec2df4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ce2be6dafc_0_19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1ce2be6dafc_0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Always looking for patterns to solve problems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architectural patterns - general reusable solution that describes the main components and their role in the system</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Other patterns - computational patterns - formulas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structural patterns - relationship of classes in application to make code more maintainable</a:t>
            </a:r>
            <a:endParaRPr sz="12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11" name="Google Shape;11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d079ec2df4_1_19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3" name="Google Shape;153;g1d079ec2df4_1_1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d079ec2df4_0_6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8" name="Google Shape;168;g1d079ec2df4_0_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c87bf8e6a5_0_10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1c87bf8e6a5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4117a414f0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3" name="Google Shape;183;g24117a414f0_0_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g24117a414f0_0_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4117a414f0_0_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1" name="Google Shape;191;g24117a414f0_0_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g24117a414f0_0_1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4117a414f0_0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g24117a414f0_0_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a:p>
        </p:txBody>
      </p:sp>
      <p:sp>
        <p:nvSpPr>
          <p:cNvPr id="200" name="Google Shape;200;g24117a414f0_0_2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n-US" sz="2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4117a414f0_0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g24117a414f0_0_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a:p>
        </p:txBody>
      </p:sp>
      <p:sp>
        <p:nvSpPr>
          <p:cNvPr id="210" name="Google Shape;210;g24117a414f0_0_3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n-US" sz="2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4117a414f0_0_3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24117a414f0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4117a414f0_0_4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24117a414f0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4117a414f0_0_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4" name="Google Shape;234;g24117a414f0_0_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Run command in linux environment </a:t>
            </a:r>
            <a:endParaRPr/>
          </a:p>
        </p:txBody>
      </p:sp>
      <p:sp>
        <p:nvSpPr>
          <p:cNvPr id="235" name="Google Shape;235;g24117a414f0_0_5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4117a414f0_0_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3" name="Google Shape;243;g24117a414f0_0_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Run command in linux environment </a:t>
            </a:r>
            <a:endParaRPr/>
          </a:p>
        </p:txBody>
      </p:sp>
      <p:sp>
        <p:nvSpPr>
          <p:cNvPr id="244" name="Google Shape;244;g24117a414f0_0_6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4117a414f0_0_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1" name="Google Shape;251;g24117a414f0_0_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g24117a414f0_0_6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4117a414f0_0_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g24117a414f0_0_7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Demo: see cookie arriving from Google.com</a:t>
            </a:r>
            <a:endParaRPr/>
          </a:p>
          <a:p>
            <a:pPr indent="0" lvl="0" marL="0" rtl="0" algn="l">
              <a:lnSpc>
                <a:spcPct val="100000"/>
              </a:lnSpc>
              <a:spcBef>
                <a:spcPts val="0"/>
              </a:spcBef>
              <a:spcAft>
                <a:spcPts val="0"/>
              </a:spcAft>
              <a:buClr>
                <a:schemeClr val="dk1"/>
              </a:buClr>
              <a:buSzPts val="1800"/>
              <a:buFont typeface="Arial"/>
              <a:buNone/>
            </a:pPr>
            <a:r>
              <a:rPr lang="en-US">
                <a:solidFill>
                  <a:schemeClr val="dk1"/>
                </a:solidFill>
              </a:rPr>
              <a:t>curl -D - http://www.google.com -o /dev/null</a:t>
            </a:r>
            <a:endParaRPr/>
          </a:p>
        </p:txBody>
      </p:sp>
      <p:sp>
        <p:nvSpPr>
          <p:cNvPr id="262" name="Google Shape;262;g24117a414f0_0_7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n-US" sz="2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4117a414f0_0_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9" name="Google Shape;269;g24117a414f0_0_8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0" name="Google Shape;270;g24117a414f0_0_8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4117a414f0_0_9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7" name="Google Shape;277;g24117a414f0_0_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4117a414f0_0_9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g24117a414f0_0_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4117a414f0_0_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3" name="Google Shape;293;g24117a414f0_0_10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g24117a414f0_0_10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4117a414f0_0_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0" name="Google Shape;300;g24117a414f0_0_10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g24117a414f0_0_10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4117a414f0_0_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7" name="Google Shape;307;g24117a414f0_0_1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g24117a414f0_0_11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4117a414f0_0_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5" name="Google Shape;315;g24117a414f0_0_1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Prepare routes ahead of time</a:t>
            </a:r>
            <a:endParaRPr/>
          </a:p>
        </p:txBody>
      </p:sp>
      <p:sp>
        <p:nvSpPr>
          <p:cNvPr id="316" name="Google Shape;316;g24117a414f0_0_12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4117a414f0_0_1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4" name="Google Shape;324;g24117a414f0_0_1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Look at json and html </a:t>
            </a:r>
            <a:endParaRPr/>
          </a:p>
        </p:txBody>
      </p:sp>
      <p:sp>
        <p:nvSpPr>
          <p:cNvPr id="325" name="Google Shape;325;g24117a414f0_0_13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4117a414f0_0_1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6" name="Google Shape;336;g24117a414f0_0_1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g24117a414f0_0_14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4117a414f0_0_1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5" name="Google Shape;345;g24117a414f0_0_1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When running use your access token and api_key</a:t>
            </a:r>
            <a:endParaRPr/>
          </a:p>
        </p:txBody>
      </p:sp>
      <p:sp>
        <p:nvSpPr>
          <p:cNvPr id="346" name="Google Shape;346;g24117a414f0_0_14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4117a414f0_0_1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5" name="Google Shape;355;g24117a414f0_0_1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g24117a414f0_0_15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4117a414f0_0_1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g24117a414f0_0_1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24117a414f0_0_16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n-US" sz="2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4117a414f0_0_1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5" name="Google Shape;375;g24117a414f0_0_18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g24117a414f0_0_18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3ecd10a70a_1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g33ecd10a70a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3ecd10a70a_1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g33ecd10a70a_1_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9" name="Google Shape;389;g33ecd10a70a_1_5: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3ecd10a70a_1_1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g33ecd10a70a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3ecd10a70a_1_2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g33ecd10a70a_1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3ecd10a70a_1_2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g33ecd10a70a_1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3ecd10a70a_1_3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g33ecd10a70a_1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3ecd10a70a_1_4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g33ecd10a70a_1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3ecd10a70a_1_5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g33ecd10a70a_1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3ecd10a70a_1_5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6" name="Google Shape;446;g33ecd10a70a_1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33"/>
            <a:ext cx="45720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965600"/>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4" name="Google Shape;44;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p13"/>
          <p:cNvSpPr txBox="1"/>
          <p:nvPr>
            <p:ph type="title"/>
          </p:nvPr>
        </p:nvSpPr>
        <p:spPr>
          <a:xfrm>
            <a:off x="1219200" y="0"/>
            <a:ext cx="7924800" cy="11430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a:lvl2pPr>
            <a:lvl3pPr lvl="2" rtl="0" algn="ctr">
              <a:lnSpc>
                <a:spcPct val="100000"/>
              </a:lnSpc>
              <a:spcBef>
                <a:spcPts val="0"/>
              </a:spcBef>
              <a:spcAft>
                <a:spcPts val="0"/>
              </a:spcAft>
              <a:buSzPts val="2800"/>
              <a:buNone/>
              <a:defRPr/>
            </a:lvl3pPr>
            <a:lvl4pPr lvl="3" rtl="0" algn="ctr">
              <a:lnSpc>
                <a:spcPct val="100000"/>
              </a:lnSpc>
              <a:spcBef>
                <a:spcPts val="0"/>
              </a:spcBef>
              <a:spcAft>
                <a:spcPts val="0"/>
              </a:spcAft>
              <a:buSzPts val="2800"/>
              <a:buNone/>
              <a:defRPr/>
            </a:lvl4pPr>
            <a:lvl5pPr lvl="4" rtl="0" algn="ctr">
              <a:lnSpc>
                <a:spcPct val="100000"/>
              </a:lnSpc>
              <a:spcBef>
                <a:spcPts val="0"/>
              </a:spcBef>
              <a:spcAft>
                <a:spcPts val="0"/>
              </a:spcAft>
              <a:buSzPts val="2800"/>
              <a:buNone/>
              <a:defRPr/>
            </a:lvl5pPr>
            <a:lvl6pPr lvl="5" rtl="0" algn="ctr">
              <a:lnSpc>
                <a:spcPct val="100000"/>
              </a:lnSpc>
              <a:spcBef>
                <a:spcPts val="0"/>
              </a:spcBef>
              <a:spcAft>
                <a:spcPts val="0"/>
              </a:spcAft>
              <a:buSzPts val="2800"/>
              <a:buNone/>
              <a:defRPr/>
            </a:lvl6pPr>
            <a:lvl7pPr lvl="6" rtl="0" algn="ctr">
              <a:lnSpc>
                <a:spcPct val="100000"/>
              </a:lnSpc>
              <a:spcBef>
                <a:spcPts val="0"/>
              </a:spcBef>
              <a:spcAft>
                <a:spcPts val="0"/>
              </a:spcAft>
              <a:buSzPts val="2800"/>
              <a:buNone/>
              <a:defRPr/>
            </a:lvl7pPr>
            <a:lvl8pPr lvl="7" rtl="0" algn="ctr">
              <a:lnSpc>
                <a:spcPct val="100000"/>
              </a:lnSpc>
              <a:spcBef>
                <a:spcPts val="0"/>
              </a:spcBef>
              <a:spcAft>
                <a:spcPts val="0"/>
              </a:spcAft>
              <a:buSzPts val="2800"/>
              <a:buNone/>
              <a:defRPr/>
            </a:lvl8pPr>
            <a:lvl9pPr lvl="8" rtl="0" algn="ctr">
              <a:lnSpc>
                <a:spcPct val="100000"/>
              </a:lnSpc>
              <a:spcBef>
                <a:spcPts val="0"/>
              </a:spcBef>
              <a:spcAft>
                <a:spcPts val="0"/>
              </a:spcAft>
              <a:buSzPts val="2800"/>
              <a:buNone/>
              <a:defRPr/>
            </a:lvl9pPr>
          </a:lstStyle>
          <a:p/>
        </p:txBody>
      </p:sp>
      <p:sp>
        <p:nvSpPr>
          <p:cNvPr id="56" name="Google Shape;56;p13"/>
          <p:cNvSpPr txBox="1"/>
          <p:nvPr>
            <p:ph idx="1" type="body"/>
          </p:nvPr>
        </p:nvSpPr>
        <p:spPr>
          <a:xfrm>
            <a:off x="304800" y="1371600"/>
            <a:ext cx="8534400" cy="4754700"/>
          </a:xfrm>
          <a:prstGeom prst="rect">
            <a:avLst/>
          </a:prstGeom>
          <a:noFill/>
          <a:ln>
            <a:noFill/>
          </a:ln>
        </p:spPr>
        <p:txBody>
          <a:bodyPr anchorCtr="0" anchor="t" bIns="45700" lIns="91425" spcFirstLastPara="1" rIns="91425" wrap="square" tIns="45700">
            <a:noAutofit/>
          </a:bodyPr>
          <a:lstStyle>
            <a:lvl1pPr indent="-342900" lvl="0" marL="457200" rtl="0" algn="l">
              <a:lnSpc>
                <a:spcPct val="115000"/>
              </a:lnSpc>
              <a:spcBef>
                <a:spcPts val="360"/>
              </a:spcBef>
              <a:spcAft>
                <a:spcPts val="0"/>
              </a:spcAft>
              <a:buClr>
                <a:schemeClr val="dk1"/>
              </a:buClr>
              <a:buSzPts val="1800"/>
              <a:buChar char="●"/>
              <a:defRPr/>
            </a:lvl1pPr>
            <a:lvl2pPr indent="-342900" lvl="1" marL="914400" rtl="0" algn="l">
              <a:lnSpc>
                <a:spcPct val="115000"/>
              </a:lnSpc>
              <a:spcBef>
                <a:spcPts val="360"/>
              </a:spcBef>
              <a:spcAft>
                <a:spcPts val="0"/>
              </a:spcAft>
              <a:buClr>
                <a:schemeClr val="dk1"/>
              </a:buClr>
              <a:buSzPts val="1800"/>
              <a:buChar char="○"/>
              <a:defRPr/>
            </a:lvl2pPr>
            <a:lvl3pPr indent="-342900" lvl="2" marL="1371600" rtl="0" algn="l">
              <a:lnSpc>
                <a:spcPct val="115000"/>
              </a:lnSpc>
              <a:spcBef>
                <a:spcPts val="360"/>
              </a:spcBef>
              <a:spcAft>
                <a:spcPts val="0"/>
              </a:spcAft>
              <a:buClr>
                <a:schemeClr val="dk1"/>
              </a:buClr>
              <a:buSzPts val="1800"/>
              <a:buChar char="■"/>
              <a:defRPr/>
            </a:lvl3pPr>
            <a:lvl4pPr indent="-342900" lvl="3" marL="1828800" rtl="0" algn="l">
              <a:lnSpc>
                <a:spcPct val="115000"/>
              </a:lnSpc>
              <a:spcBef>
                <a:spcPts val="360"/>
              </a:spcBef>
              <a:spcAft>
                <a:spcPts val="0"/>
              </a:spcAft>
              <a:buClr>
                <a:schemeClr val="dk1"/>
              </a:buClr>
              <a:buSzPts val="1800"/>
              <a:buChar char="●"/>
              <a:defRPr/>
            </a:lvl4pPr>
            <a:lvl5pPr indent="-342900" lvl="4" marL="2286000" rtl="0" algn="l">
              <a:lnSpc>
                <a:spcPct val="115000"/>
              </a:lnSpc>
              <a:spcBef>
                <a:spcPts val="360"/>
              </a:spcBef>
              <a:spcAft>
                <a:spcPts val="0"/>
              </a:spcAft>
              <a:buClr>
                <a:schemeClr val="dk1"/>
              </a:buClr>
              <a:buSzPts val="1800"/>
              <a:buChar char="○"/>
              <a:defRPr/>
            </a:lvl5pPr>
            <a:lvl6pPr indent="-342900" lvl="5" marL="2743200" rtl="0" algn="l">
              <a:lnSpc>
                <a:spcPct val="115000"/>
              </a:lnSpc>
              <a:spcBef>
                <a:spcPts val="360"/>
              </a:spcBef>
              <a:spcAft>
                <a:spcPts val="0"/>
              </a:spcAft>
              <a:buClr>
                <a:schemeClr val="dk1"/>
              </a:buClr>
              <a:buSzPts val="1800"/>
              <a:buChar char="■"/>
              <a:defRPr/>
            </a:lvl6pPr>
            <a:lvl7pPr indent="-342900" lvl="6" marL="3200400" rtl="0" algn="l">
              <a:lnSpc>
                <a:spcPct val="115000"/>
              </a:lnSpc>
              <a:spcBef>
                <a:spcPts val="360"/>
              </a:spcBef>
              <a:spcAft>
                <a:spcPts val="0"/>
              </a:spcAft>
              <a:buClr>
                <a:schemeClr val="dk1"/>
              </a:buClr>
              <a:buSzPts val="1800"/>
              <a:buChar char="●"/>
              <a:defRPr/>
            </a:lvl7pPr>
            <a:lvl8pPr indent="-342900" lvl="7" marL="3657600" rtl="0" algn="l">
              <a:lnSpc>
                <a:spcPct val="115000"/>
              </a:lnSpc>
              <a:spcBef>
                <a:spcPts val="360"/>
              </a:spcBef>
              <a:spcAft>
                <a:spcPts val="0"/>
              </a:spcAft>
              <a:buClr>
                <a:schemeClr val="dk1"/>
              </a:buClr>
              <a:buSzPts val="1800"/>
              <a:buChar char="○"/>
              <a:defRPr/>
            </a:lvl8pPr>
            <a:lvl9pPr indent="-342900" lvl="8" marL="4114800" rtl="0" algn="l">
              <a:lnSpc>
                <a:spcPct val="115000"/>
              </a:lnSpc>
              <a:spcBef>
                <a:spcPts val="360"/>
              </a:spcBef>
              <a:spcAft>
                <a:spcPts val="0"/>
              </a:spcAft>
              <a:buClr>
                <a:schemeClr val="dk1"/>
              </a:buClr>
              <a:buSzPts val="1800"/>
              <a:buChar char="■"/>
              <a:defRPr/>
            </a:lvl9pPr>
          </a:lstStyle>
          <a:p/>
        </p:txBody>
      </p:sp>
      <p:sp>
        <p:nvSpPr>
          <p:cNvPr id="57" name="Google Shape;57;p13"/>
          <p:cNvSpPr txBox="1"/>
          <p:nvPr>
            <p:ph idx="11" type="ftr"/>
          </p:nvPr>
        </p:nvSpPr>
        <p:spPr>
          <a:xfrm>
            <a:off x="3124200" y="6461125"/>
            <a:ext cx="2895600" cy="3207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8" name="Google Shape;58;p13"/>
          <p:cNvSpPr txBox="1"/>
          <p:nvPr>
            <p:ph idx="12" type="sldNum"/>
          </p:nvPr>
        </p:nvSpPr>
        <p:spPr>
          <a:xfrm>
            <a:off x="7010400" y="6400800"/>
            <a:ext cx="21336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Helvetica Neue"/>
              <a:buNone/>
              <a:defRPr b="0" i="0" sz="1400" u="none" cap="none" strike="noStrike">
                <a:solidFill>
                  <a:schemeClr val="dk1"/>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chemeClr val="dk1"/>
              </a:buClr>
              <a:buSzPts val="1400"/>
              <a:buFont typeface="Helvetica Neue"/>
              <a:buNone/>
              <a:defRPr b="0" i="0" sz="1400" u="none" cap="none" strike="noStrike">
                <a:solidFill>
                  <a:schemeClr val="dk1"/>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chemeClr val="dk1"/>
              </a:buClr>
              <a:buSzPts val="1400"/>
              <a:buFont typeface="Helvetica Neue"/>
              <a:buNone/>
              <a:defRPr b="0" i="0" sz="1400" u="none" cap="none" strike="noStrike">
                <a:solidFill>
                  <a:schemeClr val="dk1"/>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chemeClr val="dk1"/>
              </a:buClr>
              <a:buSzPts val="1400"/>
              <a:buFont typeface="Helvetica Neue"/>
              <a:buNone/>
              <a:defRPr b="0" i="0" sz="1400" u="none" cap="none" strike="noStrike">
                <a:solidFill>
                  <a:schemeClr val="dk1"/>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chemeClr val="dk1"/>
              </a:buClr>
              <a:buSzPts val="1400"/>
              <a:buFont typeface="Helvetica Neue"/>
              <a:buNone/>
              <a:defRPr b="0" i="0" sz="1400" u="none" cap="none" strike="noStrike">
                <a:solidFill>
                  <a:schemeClr val="dk1"/>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chemeClr val="dk1"/>
              </a:buClr>
              <a:buSzPts val="1400"/>
              <a:buFont typeface="Helvetica Neue"/>
              <a:buNone/>
              <a:defRPr b="0" i="0" sz="1400" u="none" cap="none" strike="noStrike">
                <a:solidFill>
                  <a:schemeClr val="dk1"/>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chemeClr val="dk1"/>
              </a:buClr>
              <a:buSzPts val="1400"/>
              <a:buFont typeface="Helvetica Neue"/>
              <a:buNone/>
              <a:defRPr b="0" i="0" sz="1400" u="none" cap="none" strike="noStrike">
                <a:solidFill>
                  <a:schemeClr val="dk1"/>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chemeClr val="dk1"/>
              </a:buClr>
              <a:buSzPts val="1400"/>
              <a:buFont typeface="Helvetica Neue"/>
              <a:buNone/>
              <a:defRPr b="0" i="0" sz="1400" u="none" cap="none" strike="noStrike">
                <a:solidFill>
                  <a:schemeClr val="dk1"/>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chemeClr val="dk1"/>
              </a:buClr>
              <a:buSzPts val="1400"/>
              <a:buFont typeface="Helvetica Neue"/>
              <a:buNone/>
              <a:defRPr b="0" i="0" sz="1400" u="none" cap="none" strike="noStrike">
                <a:solidFill>
                  <a:schemeClr val="dk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Char char="●"/>
              <a:defRPr sz="1800">
                <a:solidFill>
                  <a:schemeClr val="dk1"/>
                </a:solidFill>
              </a:defRPr>
            </a:lvl1pPr>
            <a:lvl2pPr indent="-317500" lvl="1" marL="914400">
              <a:lnSpc>
                <a:spcPct val="115000"/>
              </a:lnSpc>
              <a:spcBef>
                <a:spcPts val="0"/>
              </a:spcBef>
              <a:spcAft>
                <a:spcPts val="0"/>
              </a:spcAft>
              <a:buClr>
                <a:schemeClr val="dk1"/>
              </a:buClr>
              <a:buSzPts val="1400"/>
              <a:buChar char="○"/>
              <a:defRPr>
                <a:solidFill>
                  <a:schemeClr val="dk1"/>
                </a:solidFill>
              </a:defRPr>
            </a:lvl2pPr>
            <a:lvl3pPr indent="-317500" lvl="2" marL="1371600">
              <a:lnSpc>
                <a:spcPct val="115000"/>
              </a:lnSpc>
              <a:spcBef>
                <a:spcPts val="0"/>
              </a:spcBef>
              <a:spcAft>
                <a:spcPts val="0"/>
              </a:spcAft>
              <a:buClr>
                <a:schemeClr val="dk1"/>
              </a:buClr>
              <a:buSzPts val="1400"/>
              <a:buChar char="■"/>
              <a:defRPr>
                <a:solidFill>
                  <a:schemeClr val="dk1"/>
                </a:solidFill>
              </a:defRPr>
            </a:lvl3pPr>
            <a:lvl4pPr indent="-317500" lvl="3" marL="1828800">
              <a:lnSpc>
                <a:spcPct val="115000"/>
              </a:lnSpc>
              <a:spcBef>
                <a:spcPts val="0"/>
              </a:spcBef>
              <a:spcAft>
                <a:spcPts val="0"/>
              </a:spcAft>
              <a:buClr>
                <a:schemeClr val="dk1"/>
              </a:buClr>
              <a:buSzPts val="1400"/>
              <a:buChar char="●"/>
              <a:defRPr>
                <a:solidFill>
                  <a:schemeClr val="dk1"/>
                </a:solidFill>
              </a:defRPr>
            </a:lvl4pPr>
            <a:lvl5pPr indent="-317500" lvl="4" marL="2286000">
              <a:lnSpc>
                <a:spcPct val="115000"/>
              </a:lnSpc>
              <a:spcBef>
                <a:spcPts val="0"/>
              </a:spcBef>
              <a:spcAft>
                <a:spcPts val="0"/>
              </a:spcAft>
              <a:buClr>
                <a:schemeClr val="dk1"/>
              </a:buClr>
              <a:buSzPts val="1400"/>
              <a:buChar char="○"/>
              <a:defRPr>
                <a:solidFill>
                  <a:schemeClr val="dk1"/>
                </a:solidFill>
              </a:defRPr>
            </a:lvl5pPr>
            <a:lvl6pPr indent="-317500" lvl="5" marL="2743200">
              <a:lnSpc>
                <a:spcPct val="115000"/>
              </a:lnSpc>
              <a:spcBef>
                <a:spcPts val="0"/>
              </a:spcBef>
              <a:spcAft>
                <a:spcPts val="0"/>
              </a:spcAft>
              <a:buClr>
                <a:schemeClr val="dk1"/>
              </a:buClr>
              <a:buSzPts val="1400"/>
              <a:buChar char="■"/>
              <a:defRPr>
                <a:solidFill>
                  <a:schemeClr val="dk1"/>
                </a:solidFill>
              </a:defRPr>
            </a:lvl6pPr>
            <a:lvl7pPr indent="-317500" lvl="6" marL="3200400">
              <a:lnSpc>
                <a:spcPct val="115000"/>
              </a:lnSpc>
              <a:spcBef>
                <a:spcPts val="0"/>
              </a:spcBef>
              <a:spcAft>
                <a:spcPts val="0"/>
              </a:spcAft>
              <a:buClr>
                <a:schemeClr val="dk1"/>
              </a:buClr>
              <a:buSzPts val="1400"/>
              <a:buChar char="●"/>
              <a:defRPr>
                <a:solidFill>
                  <a:schemeClr val="dk1"/>
                </a:solidFill>
              </a:defRPr>
            </a:lvl7pPr>
            <a:lvl8pPr indent="-317500" lvl="7" marL="3657600">
              <a:lnSpc>
                <a:spcPct val="115000"/>
              </a:lnSpc>
              <a:spcBef>
                <a:spcPts val="0"/>
              </a:spcBef>
              <a:spcAft>
                <a:spcPts val="0"/>
              </a:spcAft>
              <a:buClr>
                <a:schemeClr val="dk1"/>
              </a:buClr>
              <a:buSzPts val="1400"/>
              <a:buChar char="○"/>
              <a:defRPr>
                <a:solidFill>
                  <a:schemeClr val="dk1"/>
                </a:solidFill>
              </a:defRPr>
            </a:lvl8pPr>
            <a:lvl9pPr indent="-317500" lvl="8" marL="4114800">
              <a:lnSpc>
                <a:spcPct val="115000"/>
              </a:lnSpc>
              <a:spcBef>
                <a:spcPts val="0"/>
              </a:spcBef>
              <a:spcAft>
                <a:spcPts val="0"/>
              </a:spcAft>
              <a:buClr>
                <a:schemeClr val="dk1"/>
              </a:buClr>
              <a:buSzPts val="1400"/>
              <a:buChar char="■"/>
              <a:defRPr>
                <a:solidFill>
                  <a:schemeClr val="dk1"/>
                </a:solidFill>
              </a:defRPr>
            </a:lvl9pPr>
          </a:lstStyle>
          <a:p/>
        </p:txBody>
      </p:sp>
      <p:sp>
        <p:nvSpPr>
          <p:cNvPr id="12" name="Google Shape;12;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creativecommons.org/licenses/by-nc-sa/3.0/" TargetMode="External"/><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svelfxfVW4Y" TargetMode="External"/><Relationship Id="rId4" Type="http://schemas.openxmlformats.org/officeDocument/2006/relationships/image" Target="../media/image1.jpg"/><Relationship Id="rId5"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drive.google.com/open?id=1lKzUm7wHikmNEK8igpBlCs7AkC29zPKq" TargetMode="External"/><Relationship Id="rId4" Type="http://schemas.openxmlformats.org/officeDocument/2006/relationships/image" Target="../media/image23.png"/><Relationship Id="rId5" Type="http://schemas.openxmlformats.org/officeDocument/2006/relationships/image" Target="../media/image3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themoviedb.org/movie" TargetMode="External"/><Relationship Id="rId4" Type="http://schemas.openxmlformats.org/officeDocument/2006/relationships/image" Target="../media/image9.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themoviedb.org/" TargetMode="External"/><Relationship Id="rId4" Type="http://schemas.openxmlformats.org/officeDocument/2006/relationships/hyperlink" Target="https://developers.themoviedb.org/3/search/search-movies" TargetMode="External"/><Relationship Id="rId5" Type="http://schemas.openxmlformats.org/officeDocument/2006/relationships/hyperlink" Target="https://www.themoviedb.org/search?query=coco" TargetMode="External"/><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hyperlink" Target="https://code.or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hyperlink" Target="https://code.org/" TargetMode="Externa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hyperlink" Target="https://code.tutsplus.com/tutorials/http-headers-for-dummies--net-8039"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hyperlink" Target="https://curl.se/" TargetMode="External"/><Relationship Id="rId5" Type="http://schemas.openxmlformats.org/officeDocument/2006/relationships/hyperlink" Target="https://simplewordcloud.com/" TargetMode="External"/><Relationship Id="rId6"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hyperlink" Target="https://curl.se/docs/manpage.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hyperlink" Target="https://www.bestproxyreviews.com/http-cookies/" TargetMode="Externa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en.cppreference.com/w/c/string/byte/strtof" TargetMode="External"/><Relationship Id="rId4" Type="http://schemas.openxmlformats.org/officeDocument/2006/relationships/hyperlink" Target="https://curl.se/libcurl/c/"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hyperlink" Target="https://developer.mozilla.org/en-US/docs/Web/HTTP/Basics_of_HTTP/Identifying_resources_on_the_Web"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developers.themoviedb.org/3/search/search-movies" TargetMode="External"/><Relationship Id="rId4" Type="http://schemas.openxmlformats.org/officeDocument/2006/relationships/hyperlink" Target="https://api.themoviedb.org/3/search/movie?api_key=dcdf622d378f03cdf02cdba371ce5f13&amp;language=en-US&amp;query=coco&amp;page=1&amp;include_adult=false" TargetMode="External"/><Relationship Id="rId9" Type="http://schemas.openxmlformats.org/officeDocument/2006/relationships/image" Target="../media/image27.png"/><Relationship Id="rId5" Type="http://schemas.openxmlformats.org/officeDocument/2006/relationships/hyperlink" Target="https://api.themoviedb.org/3/search/movie?api_key=dcdf622d378f03cdf02cdba371ce5f13&amp;language=en-US&amp;query=coco&amp;page=1&amp;include_adult=false" TargetMode="External"/><Relationship Id="rId6" Type="http://schemas.openxmlformats.org/officeDocument/2006/relationships/hyperlink" Target="https://api.themoviedb.org/3/search/movie?api_key=dcdf622d378f03cdf02cdba371ce5f13&amp;language=en-US&amp;query=coco&amp;page=1&amp;include_adult=false" TargetMode="External"/><Relationship Id="rId7" Type="http://schemas.openxmlformats.org/officeDocument/2006/relationships/hyperlink" Target="https://www.themoviedb.org/search?query=coco" TargetMode="External"/><Relationship Id="rId8"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developers.themoviedb.org/3/search/search-movies" TargetMode="External"/><Relationship Id="rId4" Type="http://schemas.openxmlformats.org/officeDocument/2006/relationships/image" Target="../media/image40.png"/><Relationship Id="rId5" Type="http://schemas.openxmlformats.org/officeDocument/2006/relationships/image" Target="../media/image43.png"/><Relationship Id="rId6" Type="http://schemas.openxmlformats.org/officeDocument/2006/relationships/image" Target="../media/image19.png"/><Relationship Id="rId7" Type="http://schemas.openxmlformats.org/officeDocument/2006/relationships/image" Target="../media/image24.png"/><Relationship Id="rId8" Type="http://schemas.openxmlformats.org/officeDocument/2006/relationships/hyperlink" Target="https://www.howtogeek.com/devops/what-is-json-and-how-do-you-use-i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www.themoviedb.org/documentation/api/status-codes" TargetMode="External"/><Relationship Id="rId4" Type="http://schemas.openxmlformats.org/officeDocument/2006/relationships/hyperlink" Target="https://api.themoviedb.org/3/search/movie?api_key=dcdf622d378f03cdf02cdba371ce5f13&amp;language=en-US&amp;query=coco&amp;page=1&amp;include_adult=false" TargetMode="External"/><Relationship Id="rId5" Type="http://schemas.openxmlformats.org/officeDocument/2006/relationships/hyperlink" Target="https://api.themoviedb.org/3/search/movie?api_key=dcdf622d378f03cdf02cdba371ce5f13&amp;language=en-US&amp;query=coco&amp;page=1&amp;include_adult=false" TargetMode="External"/><Relationship Id="rId6" Type="http://schemas.openxmlformats.org/officeDocument/2006/relationships/hyperlink" Target="https://api.themoviedb.org/3/search/movie?api_key=dcdf622d378f03cdf02cdba371ce5f13&amp;language=en-US&amp;query=coco&amp;page=1&amp;include_adult=false" TargetMode="External"/><Relationship Id="rId7" Type="http://schemas.openxmlformats.org/officeDocument/2006/relationships/image" Target="../media/image26.png"/><Relationship Id="rId8" Type="http://schemas.openxmlformats.org/officeDocument/2006/relationships/image" Target="../media/image47.png"/></Relationships>
</file>

<file path=ppt/slides/_rels/slide31.xml.rels><?xml version="1.0" encoding="UTF-8" standalone="yes"?><Relationships xmlns="http://schemas.openxmlformats.org/package/2006/relationships"><Relationship Id="rId10" Type="http://schemas.openxmlformats.org/officeDocument/2006/relationships/image" Target="../media/image36.png"/><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www.themoviedb.org/" TargetMode="External"/><Relationship Id="rId4" Type="http://schemas.openxmlformats.org/officeDocument/2006/relationships/hyperlink" Target="https://www.themoviedb.org/documentation/api" TargetMode="External"/><Relationship Id="rId9" Type="http://schemas.openxmlformats.org/officeDocument/2006/relationships/image" Target="../media/image46.png"/><Relationship Id="rId5" Type="http://schemas.openxmlformats.org/officeDocument/2006/relationships/hyperlink" Target="https://www.themoviedb.org/signup" TargetMode="External"/><Relationship Id="rId6" Type="http://schemas.openxmlformats.org/officeDocument/2006/relationships/hyperlink" Target="https://developers.themoviedb.org/4/getting-started" TargetMode="External"/><Relationship Id="rId7" Type="http://schemas.openxmlformats.org/officeDocument/2006/relationships/hyperlink" Target="https://curl.se/docs/manpage.html" TargetMode="External"/><Relationship Id="rId8" Type="http://schemas.openxmlformats.org/officeDocument/2006/relationships/hyperlink" Target="https://chrome.google.com/webstore/detail/json-viewer/gbmdgpbipfallnflgajpaliibnhdgobh/related"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9.png"/><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www.oreilly.com/library/view/django-design-patterns/9781783986644/ch01s03.html" TargetMode="External"/><Relationship Id="rId4" Type="http://schemas.openxmlformats.org/officeDocument/2006/relationships/image" Target="../media/image31.png"/><Relationship Id="rId5" Type="http://schemas.openxmlformats.org/officeDocument/2006/relationships/image" Target="../media/image33.png"/><Relationship Id="rId6"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learning.oreilly.com/library/view/django-design-patterns/9781783986644/ch01s02.html" TargetMode="External"/><Relationship Id="rId4" Type="http://schemas.openxmlformats.org/officeDocument/2006/relationships/image" Target="../media/image34.png"/><Relationship Id="rId5" Type="http://schemas.openxmlformats.org/officeDocument/2006/relationships/hyperlink" Target="https://devopedia.org/django" TargetMode="External"/><Relationship Id="rId6" Type="http://schemas.openxmlformats.org/officeDocument/2006/relationships/image" Target="../media/image3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www.oreilly.com/library/view/django-design-patterns/9781783986644/ch01s03.html" TargetMode="External"/><Relationship Id="rId4" Type="http://schemas.openxmlformats.org/officeDocument/2006/relationships/hyperlink" Target="https://refactoring.guru/design-patterns/creational-patterns" TargetMode="External"/><Relationship Id="rId5" Type="http://schemas.openxmlformats.org/officeDocument/2006/relationships/hyperlink" Target="https://refactoring.guru/design-patterns/structural-patterns" TargetMode="External"/><Relationship Id="rId6" Type="http://schemas.openxmlformats.org/officeDocument/2006/relationships/hyperlink" Target="https://refactoring.guru/design-patterns/behavioral-pattern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s://docs.djangoproject.com/en/6.1/" TargetMode="External"/><Relationship Id="rId4" Type="http://schemas.openxmlformats.org/officeDocument/2006/relationships/image" Target="../media/image38.png"/><Relationship Id="rId5" Type="http://schemas.openxmlformats.org/officeDocument/2006/relationships/hyperlink" Target="https://djangostars.com/blog/10-popular-sites-made-on-django/" TargetMode="External"/></Relationships>
</file>

<file path=ppt/slides/_rels/slide42.xml.rels><?xml version="1.0" encoding="UTF-8" standalone="yes"?><Relationships xmlns="http://schemas.openxmlformats.org/package/2006/relationships"><Relationship Id="rId10" Type="http://schemas.openxmlformats.org/officeDocument/2006/relationships/hyperlink" Target="https://docs.djangoproject.com/en/6.1/topics/templates/" TargetMode="External"/><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iretha.github.io/design-patterns/cheat-sheet" TargetMode="External"/><Relationship Id="rId4" Type="http://schemas.openxmlformats.org/officeDocument/2006/relationships/hyperlink" Target="https://docs.djangoproject.com/en/6.1/ref/request-response/" TargetMode="External"/><Relationship Id="rId9" Type="http://schemas.openxmlformats.org/officeDocument/2006/relationships/hyperlink" Target="https://docs.djangoproject.com/en/6.1/topics/db/models/" TargetMode="External"/><Relationship Id="rId5" Type="http://schemas.openxmlformats.org/officeDocument/2006/relationships/hyperlink" Target="https://docs.djangoproject.com/en/6.1/topics/signals/" TargetMode="External"/><Relationship Id="rId6" Type="http://schemas.openxmlformats.org/officeDocument/2006/relationships/hyperlink" Target="https://docs.djangoproject.com/en/6.1/ref/class-based-views/generic-display/" TargetMode="External"/><Relationship Id="rId7" Type="http://schemas.openxmlformats.org/officeDocument/2006/relationships/hyperlink" Target="https://docs.djangoproject.com/en/6.1/topics/db/models/" TargetMode="External"/><Relationship Id="rId8" Type="http://schemas.openxmlformats.org/officeDocument/2006/relationships/hyperlink" Target="https://docs.djangoproject.com/en/6.1/topics/db/models/#model-inheritance"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docs.djangoproject.com/en/4.2/faq/instal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ctrTitle"/>
          </p:nvPr>
        </p:nvSpPr>
        <p:spPr>
          <a:xfrm>
            <a:off x="569950" y="311263"/>
            <a:ext cx="7772400" cy="1525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204E"/>
              </a:buClr>
              <a:buSzPts val="4400"/>
              <a:buFont typeface="Helvetica Neue"/>
              <a:buNone/>
            </a:pPr>
            <a:br>
              <a:rPr b="0" i="0" lang="en-US" sz="4400" u="none">
                <a:latin typeface="Helvetica Neue"/>
                <a:ea typeface="Helvetica Neue"/>
                <a:cs typeface="Helvetica Neue"/>
                <a:sym typeface="Helvetica Neue"/>
              </a:rPr>
            </a:br>
            <a:r>
              <a:rPr b="0" i="0" lang="en-US" sz="4400" u="none">
                <a:latin typeface="Helvetica Neue"/>
                <a:ea typeface="Helvetica Neue"/>
                <a:cs typeface="Helvetica Neue"/>
                <a:sym typeface="Helvetica Neue"/>
              </a:rPr>
              <a:t>Chapter 3: </a:t>
            </a:r>
            <a:r>
              <a:rPr lang="en-US" sz="4400">
                <a:latin typeface="Helvetica Neue"/>
                <a:ea typeface="Helvetica Neue"/>
                <a:cs typeface="Helvetica Neue"/>
                <a:sym typeface="Helvetica Neue"/>
              </a:rPr>
              <a:t>Client Server and SOA</a:t>
            </a:r>
            <a:endParaRPr sz="4400">
              <a:latin typeface="Helvetica Neue"/>
              <a:ea typeface="Helvetica Neue"/>
              <a:cs typeface="Helvetica Neue"/>
              <a:sym typeface="Helvetica Neue"/>
            </a:endParaRPr>
          </a:p>
          <a:p>
            <a:pPr indent="0" lvl="0" marL="0" rtl="0" algn="ctr">
              <a:lnSpc>
                <a:spcPct val="100000"/>
              </a:lnSpc>
              <a:spcBef>
                <a:spcPts val="0"/>
              </a:spcBef>
              <a:spcAft>
                <a:spcPts val="0"/>
              </a:spcAft>
              <a:buClr>
                <a:srgbClr val="00204E"/>
              </a:buClr>
              <a:buSzPts val="4400"/>
              <a:buFont typeface="Helvetica Neue"/>
              <a:buNone/>
            </a:pPr>
            <a:r>
              <a:t/>
            </a:r>
            <a:endParaRPr sz="4400">
              <a:latin typeface="Helvetica Neue"/>
              <a:ea typeface="Helvetica Neue"/>
              <a:cs typeface="Helvetica Neue"/>
              <a:sym typeface="Helvetica Neue"/>
            </a:endParaRPr>
          </a:p>
        </p:txBody>
      </p:sp>
      <p:sp>
        <p:nvSpPr>
          <p:cNvPr id="64" name="Google Shape;64;p14"/>
          <p:cNvSpPr txBox="1"/>
          <p:nvPr/>
        </p:nvSpPr>
        <p:spPr>
          <a:xfrm>
            <a:off x="7010400" y="6400800"/>
            <a:ext cx="2133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Helvetica Neue"/>
              <a:buNone/>
            </a:pPr>
            <a:fld id="{00000000-1234-1234-1234-123412341234}" type="slidenum">
              <a:rPr b="0" i="0" lang="en-US" sz="1400" u="none" cap="none" strike="noStrike">
                <a:solidFill>
                  <a:schemeClr val="dk1"/>
                </a:solidFill>
                <a:latin typeface="Helvetica Neue"/>
                <a:ea typeface="Helvetica Neue"/>
                <a:cs typeface="Helvetica Neue"/>
                <a:sym typeface="Helvetica Neue"/>
              </a:rPr>
              <a:t>‹#›</a:t>
            </a:fld>
            <a:endParaRPr b="0" i="0" sz="1400" u="none" cap="none" strike="noStrike">
              <a:solidFill>
                <a:srgbClr val="000000"/>
              </a:solidFill>
              <a:latin typeface="Arial"/>
              <a:ea typeface="Arial"/>
              <a:cs typeface="Arial"/>
              <a:sym typeface="Arial"/>
            </a:endParaRPr>
          </a:p>
        </p:txBody>
      </p:sp>
      <p:grpSp>
        <p:nvGrpSpPr>
          <p:cNvPr id="65" name="Google Shape;65;p14"/>
          <p:cNvGrpSpPr/>
          <p:nvPr/>
        </p:nvGrpSpPr>
        <p:grpSpPr>
          <a:xfrm>
            <a:off x="2286000" y="5879775"/>
            <a:ext cx="4724400" cy="769467"/>
            <a:chOff x="3124200" y="5638802"/>
            <a:chExt cx="4724400" cy="770700"/>
          </a:xfrm>
        </p:grpSpPr>
        <p:pic>
          <p:nvPicPr>
            <p:cNvPr id="66" name="Google Shape;66;p14"/>
            <p:cNvPicPr preferRelativeResize="0"/>
            <p:nvPr/>
          </p:nvPicPr>
          <p:blipFill rotWithShape="1">
            <a:blip r:embed="rId3">
              <a:alphaModFix/>
            </a:blip>
            <a:srcRect b="0" l="0" r="0" t="0"/>
            <a:stretch/>
          </p:blipFill>
          <p:spPr>
            <a:xfrm>
              <a:off x="6324600" y="5715000"/>
              <a:ext cx="1524000" cy="533210"/>
            </a:xfrm>
            <a:prstGeom prst="rect">
              <a:avLst/>
            </a:prstGeom>
            <a:noFill/>
            <a:ln>
              <a:noFill/>
            </a:ln>
          </p:spPr>
        </p:pic>
        <p:sp>
          <p:nvSpPr>
            <p:cNvPr id="67" name="Google Shape;67;p14"/>
            <p:cNvSpPr txBox="1"/>
            <p:nvPr/>
          </p:nvSpPr>
          <p:spPr>
            <a:xfrm>
              <a:off x="3124200" y="5638802"/>
              <a:ext cx="3276600" cy="77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Narrow"/>
                <a:buNone/>
              </a:pPr>
              <a:r>
                <a:rPr b="0" i="0" lang="en-US" sz="1100" u="none" cap="none" strike="noStrike">
                  <a:solidFill>
                    <a:schemeClr val="dk1"/>
                  </a:solidFill>
                  <a:latin typeface="Arial Narrow"/>
                  <a:ea typeface="Arial Narrow"/>
                  <a:cs typeface="Arial Narrow"/>
                  <a:sym typeface="Arial Narrow"/>
                </a:rPr>
                <a:t>Adapted from © 2012-2021 Armando Fox &amp; David Patterson</a:t>
              </a:r>
              <a:endParaRPr b="0"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200"/>
                <a:buFont typeface="Arial Narrow"/>
                <a:buNone/>
              </a:pPr>
              <a:r>
                <a:rPr b="0" i="0" lang="en-US" sz="1100" u="none" cap="none" strike="noStrike">
                  <a:solidFill>
                    <a:schemeClr val="dk1"/>
                  </a:solidFill>
                  <a:latin typeface="Arial Narrow"/>
                  <a:ea typeface="Arial Narrow"/>
                  <a:cs typeface="Arial Narrow"/>
                  <a:sym typeface="Arial Narrow"/>
                </a:rPr>
                <a:t>Licensed under </a:t>
              </a:r>
              <a:r>
                <a:rPr b="0" i="0" lang="en-US" sz="1100" u="sng" cap="none" strike="noStrike">
                  <a:solidFill>
                    <a:schemeClr val="dk1"/>
                  </a:solidFill>
                  <a:latin typeface="Arial"/>
                  <a:ea typeface="Arial"/>
                  <a:cs typeface="Arial"/>
                  <a:sym typeface="Arial"/>
                  <a:hlinkClick r:id="rId4">
                    <a:extLst>
                      <a:ext uri="{A12FA001-AC4F-418D-AE19-62706E023703}">
                        <ahyp:hlinkClr val="tx"/>
                      </a:ext>
                    </a:extLst>
                  </a:hlinkClick>
                </a:rPr>
                <a:t>Creative Commons Attribution-NonCommercial-ShareAlike 3.0 Unported License</a:t>
              </a:r>
              <a:endParaRPr b="0" i="0" sz="1100" u="none" cap="none" strike="noStrike">
                <a:solidFill>
                  <a:schemeClr val="dk1"/>
                </a:solidFill>
                <a:latin typeface="Arial"/>
                <a:ea typeface="Arial"/>
                <a:cs typeface="Arial"/>
                <a:sym typeface="Arial"/>
              </a:endParaRPr>
            </a:p>
          </p:txBody>
        </p:sp>
      </p:grpSp>
      <p:pic>
        <p:nvPicPr>
          <p:cNvPr id="68" name="Google Shape;68;p14"/>
          <p:cNvPicPr preferRelativeResize="0"/>
          <p:nvPr/>
        </p:nvPicPr>
        <p:blipFill>
          <a:blip r:embed="rId5">
            <a:alphaModFix/>
          </a:blip>
          <a:stretch>
            <a:fillRect/>
          </a:stretch>
        </p:blipFill>
        <p:spPr>
          <a:xfrm>
            <a:off x="1909838" y="3428998"/>
            <a:ext cx="5324324" cy="2209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135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Chapter 3 Overview</a:t>
            </a:r>
            <a:endParaRPr/>
          </a:p>
        </p:txBody>
      </p:sp>
      <p:sp>
        <p:nvSpPr>
          <p:cNvPr id="75" name="Google Shape;75;p15"/>
          <p:cNvSpPr txBox="1"/>
          <p:nvPr>
            <p:ph idx="1" type="body"/>
          </p:nvPr>
        </p:nvSpPr>
        <p:spPr>
          <a:xfrm>
            <a:off x="311700" y="898875"/>
            <a:ext cx="8324700" cy="19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935"/>
              <a:buNone/>
            </a:pPr>
            <a:r>
              <a:rPr lang="en-US" sz="1645"/>
              <a:t>SaaS apps follow the client-server pattern, in which a client makes requests and a server responds to the requests of many clients.</a:t>
            </a:r>
            <a:endParaRPr sz="1645"/>
          </a:p>
          <a:p>
            <a:pPr indent="0" lvl="0" marL="0" rtl="0" algn="l">
              <a:spcBef>
                <a:spcPts val="0"/>
              </a:spcBef>
              <a:spcAft>
                <a:spcPts val="0"/>
              </a:spcAft>
              <a:buSzPts val="935"/>
              <a:buNone/>
            </a:pPr>
            <a:r>
              <a:t/>
            </a:r>
            <a:endParaRPr sz="1645"/>
          </a:p>
          <a:p>
            <a:pPr indent="0" lvl="0" marL="0" rtl="0" algn="l">
              <a:spcBef>
                <a:spcPts val="1000"/>
              </a:spcBef>
              <a:spcAft>
                <a:spcPts val="0"/>
              </a:spcAft>
              <a:buNone/>
            </a:pPr>
            <a:r>
              <a:rPr lang="en-US" sz="1700"/>
              <a:t>Fundamental to the Web's architecture are the Hypertext Transfer Protocol (HTTP), a request-reply protocol over which Web content is delivered</a:t>
            </a:r>
            <a:endParaRPr sz="1645"/>
          </a:p>
          <a:p>
            <a:pPr indent="0" lvl="0" marL="0" rtl="0" algn="l">
              <a:lnSpc>
                <a:spcPct val="115000"/>
              </a:lnSpc>
              <a:spcBef>
                <a:spcPts val="360"/>
              </a:spcBef>
              <a:spcAft>
                <a:spcPts val="0"/>
              </a:spcAft>
              <a:buSzPts val="1800"/>
              <a:buNone/>
            </a:pPr>
            <a:r>
              <a:t/>
            </a:r>
            <a:endParaRPr sz="1730"/>
          </a:p>
          <a:p>
            <a:pPr indent="0" lvl="0" marL="0" rtl="0" algn="l">
              <a:lnSpc>
                <a:spcPct val="115000"/>
              </a:lnSpc>
              <a:spcBef>
                <a:spcPts val="360"/>
              </a:spcBef>
              <a:spcAft>
                <a:spcPts val="0"/>
              </a:spcAft>
              <a:buSzPts val="1800"/>
              <a:buNone/>
            </a:pPr>
            <a:r>
              <a:t/>
            </a:r>
            <a:endParaRPr sz="1730"/>
          </a:p>
          <a:p>
            <a:pPr indent="0" lvl="0" marL="0" rtl="0" algn="l">
              <a:lnSpc>
                <a:spcPct val="115000"/>
              </a:lnSpc>
              <a:spcBef>
                <a:spcPts val="360"/>
              </a:spcBef>
              <a:spcAft>
                <a:spcPts val="0"/>
              </a:spcAft>
              <a:buClr>
                <a:schemeClr val="dk1"/>
              </a:buClr>
              <a:buSzPts val="935"/>
              <a:buFont typeface="Arial"/>
              <a:buNone/>
            </a:pPr>
            <a:r>
              <a:t/>
            </a:r>
            <a:endParaRPr sz="1730"/>
          </a:p>
        </p:txBody>
      </p:sp>
      <p:pic>
        <p:nvPicPr>
          <p:cNvPr id="76" name="Google Shape;76;p15" title="3.0 — Module Overview — SaaS Architecture">
            <a:hlinkClick r:id="rId3"/>
          </p:cNvPr>
          <p:cNvPicPr preferRelativeResize="0"/>
          <p:nvPr/>
        </p:nvPicPr>
        <p:blipFill rotWithShape="1">
          <a:blip r:embed="rId4">
            <a:alphaModFix/>
          </a:blip>
          <a:srcRect b="0" l="0" r="0" t="0"/>
          <a:stretch/>
        </p:blipFill>
        <p:spPr>
          <a:xfrm>
            <a:off x="4206775" y="3068726"/>
            <a:ext cx="4767800" cy="3575850"/>
          </a:xfrm>
          <a:prstGeom prst="rect">
            <a:avLst/>
          </a:prstGeom>
          <a:noFill/>
          <a:ln>
            <a:noFill/>
          </a:ln>
        </p:spPr>
      </p:pic>
      <p:pic>
        <p:nvPicPr>
          <p:cNvPr id="77" name="Google Shape;77;p15"/>
          <p:cNvPicPr preferRelativeResize="0"/>
          <p:nvPr/>
        </p:nvPicPr>
        <p:blipFill rotWithShape="1">
          <a:blip r:embed="rId5">
            <a:alphaModFix/>
          </a:blip>
          <a:srcRect b="0" l="0" r="0" t="0"/>
          <a:stretch/>
        </p:blipFill>
        <p:spPr>
          <a:xfrm>
            <a:off x="142300" y="4375000"/>
            <a:ext cx="4064476" cy="21522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1000"/>
                                        <p:tgtEl>
                                          <p:spTgt spid="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What is Abstraction?</a:t>
            </a:r>
            <a:endParaRPr/>
          </a:p>
        </p:txBody>
      </p:sp>
      <p:sp>
        <p:nvSpPr>
          <p:cNvPr id="83" name="Google Shape;83;p16"/>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sz="1700">
                <a:solidFill>
                  <a:schemeClr val="dk1"/>
                </a:solidFill>
                <a:latin typeface="Verdana"/>
                <a:ea typeface="Verdana"/>
                <a:cs typeface="Verdana"/>
                <a:sym typeface="Verdana"/>
              </a:rPr>
              <a:t>In software engineering and computer science, abstraction is a technique for arranging complexity of computer systems. It works by establishing a level of complexity on which a person interacts with the system, suppressing the more complex details below the current level. </a:t>
            </a:r>
            <a:endParaRPr sz="1700">
              <a:solidFill>
                <a:schemeClr val="dk1"/>
              </a:solidFill>
              <a:latin typeface="Verdana"/>
              <a:ea typeface="Verdana"/>
              <a:cs typeface="Verdana"/>
              <a:sym typeface="Verdana"/>
            </a:endParaRPr>
          </a:p>
          <a:p>
            <a:pPr indent="-336550" lvl="0" marL="457200" rtl="0" algn="l">
              <a:lnSpc>
                <a:spcPct val="100000"/>
              </a:lnSpc>
              <a:spcBef>
                <a:spcPts val="1200"/>
              </a:spcBef>
              <a:spcAft>
                <a:spcPts val="0"/>
              </a:spcAft>
              <a:buClr>
                <a:schemeClr val="dk1"/>
              </a:buClr>
              <a:buSzPts val="1700"/>
              <a:buFont typeface="Verdana"/>
              <a:buChar char="●"/>
            </a:pPr>
            <a:r>
              <a:rPr lang="en-US" sz="1700">
                <a:solidFill>
                  <a:schemeClr val="dk1"/>
                </a:solidFill>
                <a:latin typeface="Verdana"/>
                <a:ea typeface="Verdana"/>
                <a:cs typeface="Verdana"/>
                <a:sym typeface="Verdana"/>
              </a:rPr>
              <a:t>A car is a very complex machine but the interface is simple (a steering wheel, a gas pedal and a gear shift)</a:t>
            </a:r>
            <a:endParaRPr sz="1700">
              <a:solidFill>
                <a:schemeClr val="dk1"/>
              </a:solidFill>
              <a:latin typeface="Verdana"/>
              <a:ea typeface="Verdana"/>
              <a:cs typeface="Verdana"/>
              <a:sym typeface="Verdana"/>
            </a:endParaRPr>
          </a:p>
          <a:p>
            <a:pPr indent="-336550" lvl="0" marL="457200" rtl="0" algn="l">
              <a:lnSpc>
                <a:spcPct val="100000"/>
              </a:lnSpc>
              <a:spcBef>
                <a:spcPts val="0"/>
              </a:spcBef>
              <a:spcAft>
                <a:spcPts val="0"/>
              </a:spcAft>
              <a:buClr>
                <a:schemeClr val="dk1"/>
              </a:buClr>
              <a:buSzPts val="1700"/>
              <a:buFont typeface="Verdana"/>
              <a:buChar char="●"/>
            </a:pPr>
            <a:r>
              <a:rPr lang="en-US" sz="1700">
                <a:solidFill>
                  <a:schemeClr val="dk1"/>
                </a:solidFill>
                <a:latin typeface="Verdana"/>
                <a:ea typeface="Verdana"/>
                <a:cs typeface="Verdana"/>
                <a:sym typeface="Verdana"/>
              </a:rPr>
              <a:t>A video game controller only has a few buttons, but underneath the controller is complex control mechanism</a:t>
            </a:r>
            <a:endParaRPr sz="1700">
              <a:solidFill>
                <a:schemeClr val="dk1"/>
              </a:solidFill>
              <a:latin typeface="Verdana"/>
              <a:ea typeface="Verdana"/>
              <a:cs typeface="Verdana"/>
              <a:sym typeface="Verdana"/>
            </a:endParaRPr>
          </a:p>
          <a:p>
            <a:pPr indent="-336550" lvl="0" marL="457200" rtl="0" algn="l">
              <a:lnSpc>
                <a:spcPct val="100000"/>
              </a:lnSpc>
              <a:spcBef>
                <a:spcPts val="0"/>
              </a:spcBef>
              <a:spcAft>
                <a:spcPts val="0"/>
              </a:spcAft>
              <a:buClr>
                <a:schemeClr val="dk1"/>
              </a:buClr>
              <a:buSzPts val="1700"/>
              <a:buFont typeface="Verdana"/>
              <a:buChar char="●"/>
            </a:pPr>
            <a:r>
              <a:rPr lang="en-US" sz="1700">
                <a:solidFill>
                  <a:schemeClr val="dk1"/>
                </a:solidFill>
                <a:latin typeface="Verdana"/>
                <a:ea typeface="Verdana"/>
                <a:cs typeface="Verdana"/>
                <a:sym typeface="Verdana"/>
              </a:rPr>
              <a:t>A programming language can be fairly simple, but it translates the instructions you write into machine code, which is impossibly complex</a:t>
            </a:r>
            <a:endParaRPr sz="1700">
              <a:solidFill>
                <a:schemeClr val="dk1"/>
              </a:solidFill>
              <a:latin typeface="Verdana"/>
              <a:ea typeface="Verdana"/>
              <a:cs typeface="Verdana"/>
              <a:sym typeface="Verdana"/>
            </a:endParaRPr>
          </a:p>
        </p:txBody>
      </p:sp>
      <p:pic>
        <p:nvPicPr>
          <p:cNvPr id="84" name="Google Shape;84;p16"/>
          <p:cNvPicPr preferRelativeResize="0"/>
          <p:nvPr/>
        </p:nvPicPr>
        <p:blipFill rotWithShape="1">
          <a:blip r:embed="rId3">
            <a:alphaModFix/>
          </a:blip>
          <a:srcRect b="8255" l="0" r="0" t="25171"/>
          <a:stretch/>
        </p:blipFill>
        <p:spPr>
          <a:xfrm>
            <a:off x="2517325" y="4763475"/>
            <a:ext cx="3008075" cy="2006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226700" y="168342"/>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Internet Layers of Abstraction</a:t>
            </a:r>
            <a:endParaRPr/>
          </a:p>
        </p:txBody>
      </p:sp>
      <p:sp>
        <p:nvSpPr>
          <p:cNvPr id="90" name="Google Shape;90;p17"/>
          <p:cNvSpPr txBox="1"/>
          <p:nvPr>
            <p:ph idx="1" type="body"/>
          </p:nvPr>
        </p:nvSpPr>
        <p:spPr>
          <a:xfrm>
            <a:off x="226700" y="871150"/>
            <a:ext cx="4859700" cy="545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US" sz="1500">
                <a:solidFill>
                  <a:schemeClr val="dk1"/>
                </a:solidFill>
                <a:latin typeface="Verdana"/>
                <a:ea typeface="Verdana"/>
                <a:cs typeface="Verdana"/>
                <a:sym typeface="Verdana"/>
              </a:rPr>
              <a:t>Many protocols and systems of the Internet work together in layers to make the Internet function. </a:t>
            </a:r>
            <a:endParaRPr sz="1500">
              <a:solidFill>
                <a:schemeClr val="dk1"/>
              </a:solidFill>
              <a:latin typeface="Verdana"/>
              <a:ea typeface="Verdana"/>
              <a:cs typeface="Verdana"/>
              <a:sym typeface="Verdana"/>
            </a:endParaRPr>
          </a:p>
          <a:p>
            <a:pPr indent="0" lvl="0" marL="0" rtl="0" algn="l">
              <a:lnSpc>
                <a:spcPct val="115000"/>
              </a:lnSpc>
              <a:spcBef>
                <a:spcPts val="1200"/>
              </a:spcBef>
              <a:spcAft>
                <a:spcPts val="0"/>
              </a:spcAft>
              <a:buSzPts val="1800"/>
              <a:buNone/>
            </a:pPr>
            <a:r>
              <a:rPr lang="en-US" sz="1500">
                <a:solidFill>
                  <a:schemeClr val="dk1"/>
                </a:solidFill>
                <a:latin typeface="Verdana"/>
                <a:ea typeface="Verdana"/>
                <a:cs typeface="Verdana"/>
                <a:sym typeface="Verdana"/>
              </a:rPr>
              <a:t>Here is a simplified version of what's known as the "Internet Protocol Stack." </a:t>
            </a:r>
            <a:endParaRPr sz="1500">
              <a:solidFill>
                <a:schemeClr val="dk1"/>
              </a:solidFill>
              <a:latin typeface="Verdana"/>
              <a:ea typeface="Verdana"/>
              <a:cs typeface="Verdana"/>
              <a:sym typeface="Verdana"/>
            </a:endParaRPr>
          </a:p>
          <a:p>
            <a:pPr indent="0" lvl="0" marL="0" rtl="0" algn="l">
              <a:lnSpc>
                <a:spcPct val="115000"/>
              </a:lnSpc>
              <a:spcBef>
                <a:spcPts val="1200"/>
              </a:spcBef>
              <a:spcAft>
                <a:spcPts val="0"/>
              </a:spcAft>
              <a:buSzPts val="1800"/>
              <a:buNone/>
            </a:pPr>
            <a:r>
              <a:rPr lang="en-US" sz="1500">
                <a:solidFill>
                  <a:schemeClr val="dk1"/>
                </a:solidFill>
                <a:latin typeface="Verdana"/>
                <a:ea typeface="Verdana"/>
                <a:cs typeface="Verdana"/>
                <a:sym typeface="Verdana"/>
              </a:rPr>
              <a:t>The system was constructed with layers of abstraction where each layer only needs to concern itself with its specific job, and then hands it off to another layer. </a:t>
            </a:r>
            <a:endParaRPr sz="1500">
              <a:solidFill>
                <a:schemeClr val="dk1"/>
              </a:solidFill>
              <a:latin typeface="Verdana"/>
              <a:ea typeface="Verdana"/>
              <a:cs typeface="Verdana"/>
              <a:sym typeface="Verdana"/>
            </a:endParaRPr>
          </a:p>
          <a:p>
            <a:pPr indent="0" lvl="0" marL="0" rtl="0" algn="l">
              <a:lnSpc>
                <a:spcPct val="115000"/>
              </a:lnSpc>
              <a:spcBef>
                <a:spcPts val="1200"/>
              </a:spcBef>
              <a:spcAft>
                <a:spcPts val="0"/>
              </a:spcAft>
              <a:buSzPts val="1800"/>
              <a:buNone/>
            </a:pPr>
            <a:r>
              <a:rPr lang="en-US" sz="1500">
                <a:solidFill>
                  <a:schemeClr val="dk1"/>
                </a:solidFill>
                <a:latin typeface="Verdana"/>
                <a:ea typeface="Verdana"/>
                <a:cs typeface="Verdana"/>
                <a:sym typeface="Verdana"/>
              </a:rPr>
              <a:t>At the top layer, for example, the DNS protocol does not even need to know how the other layers work. It just relies on them doing</a:t>
            </a:r>
            <a:r>
              <a:rPr lang="en-US" sz="1500">
                <a:latin typeface="Verdana"/>
                <a:ea typeface="Verdana"/>
                <a:cs typeface="Verdana"/>
                <a:sym typeface="Verdana"/>
              </a:rPr>
              <a:t> </a:t>
            </a:r>
            <a:r>
              <a:rPr lang="en-US" sz="1500">
                <a:solidFill>
                  <a:schemeClr val="dk1"/>
                </a:solidFill>
                <a:latin typeface="Verdana"/>
                <a:ea typeface="Verdana"/>
                <a:cs typeface="Verdana"/>
                <a:sym typeface="Verdana"/>
              </a:rPr>
              <a:t>their jobs.</a:t>
            </a:r>
            <a:endParaRPr sz="1500">
              <a:solidFill>
                <a:schemeClr val="dk1"/>
              </a:solidFill>
              <a:latin typeface="Verdana"/>
              <a:ea typeface="Verdana"/>
              <a:cs typeface="Verdana"/>
              <a:sym typeface="Verdana"/>
            </a:endParaRPr>
          </a:p>
          <a:p>
            <a:pPr indent="0" lvl="0" marL="0" rtl="0" algn="l">
              <a:lnSpc>
                <a:spcPct val="115000"/>
              </a:lnSpc>
              <a:spcBef>
                <a:spcPts val="1200"/>
              </a:spcBef>
              <a:spcAft>
                <a:spcPts val="0"/>
              </a:spcAft>
              <a:buSzPts val="1800"/>
              <a:buNone/>
            </a:pPr>
            <a:r>
              <a:t/>
            </a:r>
            <a:endParaRPr sz="1500">
              <a:latin typeface="Verdana"/>
              <a:ea typeface="Verdana"/>
              <a:cs typeface="Verdana"/>
              <a:sym typeface="Verdana"/>
            </a:endParaRPr>
          </a:p>
          <a:p>
            <a:pPr indent="0" lvl="0" marL="0" rtl="0" algn="l">
              <a:lnSpc>
                <a:spcPct val="115000"/>
              </a:lnSpc>
              <a:spcBef>
                <a:spcPts val="1200"/>
              </a:spcBef>
              <a:spcAft>
                <a:spcPts val="1600"/>
              </a:spcAft>
              <a:buClr>
                <a:schemeClr val="dk1"/>
              </a:buClr>
              <a:buSzPts val="1100"/>
              <a:buFont typeface="Arial"/>
              <a:buNone/>
            </a:pPr>
            <a:r>
              <a:rPr lang="en-US" sz="1400" u="sng">
                <a:solidFill>
                  <a:srgbClr val="00FFFF"/>
                </a:solidFill>
                <a:latin typeface="Verdana"/>
                <a:ea typeface="Verdana"/>
                <a:cs typeface="Verdana"/>
                <a:sym typeface="Verdana"/>
                <a:hlinkClick r:id="rId3">
                  <a:extLst>
                    <a:ext uri="{A12FA001-AC4F-418D-AE19-62706E023703}">
                      <ahyp:hlinkClr val="tx"/>
                    </a:ext>
                  </a:extLst>
                </a:hlinkClick>
              </a:rPr>
              <a:t>HTTP and Abstraction on the Internet</a:t>
            </a:r>
            <a:r>
              <a:rPr lang="en-US" sz="1400">
                <a:solidFill>
                  <a:srgbClr val="00FFFF"/>
                </a:solidFill>
                <a:latin typeface="Verdana"/>
                <a:ea typeface="Verdana"/>
                <a:cs typeface="Verdana"/>
                <a:sym typeface="Verdana"/>
              </a:rPr>
              <a:t> </a:t>
            </a:r>
            <a:endParaRPr sz="1500">
              <a:solidFill>
                <a:srgbClr val="00FFFF"/>
              </a:solidFill>
              <a:latin typeface="Verdana"/>
              <a:ea typeface="Verdana"/>
              <a:cs typeface="Verdana"/>
              <a:sym typeface="Verdana"/>
            </a:endParaRPr>
          </a:p>
        </p:txBody>
      </p:sp>
      <p:pic>
        <p:nvPicPr>
          <p:cNvPr id="91" name="Google Shape;91;p17"/>
          <p:cNvPicPr preferRelativeResize="0"/>
          <p:nvPr/>
        </p:nvPicPr>
        <p:blipFill rotWithShape="1">
          <a:blip r:embed="rId4">
            <a:alphaModFix/>
          </a:blip>
          <a:srcRect b="2818" l="0" r="0" t="0"/>
          <a:stretch/>
        </p:blipFill>
        <p:spPr>
          <a:xfrm>
            <a:off x="5146150" y="786750"/>
            <a:ext cx="3997850" cy="3664475"/>
          </a:xfrm>
          <a:prstGeom prst="rect">
            <a:avLst/>
          </a:prstGeom>
          <a:noFill/>
          <a:ln>
            <a:noFill/>
          </a:ln>
        </p:spPr>
      </p:pic>
      <p:sp>
        <p:nvSpPr>
          <p:cNvPr id="92" name="Google Shape;92;p17"/>
          <p:cNvSpPr txBox="1"/>
          <p:nvPr/>
        </p:nvSpPr>
        <p:spPr>
          <a:xfrm>
            <a:off x="5086475" y="4557625"/>
            <a:ext cx="4117200" cy="946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500"/>
              <a:buFont typeface="Arial"/>
              <a:buNone/>
            </a:pPr>
            <a:r>
              <a:rPr b="0" i="0" lang="en-US" sz="1500" u="none" cap="none" strike="noStrike">
                <a:solidFill>
                  <a:schemeClr val="dk1"/>
                </a:solidFill>
                <a:latin typeface="Verdana"/>
                <a:ea typeface="Verdana"/>
                <a:cs typeface="Verdana"/>
                <a:sym typeface="Verdana"/>
              </a:rPr>
              <a:t>Outgoing information going DOWN the stack and incoming information going UP the stack.</a:t>
            </a:r>
            <a:endParaRPr b="0" i="0" sz="1400" u="none" cap="none" strike="noStrike">
              <a:solidFill>
                <a:srgbClr val="000000"/>
              </a:solidFill>
              <a:latin typeface="Arial"/>
              <a:ea typeface="Arial"/>
              <a:cs typeface="Arial"/>
              <a:sym typeface="Arial"/>
            </a:endParaRPr>
          </a:p>
        </p:txBody>
      </p:sp>
      <p:pic>
        <p:nvPicPr>
          <p:cNvPr descr="CerfKahn.jpg" id="93" name="Google Shape;93;p17"/>
          <p:cNvPicPr preferRelativeResize="0"/>
          <p:nvPr/>
        </p:nvPicPr>
        <p:blipFill rotWithShape="1">
          <a:blip r:embed="rId5">
            <a:alphaModFix/>
          </a:blip>
          <a:srcRect b="0" l="0" r="0" t="0"/>
          <a:stretch/>
        </p:blipFill>
        <p:spPr>
          <a:xfrm>
            <a:off x="4806200" y="5735525"/>
            <a:ext cx="1150750" cy="1043745"/>
          </a:xfrm>
          <a:prstGeom prst="rect">
            <a:avLst/>
          </a:prstGeom>
          <a:noFill/>
          <a:ln>
            <a:noFill/>
          </a:ln>
        </p:spPr>
      </p:pic>
      <p:sp>
        <p:nvSpPr>
          <p:cNvPr id="94" name="Google Shape;94;p17"/>
          <p:cNvSpPr txBox="1"/>
          <p:nvPr/>
        </p:nvSpPr>
        <p:spPr>
          <a:xfrm>
            <a:off x="6051213" y="5985175"/>
            <a:ext cx="3000000" cy="794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360"/>
              </a:spcBef>
              <a:spcAft>
                <a:spcPts val="0"/>
              </a:spcAft>
              <a:buClr>
                <a:srgbClr val="000000"/>
              </a:buClr>
              <a:buSzPts val="1200"/>
              <a:buFont typeface="Arial"/>
              <a:buNone/>
            </a:pPr>
            <a:r>
              <a:rPr b="0" i="0" lang="en-US" sz="1200" u="none" cap="none" strike="noStrike">
                <a:solidFill>
                  <a:schemeClr val="dk2"/>
                </a:solidFill>
                <a:latin typeface="Arial"/>
                <a:ea typeface="Arial"/>
                <a:cs typeface="Arial"/>
                <a:sym typeface="Arial"/>
              </a:rPr>
              <a:t>Vint Cerf &amp; Bob Kahn: 2004 Turing Award for Internet architecture &amp; protocols, incl. TCP/IP</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US" sz="3000"/>
              <a:t>Tiers</a:t>
            </a:r>
            <a:endParaRPr b="1" sz="3000"/>
          </a:p>
        </p:txBody>
      </p:sp>
      <p:sp>
        <p:nvSpPr>
          <p:cNvPr id="100" name="Google Shape;100;p18"/>
          <p:cNvSpPr txBox="1"/>
          <p:nvPr>
            <p:ph idx="1" type="body"/>
          </p:nvPr>
        </p:nvSpPr>
        <p:spPr>
          <a:xfrm>
            <a:off x="2842800" y="1356875"/>
            <a:ext cx="5989500" cy="4555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sz="1700"/>
              <a:t>Layers form an abstraction around the work that needs to be done. Each layer has a specific role and responsibility within the application: </a:t>
            </a:r>
            <a:endParaRPr sz="1700"/>
          </a:p>
          <a:p>
            <a:pPr indent="-336550" lvl="0" marL="457200" rtl="0" algn="l">
              <a:lnSpc>
                <a:spcPct val="115000"/>
              </a:lnSpc>
              <a:spcBef>
                <a:spcPts val="1200"/>
              </a:spcBef>
              <a:spcAft>
                <a:spcPts val="0"/>
              </a:spcAft>
              <a:buSzPts val="1700"/>
              <a:buAutoNum type="arabicPeriod"/>
            </a:pPr>
            <a:r>
              <a:rPr b="1" lang="en-US" sz="1700"/>
              <a:t>Persistence:</a:t>
            </a:r>
            <a:r>
              <a:rPr lang="en-US" sz="1700"/>
              <a:t> database, filesystem, memory space of application (file cabinets, excel sheets, vaults)</a:t>
            </a:r>
            <a:endParaRPr sz="1700"/>
          </a:p>
          <a:p>
            <a:pPr indent="-336550" lvl="0" marL="457200" rtl="0" algn="l">
              <a:lnSpc>
                <a:spcPct val="115000"/>
              </a:lnSpc>
              <a:spcBef>
                <a:spcPts val="0"/>
              </a:spcBef>
              <a:spcAft>
                <a:spcPts val="0"/>
              </a:spcAft>
              <a:buSzPts val="1700"/>
              <a:buAutoNum type="arabicPeriod"/>
            </a:pPr>
            <a:r>
              <a:rPr b="1" lang="en-US" sz="1700"/>
              <a:t>Logic: </a:t>
            </a:r>
            <a:r>
              <a:rPr lang="en-US" sz="1700"/>
              <a:t>the code that converts input to output and make changes on the info saved in persistence layer (the processes like transfer money, update your balance) execute rules for the request</a:t>
            </a:r>
            <a:endParaRPr sz="1700"/>
          </a:p>
          <a:p>
            <a:pPr indent="-336550" lvl="0" marL="457200" rtl="0" algn="l">
              <a:lnSpc>
                <a:spcPct val="115000"/>
              </a:lnSpc>
              <a:spcBef>
                <a:spcPts val="0"/>
              </a:spcBef>
              <a:spcAft>
                <a:spcPts val="0"/>
              </a:spcAft>
              <a:buSzPts val="1700"/>
              <a:buAutoNum type="arabicPeriod"/>
            </a:pPr>
            <a:r>
              <a:rPr b="1" lang="en-US" sz="1700"/>
              <a:t>Presentation: </a:t>
            </a:r>
            <a:r>
              <a:rPr lang="en-US" sz="1700"/>
              <a:t>the representation of data that the app outputs/displays (online banking UI) handling all user interface and browser communication logic</a:t>
            </a:r>
            <a:endParaRPr sz="1700"/>
          </a:p>
          <a:p>
            <a:pPr indent="0" lvl="0" marL="0" rtl="0" algn="l">
              <a:lnSpc>
                <a:spcPct val="115000"/>
              </a:lnSpc>
              <a:spcBef>
                <a:spcPts val="1200"/>
              </a:spcBef>
              <a:spcAft>
                <a:spcPts val="1200"/>
              </a:spcAft>
              <a:buSzPts val="1800"/>
              <a:buNone/>
            </a:pPr>
            <a:r>
              <a:rPr lang="en-US" sz="1800"/>
              <a:t>*** No service can directly reach other’s data! ***</a:t>
            </a:r>
            <a:endParaRPr sz="1700"/>
          </a:p>
        </p:txBody>
      </p:sp>
      <p:pic>
        <p:nvPicPr>
          <p:cNvPr id="101" name="Google Shape;101;p18"/>
          <p:cNvPicPr preferRelativeResize="0"/>
          <p:nvPr/>
        </p:nvPicPr>
        <p:blipFill rotWithShape="1">
          <a:blip r:embed="rId3">
            <a:alphaModFix/>
          </a:blip>
          <a:srcRect b="0" l="0" r="0" t="0"/>
          <a:stretch/>
        </p:blipFill>
        <p:spPr>
          <a:xfrm>
            <a:off x="348050" y="1449400"/>
            <a:ext cx="2396475" cy="3799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US"/>
              <a:t>Patterns in Software Development</a:t>
            </a:r>
            <a:endParaRPr/>
          </a:p>
        </p:txBody>
      </p:sp>
      <p:sp>
        <p:nvSpPr>
          <p:cNvPr id="107" name="Google Shape;107;p19"/>
          <p:cNvSpPr txBox="1"/>
          <p:nvPr>
            <p:ph idx="1" type="body"/>
          </p:nvPr>
        </p:nvSpPr>
        <p:spPr>
          <a:xfrm>
            <a:off x="311700" y="1536625"/>
            <a:ext cx="4875000" cy="455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360"/>
              </a:spcBef>
              <a:spcAft>
                <a:spcPts val="0"/>
              </a:spcAft>
              <a:buSzPts val="1800"/>
              <a:buNone/>
            </a:pPr>
            <a:r>
              <a:rPr lang="en-US" sz="1700"/>
              <a:t>Design Patterns capture common structural solutions to recurring problems (architectural, computational, structural)</a:t>
            </a:r>
            <a:endParaRPr sz="1500"/>
          </a:p>
          <a:p>
            <a:pPr indent="-323850" lvl="0" marL="457200" rtl="0" algn="l">
              <a:lnSpc>
                <a:spcPct val="115000"/>
              </a:lnSpc>
              <a:spcBef>
                <a:spcPts val="1600"/>
              </a:spcBef>
              <a:spcAft>
                <a:spcPts val="0"/>
              </a:spcAft>
              <a:buSzPts val="1500"/>
              <a:buChar char="●"/>
            </a:pPr>
            <a:r>
              <a:rPr lang="en-US" sz="1500">
                <a:solidFill>
                  <a:srgbClr val="FFFFFF"/>
                </a:solidFill>
                <a:highlight>
                  <a:srgbClr val="0B5394"/>
                </a:highlight>
              </a:rPr>
              <a:t>Software Architecture Pattern: </a:t>
            </a:r>
            <a:r>
              <a:rPr lang="en-US" sz="1500"/>
              <a:t>how subsystems are connected together to meet the application’s functional and non-functional requirements.</a:t>
            </a:r>
            <a:endParaRPr sz="1500"/>
          </a:p>
          <a:p>
            <a:pPr indent="-323850" lvl="0" marL="457200" rtl="0" algn="l">
              <a:lnSpc>
                <a:spcPct val="115000"/>
              </a:lnSpc>
              <a:spcBef>
                <a:spcPts val="1600"/>
              </a:spcBef>
              <a:spcAft>
                <a:spcPts val="0"/>
              </a:spcAft>
              <a:buSzPts val="1500"/>
              <a:buChar char="●"/>
            </a:pPr>
            <a:r>
              <a:rPr lang="en-US" sz="1500">
                <a:highlight>
                  <a:srgbClr val="A64D79"/>
                </a:highlight>
              </a:rPr>
              <a:t>Software Design Pattern:</a:t>
            </a:r>
            <a:r>
              <a:rPr lang="en-US" sz="1500">
                <a:solidFill>
                  <a:schemeClr val="lt1"/>
                </a:solidFill>
              </a:rPr>
              <a:t>  </a:t>
            </a:r>
            <a:r>
              <a:rPr lang="en-US" sz="1500"/>
              <a:t>a general architectural solution to a family of similar problems</a:t>
            </a:r>
            <a:endParaRPr sz="1500"/>
          </a:p>
          <a:p>
            <a:pPr indent="0" lvl="0" marL="914400" rtl="0" algn="l">
              <a:lnSpc>
                <a:spcPct val="115000"/>
              </a:lnSpc>
              <a:spcBef>
                <a:spcPts val="1600"/>
              </a:spcBef>
              <a:spcAft>
                <a:spcPts val="0"/>
              </a:spcAft>
              <a:buSzPts val="1800"/>
              <a:buNone/>
            </a:pPr>
            <a:r>
              <a:t/>
            </a:r>
            <a:endParaRPr sz="1300"/>
          </a:p>
          <a:p>
            <a:pPr indent="0" lvl="0" marL="0" rtl="0" algn="l">
              <a:lnSpc>
                <a:spcPct val="115000"/>
              </a:lnSpc>
              <a:spcBef>
                <a:spcPts val="360"/>
              </a:spcBef>
              <a:spcAft>
                <a:spcPts val="0"/>
              </a:spcAft>
              <a:buSzPts val="1800"/>
              <a:buNone/>
            </a:pPr>
            <a:r>
              <a:t/>
            </a:r>
            <a:endParaRPr sz="1700"/>
          </a:p>
        </p:txBody>
      </p:sp>
      <p:sp>
        <p:nvSpPr>
          <p:cNvPr id="108" name="Google Shape;108;p19"/>
          <p:cNvSpPr txBox="1"/>
          <p:nvPr/>
        </p:nvSpPr>
        <p:spPr>
          <a:xfrm>
            <a:off x="5405075" y="1492208"/>
            <a:ext cx="3352800" cy="3873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verage"/>
                <a:ea typeface="Average"/>
                <a:cs typeface="Average"/>
                <a:sym typeface="Average"/>
              </a:rPr>
              <a:t>Software architecture </a:t>
            </a:r>
            <a:r>
              <a:rPr b="0" i="0" lang="en-US" sz="1600" u="none" cap="none" strike="noStrike">
                <a:solidFill>
                  <a:srgbClr val="000000"/>
                </a:solidFill>
                <a:highlight>
                  <a:srgbClr val="3D85C6"/>
                </a:highlight>
                <a:latin typeface="Average"/>
                <a:ea typeface="Average"/>
                <a:cs typeface="Average"/>
                <a:sym typeface="Average"/>
              </a:rPr>
              <a:t>shows the system's structure</a:t>
            </a:r>
            <a:r>
              <a:rPr b="0" i="0" lang="en-US" sz="1600" u="none" cap="none" strike="noStrike">
                <a:solidFill>
                  <a:srgbClr val="000000"/>
                </a:solidFill>
                <a:latin typeface="Average"/>
                <a:ea typeface="Average"/>
                <a:cs typeface="Average"/>
                <a:sym typeface="Average"/>
              </a:rPr>
              <a:t> and </a:t>
            </a:r>
            <a:r>
              <a:rPr b="0" i="0" lang="en-US" sz="1600" u="none" cap="none" strike="noStrike">
                <a:solidFill>
                  <a:srgbClr val="000000"/>
                </a:solidFill>
                <a:highlight>
                  <a:srgbClr val="3D85C6"/>
                </a:highlight>
                <a:latin typeface="Average"/>
                <a:ea typeface="Average"/>
                <a:cs typeface="Average"/>
                <a:sym typeface="Average"/>
              </a:rPr>
              <a:t>hides the implementation details</a:t>
            </a:r>
            <a:r>
              <a:rPr b="0" i="0" lang="en-US" sz="1600" u="none" cap="none" strike="noStrike">
                <a:solidFill>
                  <a:srgbClr val="000000"/>
                </a:solidFill>
                <a:latin typeface="Average"/>
                <a:ea typeface="Average"/>
                <a:cs typeface="Average"/>
                <a:sym typeface="Average"/>
              </a:rPr>
              <a:t>, focusing on how the </a:t>
            </a:r>
            <a:r>
              <a:rPr b="0" i="0" lang="en-US" sz="1600" u="none" cap="none" strike="noStrike">
                <a:solidFill>
                  <a:srgbClr val="000000"/>
                </a:solidFill>
                <a:highlight>
                  <a:srgbClr val="3D85C6"/>
                </a:highlight>
                <a:latin typeface="Average"/>
                <a:ea typeface="Average"/>
                <a:cs typeface="Average"/>
                <a:sym typeface="Average"/>
              </a:rPr>
              <a:t>system components interact with one another</a:t>
            </a:r>
            <a:r>
              <a:rPr b="0" i="0" lang="en-US" sz="1600" u="none" cap="none" strike="noStrike">
                <a:solidFill>
                  <a:srgbClr val="000000"/>
                </a:solidFill>
                <a:latin typeface="Average"/>
                <a:ea typeface="Average"/>
                <a:cs typeface="Average"/>
                <a:sym typeface="Average"/>
              </a:rPr>
              <a:t>. </a:t>
            </a:r>
            <a:endParaRPr b="0" i="0" sz="16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verage"/>
                <a:ea typeface="Average"/>
                <a:cs typeface="Average"/>
                <a:sym typeface="Average"/>
              </a:rPr>
              <a:t>Software design, on the other hand, </a:t>
            </a:r>
            <a:r>
              <a:rPr b="0" i="0" lang="en-US" sz="1600" u="none" cap="none" strike="noStrike">
                <a:solidFill>
                  <a:srgbClr val="000000"/>
                </a:solidFill>
                <a:highlight>
                  <a:srgbClr val="C27BA0"/>
                </a:highlight>
                <a:latin typeface="Average"/>
                <a:ea typeface="Average"/>
                <a:cs typeface="Average"/>
                <a:sym typeface="Average"/>
              </a:rPr>
              <a:t>concentrates on the system's implementation,</a:t>
            </a:r>
            <a:r>
              <a:rPr b="0" i="0" lang="en-US" sz="1600" u="none" cap="none" strike="noStrike">
                <a:solidFill>
                  <a:srgbClr val="000000"/>
                </a:solidFill>
                <a:latin typeface="Average"/>
                <a:ea typeface="Average"/>
                <a:cs typeface="Average"/>
                <a:sym typeface="Average"/>
              </a:rPr>
              <a:t> often delving into considerable detail</a:t>
            </a:r>
            <a:endParaRPr b="0" i="0" sz="1600" u="none" cap="none" strike="noStrike">
              <a:solidFill>
                <a:srgbClr val="000000"/>
              </a:solidFill>
              <a:latin typeface="Average"/>
              <a:ea typeface="Average"/>
              <a:cs typeface="Average"/>
              <a:sym typeface="Averag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529450" y="76200"/>
            <a:ext cx="7924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D2D8A"/>
              </a:buClr>
              <a:buSzPts val="4400"/>
              <a:buFont typeface="Helvetica Neue"/>
              <a:buNone/>
            </a:pPr>
            <a:r>
              <a:rPr b="0" i="0" lang="en-US" sz="4400" u="none">
                <a:latin typeface="Helvetica Neue"/>
                <a:ea typeface="Helvetica Neue"/>
                <a:cs typeface="Helvetica Neue"/>
                <a:sym typeface="Helvetica Neue"/>
              </a:rPr>
              <a:t>Client-Server vs. Peer-to-Peer</a:t>
            </a:r>
            <a:endParaRPr/>
          </a:p>
        </p:txBody>
      </p:sp>
      <p:sp>
        <p:nvSpPr>
          <p:cNvPr id="114" name="Google Shape;114;p20"/>
          <p:cNvSpPr txBox="1"/>
          <p:nvPr>
            <p:ph idx="1" type="body"/>
          </p:nvPr>
        </p:nvSpPr>
        <p:spPr>
          <a:xfrm>
            <a:off x="2532925" y="1219200"/>
            <a:ext cx="6727800" cy="5634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360"/>
              </a:spcBef>
              <a:spcAft>
                <a:spcPts val="0"/>
              </a:spcAft>
              <a:buSzPts val="1800"/>
              <a:buNone/>
            </a:pPr>
            <a:r>
              <a:rPr lang="en-US" sz="1900">
                <a:solidFill>
                  <a:schemeClr val="dk1"/>
                </a:solidFill>
              </a:rPr>
              <a:t>Client &amp; server each specialized for their tasks like web apps meaning request-reply oriented</a:t>
            </a:r>
            <a:endParaRPr sz="1900">
              <a:solidFill>
                <a:schemeClr val="dk1"/>
              </a:solidFill>
            </a:endParaRPr>
          </a:p>
          <a:p>
            <a:pPr indent="-342900" lvl="0" marL="342900" rtl="0" algn="l">
              <a:lnSpc>
                <a:spcPct val="115000"/>
              </a:lnSpc>
              <a:spcBef>
                <a:spcPts val="360"/>
              </a:spcBef>
              <a:spcAft>
                <a:spcPts val="0"/>
              </a:spcAft>
              <a:buSzPts val="1900"/>
              <a:buChar char="•"/>
            </a:pPr>
            <a:r>
              <a:rPr lang="en-US" sz="1900">
                <a:solidFill>
                  <a:schemeClr val="dk1"/>
                </a:solidFill>
              </a:rPr>
              <a:t>Server: A computer that awaits and responds to requests for data</a:t>
            </a:r>
            <a:endParaRPr sz="1900">
              <a:solidFill>
                <a:schemeClr val="dk1"/>
              </a:solidFill>
            </a:endParaRPr>
          </a:p>
          <a:p>
            <a:pPr indent="-292100" lvl="1" marL="742950" rtl="0" algn="l">
              <a:lnSpc>
                <a:spcPct val="115000"/>
              </a:lnSpc>
              <a:spcBef>
                <a:spcPts val="360"/>
              </a:spcBef>
              <a:spcAft>
                <a:spcPts val="0"/>
              </a:spcAft>
              <a:buSzPts val="1900"/>
              <a:buChar char="–"/>
            </a:pPr>
            <a:r>
              <a:rPr lang="en-US" sz="1500">
                <a:solidFill>
                  <a:schemeClr val="dk1"/>
                </a:solidFill>
              </a:rPr>
              <a:t>Example: a DNS server awaits and responds to requests for URLs to be translated to IP addresses.</a:t>
            </a:r>
            <a:endParaRPr sz="1500">
              <a:solidFill>
                <a:schemeClr val="dk1"/>
              </a:solidFill>
            </a:endParaRPr>
          </a:p>
          <a:p>
            <a:pPr indent="-342900" lvl="0" marL="342900" rtl="0" algn="l">
              <a:lnSpc>
                <a:spcPct val="115000"/>
              </a:lnSpc>
              <a:spcBef>
                <a:spcPts val="360"/>
              </a:spcBef>
              <a:spcAft>
                <a:spcPts val="0"/>
              </a:spcAft>
              <a:buSzPts val="1900"/>
              <a:buChar char="•"/>
            </a:pPr>
            <a:r>
              <a:rPr lang="en-US" sz="1900">
                <a:solidFill>
                  <a:schemeClr val="dk1"/>
                </a:solidFill>
              </a:rPr>
              <a:t>Client: A computer that requests data stored on a server</a:t>
            </a:r>
            <a:endParaRPr sz="1900">
              <a:solidFill>
                <a:schemeClr val="dk1"/>
              </a:solidFill>
            </a:endParaRPr>
          </a:p>
          <a:p>
            <a:pPr indent="-292100" lvl="1" marL="742950" rtl="0" algn="l">
              <a:lnSpc>
                <a:spcPct val="115000"/>
              </a:lnSpc>
              <a:spcBef>
                <a:spcPts val="360"/>
              </a:spcBef>
              <a:spcAft>
                <a:spcPts val="0"/>
              </a:spcAft>
              <a:buSzPts val="1900"/>
              <a:buChar char="–"/>
            </a:pPr>
            <a:r>
              <a:rPr lang="en-US" sz="1500">
                <a:solidFill>
                  <a:schemeClr val="dk1"/>
                </a:solidFill>
              </a:rPr>
              <a:t>Example: When you type an address into your browser, your computer is the client and it sends the request to the DNS server.</a:t>
            </a:r>
            <a:endParaRPr sz="1500">
              <a:solidFill>
                <a:schemeClr val="dk1"/>
              </a:solidFill>
            </a:endParaRPr>
          </a:p>
          <a:p>
            <a:pPr indent="-342900" lvl="0" marL="342900" rtl="0" algn="l">
              <a:lnSpc>
                <a:spcPct val="115000"/>
              </a:lnSpc>
              <a:spcBef>
                <a:spcPts val="360"/>
              </a:spcBef>
              <a:spcAft>
                <a:spcPts val="0"/>
              </a:spcAft>
              <a:buSzPts val="1900"/>
              <a:buChar char="•"/>
            </a:pPr>
            <a:r>
              <a:rPr lang="en-US" sz="1900">
                <a:solidFill>
                  <a:schemeClr val="dk1"/>
                </a:solidFill>
              </a:rPr>
              <a:t>Captures the reusable behavior of specialized servers and clients without specifying how servers and clients should be implemented.</a:t>
            </a:r>
            <a:endParaRPr sz="1900">
              <a:solidFill>
                <a:schemeClr val="dk1"/>
              </a:solidFill>
            </a:endParaRPr>
          </a:p>
          <a:p>
            <a:pPr indent="0" lvl="0" marL="0" rtl="0" algn="l">
              <a:lnSpc>
                <a:spcPct val="115000"/>
              </a:lnSpc>
              <a:spcBef>
                <a:spcPts val="360"/>
              </a:spcBef>
              <a:spcAft>
                <a:spcPts val="0"/>
              </a:spcAft>
              <a:buSzPts val="1800"/>
              <a:buNone/>
            </a:pPr>
            <a:r>
              <a:rPr lang="en-US" sz="1900">
                <a:solidFill>
                  <a:schemeClr val="dk1"/>
                </a:solidFill>
              </a:rPr>
              <a:t>Peer to Peer </a:t>
            </a:r>
            <a:endParaRPr sz="1900">
              <a:solidFill>
                <a:schemeClr val="dk1"/>
              </a:solidFill>
            </a:endParaRPr>
          </a:p>
          <a:p>
            <a:pPr indent="-292100" lvl="1" marL="742950" rtl="0" algn="l">
              <a:lnSpc>
                <a:spcPct val="115000"/>
              </a:lnSpc>
              <a:spcBef>
                <a:spcPts val="360"/>
              </a:spcBef>
              <a:spcAft>
                <a:spcPts val="0"/>
              </a:spcAft>
              <a:buSzPts val="1900"/>
              <a:buChar char="–"/>
            </a:pPr>
            <a:r>
              <a:rPr lang="en-US" sz="1500">
                <a:solidFill>
                  <a:schemeClr val="dk1"/>
                </a:solidFill>
              </a:rPr>
              <a:t>Everyone is client and server</a:t>
            </a:r>
            <a:endParaRPr sz="1500">
              <a:solidFill>
                <a:schemeClr val="dk1"/>
              </a:solidFill>
            </a:endParaRPr>
          </a:p>
          <a:p>
            <a:pPr indent="0" lvl="0" marL="0" rtl="0" algn="l">
              <a:lnSpc>
                <a:spcPct val="115000"/>
              </a:lnSpc>
              <a:spcBef>
                <a:spcPts val="360"/>
              </a:spcBef>
              <a:spcAft>
                <a:spcPts val="0"/>
              </a:spcAft>
              <a:buSzPts val="1800"/>
              <a:buNone/>
            </a:pPr>
            <a:r>
              <a:t/>
            </a:r>
            <a:endParaRPr sz="1900">
              <a:solidFill>
                <a:schemeClr val="dk1"/>
              </a:solidFill>
            </a:endParaRPr>
          </a:p>
        </p:txBody>
      </p:sp>
      <p:sp>
        <p:nvSpPr>
          <p:cNvPr id="115" name="Google Shape;115;p20"/>
          <p:cNvSpPr txBox="1"/>
          <p:nvPr/>
        </p:nvSpPr>
        <p:spPr>
          <a:xfrm>
            <a:off x="7010400" y="6395975"/>
            <a:ext cx="2133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Helvetica Neue"/>
              <a:buNone/>
            </a:pPr>
            <a:fld id="{00000000-1234-1234-1234-123412341234}" type="slidenum">
              <a:rPr b="0" i="0" lang="en-US" sz="1400" u="none" cap="none" strike="noStrike">
                <a:solidFill>
                  <a:schemeClr val="dk1"/>
                </a:solidFill>
                <a:latin typeface="Helvetica Neue"/>
                <a:ea typeface="Helvetica Neue"/>
                <a:cs typeface="Helvetica Neue"/>
                <a:sym typeface="Helvetica Neue"/>
              </a:rPr>
              <a:t>‹#›</a:t>
            </a:fld>
            <a:endParaRPr b="0" i="0" sz="1400" u="none" cap="none" strike="noStrike">
              <a:solidFill>
                <a:srgbClr val="000000"/>
              </a:solidFill>
              <a:latin typeface="Arial"/>
              <a:ea typeface="Arial"/>
              <a:cs typeface="Arial"/>
              <a:sym typeface="Arial"/>
            </a:endParaRPr>
          </a:p>
        </p:txBody>
      </p:sp>
      <p:grpSp>
        <p:nvGrpSpPr>
          <p:cNvPr id="116" name="Google Shape;116;p20"/>
          <p:cNvGrpSpPr/>
          <p:nvPr/>
        </p:nvGrpSpPr>
        <p:grpSpPr>
          <a:xfrm>
            <a:off x="132070" y="2362560"/>
            <a:ext cx="2288142" cy="1450941"/>
            <a:chOff x="941245" y="1003885"/>
            <a:chExt cx="2288142" cy="1450941"/>
          </a:xfrm>
        </p:grpSpPr>
        <p:sp>
          <p:nvSpPr>
            <p:cNvPr id="117" name="Google Shape;117;p20"/>
            <p:cNvSpPr txBox="1"/>
            <p:nvPr/>
          </p:nvSpPr>
          <p:spPr>
            <a:xfrm>
              <a:off x="1975402" y="2016441"/>
              <a:ext cx="272606" cy="143500"/>
            </a:xfrm>
            <a:prstGeom prst="rect">
              <a:avLst/>
            </a:prstGeom>
            <a:gradFill>
              <a:gsLst>
                <a:gs pos="0">
                  <a:srgbClr val="CBFFFF"/>
                </a:gs>
                <a:gs pos="100000">
                  <a:srgbClr val="B5E5E9"/>
                </a:gs>
              </a:gsLst>
              <a:lin ang="5400000" scaled="0"/>
            </a:gradFill>
            <a:ln cap="flat" cmpd="sng" w="9525">
              <a:solidFill>
                <a:srgbClr val="B6DCDF"/>
              </a:solidFill>
              <a:prstDash val="solid"/>
              <a:miter lim="800000"/>
              <a:headEnd len="sm" w="sm" type="none"/>
              <a:tailEnd len="sm" w="sm" type="none"/>
            </a:ln>
            <a:effectLst>
              <a:outerShdw blurRad="63500" dir="5400000" dist="23000">
                <a:srgbClr val="80808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Helvetica Neue"/>
                <a:buNone/>
              </a:pPr>
              <a:r>
                <a:rPr b="0" i="0" lang="en-US" sz="2400" u="none" cap="none" strike="noStrike">
                  <a:solidFill>
                    <a:srgbClr val="000000"/>
                  </a:solidFill>
                  <a:latin typeface="Helvetica Neue"/>
                  <a:ea typeface="Helvetica Neue"/>
                  <a:cs typeface="Helvetica Neue"/>
                  <a:sym typeface="Helvetica Neue"/>
                </a:rPr>
                <a:t>C</a:t>
              </a:r>
              <a:endParaRPr b="0" i="0" sz="1400" u="none" cap="none" strike="noStrike">
                <a:solidFill>
                  <a:srgbClr val="000000"/>
                </a:solidFill>
                <a:latin typeface="Arial"/>
                <a:ea typeface="Arial"/>
                <a:cs typeface="Arial"/>
                <a:sym typeface="Arial"/>
              </a:endParaRPr>
            </a:p>
          </p:txBody>
        </p:sp>
        <p:pic>
          <p:nvPicPr>
            <p:cNvPr descr="firefox.png" id="118" name="Google Shape;118;p20"/>
            <p:cNvPicPr preferRelativeResize="0"/>
            <p:nvPr/>
          </p:nvPicPr>
          <p:blipFill rotWithShape="1">
            <a:blip r:embed="rId3">
              <a:alphaModFix/>
            </a:blip>
            <a:srcRect b="0" l="0" r="0" t="0"/>
            <a:stretch/>
          </p:blipFill>
          <p:spPr>
            <a:xfrm>
              <a:off x="1417266" y="2102582"/>
              <a:ext cx="333215" cy="352244"/>
            </a:xfrm>
            <a:prstGeom prst="rect">
              <a:avLst/>
            </a:prstGeom>
            <a:noFill/>
            <a:ln>
              <a:noFill/>
            </a:ln>
          </p:spPr>
        </p:pic>
        <p:grpSp>
          <p:nvGrpSpPr>
            <p:cNvPr id="119" name="Google Shape;119;p20"/>
            <p:cNvGrpSpPr/>
            <p:nvPr/>
          </p:nvGrpSpPr>
          <p:grpSpPr>
            <a:xfrm>
              <a:off x="941245" y="1003885"/>
              <a:ext cx="2288142" cy="1084307"/>
              <a:chOff x="941245" y="1003885"/>
              <a:chExt cx="2288142" cy="1084307"/>
            </a:xfrm>
          </p:grpSpPr>
          <p:sp>
            <p:nvSpPr>
              <p:cNvPr id="120" name="Google Shape;120;p20"/>
              <p:cNvSpPr txBox="1"/>
              <p:nvPr/>
            </p:nvSpPr>
            <p:spPr>
              <a:xfrm>
                <a:off x="1430191" y="1442442"/>
                <a:ext cx="272606" cy="143500"/>
              </a:xfrm>
              <a:prstGeom prst="rect">
                <a:avLst/>
              </a:prstGeom>
              <a:gradFill>
                <a:gsLst>
                  <a:gs pos="0">
                    <a:srgbClr val="CBFFFF"/>
                  </a:gs>
                  <a:gs pos="100000">
                    <a:srgbClr val="B5E5E9"/>
                  </a:gs>
                </a:gsLst>
                <a:lin ang="5400000" scaled="0"/>
              </a:gradFill>
              <a:ln cap="flat" cmpd="sng" w="9525">
                <a:solidFill>
                  <a:srgbClr val="B6DCDF"/>
                </a:solidFill>
                <a:prstDash val="solid"/>
                <a:miter lim="800000"/>
                <a:headEnd len="sm" w="sm" type="none"/>
                <a:tailEnd len="sm" w="sm" type="none"/>
              </a:ln>
              <a:effectLst>
                <a:outerShdw blurRad="63500" dir="5400000" dist="23000">
                  <a:srgbClr val="80808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Helvetica Neue"/>
                  <a:buNone/>
                </a:pPr>
                <a:r>
                  <a:rPr b="0" i="0" lang="en-US" sz="2400" u="none" cap="none" strike="noStrike">
                    <a:solidFill>
                      <a:srgbClr val="000000"/>
                    </a:solidFill>
                    <a:latin typeface="Helvetica Neue"/>
                    <a:ea typeface="Helvetica Neue"/>
                    <a:cs typeface="Helvetica Neue"/>
                    <a:sym typeface="Helvetica Neue"/>
                  </a:rPr>
                  <a:t>C</a:t>
                </a:r>
                <a:endParaRPr b="0" i="0" sz="1400" u="none" cap="none" strike="noStrike">
                  <a:solidFill>
                    <a:srgbClr val="000000"/>
                  </a:solidFill>
                  <a:latin typeface="Arial"/>
                  <a:ea typeface="Arial"/>
                  <a:cs typeface="Arial"/>
                  <a:sym typeface="Arial"/>
                </a:endParaRPr>
              </a:p>
            </p:txBody>
          </p:sp>
          <p:sp>
            <p:nvSpPr>
              <p:cNvPr id="121" name="Google Shape;121;p20"/>
              <p:cNvSpPr txBox="1"/>
              <p:nvPr/>
            </p:nvSpPr>
            <p:spPr>
              <a:xfrm>
                <a:off x="1702796" y="1729442"/>
                <a:ext cx="272606" cy="143500"/>
              </a:xfrm>
              <a:prstGeom prst="rect">
                <a:avLst/>
              </a:prstGeom>
              <a:gradFill>
                <a:gsLst>
                  <a:gs pos="0">
                    <a:srgbClr val="CBFFFF"/>
                  </a:gs>
                  <a:gs pos="100000">
                    <a:srgbClr val="B5E5E9"/>
                  </a:gs>
                </a:gsLst>
                <a:lin ang="5400000" scaled="0"/>
              </a:gradFill>
              <a:ln cap="flat" cmpd="sng" w="9525">
                <a:solidFill>
                  <a:srgbClr val="B6DCDF"/>
                </a:solidFill>
                <a:prstDash val="solid"/>
                <a:miter lim="800000"/>
                <a:headEnd len="sm" w="sm" type="none"/>
                <a:tailEnd len="sm" w="sm" type="none"/>
              </a:ln>
              <a:effectLst>
                <a:outerShdw blurRad="63500" dir="5400000" dist="23000">
                  <a:srgbClr val="80808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Helvetica Neue"/>
                  <a:buNone/>
                </a:pPr>
                <a:r>
                  <a:rPr b="0" i="0" lang="en-US" sz="2400" u="none" cap="none" strike="noStrike">
                    <a:solidFill>
                      <a:srgbClr val="000000"/>
                    </a:solidFill>
                    <a:latin typeface="Helvetica Neue"/>
                    <a:ea typeface="Helvetica Neue"/>
                    <a:cs typeface="Helvetica Neue"/>
                    <a:sym typeface="Helvetica Neue"/>
                  </a:rPr>
                  <a:t>C</a:t>
                </a:r>
                <a:endParaRPr b="0" i="0" sz="1400" u="none" cap="none" strike="noStrike">
                  <a:solidFill>
                    <a:srgbClr val="000000"/>
                  </a:solidFill>
                  <a:latin typeface="Arial"/>
                  <a:ea typeface="Arial"/>
                  <a:cs typeface="Arial"/>
                  <a:sym typeface="Arial"/>
                </a:endParaRPr>
              </a:p>
            </p:txBody>
          </p:sp>
          <p:sp>
            <p:nvSpPr>
              <p:cNvPr id="122" name="Google Shape;122;p20"/>
              <p:cNvSpPr txBox="1"/>
              <p:nvPr/>
            </p:nvSpPr>
            <p:spPr>
              <a:xfrm>
                <a:off x="2029923" y="1298942"/>
                <a:ext cx="272606" cy="143500"/>
              </a:xfrm>
              <a:prstGeom prst="rect">
                <a:avLst/>
              </a:prstGeom>
              <a:gradFill>
                <a:gsLst>
                  <a:gs pos="0">
                    <a:srgbClr val="CBFFFF"/>
                  </a:gs>
                  <a:gs pos="100000">
                    <a:srgbClr val="B5E5E9"/>
                  </a:gs>
                </a:gsLst>
                <a:lin ang="5400000" scaled="0"/>
              </a:gradFill>
              <a:ln cap="flat" cmpd="sng" w="9525">
                <a:solidFill>
                  <a:srgbClr val="B6DCDF"/>
                </a:solidFill>
                <a:prstDash val="solid"/>
                <a:miter lim="800000"/>
                <a:headEnd len="sm" w="sm" type="none"/>
                <a:tailEnd len="sm" w="sm" type="none"/>
              </a:ln>
              <a:effectLst>
                <a:outerShdw blurRad="63500" dir="5400000" dist="23000">
                  <a:srgbClr val="80808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cap="none" strike="noStrike">
                    <a:solidFill>
                      <a:schemeClr val="dk1"/>
                    </a:solidFill>
                    <a:latin typeface="Helvetica Neue"/>
                    <a:ea typeface="Helvetica Neue"/>
                    <a:cs typeface="Helvetica Neue"/>
                    <a:sym typeface="Helvetica Neue"/>
                  </a:rPr>
                  <a:t>C</a:t>
                </a:r>
                <a:endParaRPr b="0" i="0" sz="1400" u="none" cap="none" strike="noStrike">
                  <a:solidFill>
                    <a:srgbClr val="000000"/>
                  </a:solidFill>
                  <a:latin typeface="Arial"/>
                  <a:ea typeface="Arial"/>
                  <a:cs typeface="Arial"/>
                  <a:sym typeface="Arial"/>
                </a:endParaRPr>
              </a:p>
            </p:txBody>
          </p:sp>
          <p:sp>
            <p:nvSpPr>
              <p:cNvPr id="123" name="Google Shape;123;p20"/>
              <p:cNvSpPr txBox="1"/>
              <p:nvPr/>
            </p:nvSpPr>
            <p:spPr>
              <a:xfrm>
                <a:off x="2793218" y="1550067"/>
                <a:ext cx="436169" cy="287000"/>
              </a:xfrm>
              <a:prstGeom prst="rect">
                <a:avLst/>
              </a:prstGeom>
              <a:solidFill>
                <a:srgbClr val="333399"/>
              </a:solidFill>
              <a:ln cap="flat" cmpd="sng" w="9525">
                <a:solidFill>
                  <a:srgbClr val="B6DCDF"/>
                </a:solidFill>
                <a:prstDash val="solid"/>
                <a:miter lim="800000"/>
                <a:headEnd len="sm" w="sm" type="none"/>
                <a:tailEnd len="sm" w="sm" type="none"/>
              </a:ln>
              <a:effectLst>
                <a:outerShdw blurRad="63500" dir="5400000" dist="23000">
                  <a:srgbClr val="80808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Helvetica Neue"/>
                  <a:buNone/>
                </a:pPr>
                <a:r>
                  <a:rPr b="0" i="0" lang="en-US" sz="2400" u="none" cap="none" strike="noStrike">
                    <a:solidFill>
                      <a:srgbClr val="FFFFFF"/>
                    </a:solidFill>
                    <a:latin typeface="Helvetica Neue"/>
                    <a:ea typeface="Helvetica Neue"/>
                    <a:cs typeface="Helvetica Neue"/>
                    <a:sym typeface="Helvetica Neue"/>
                  </a:rPr>
                  <a:t>S</a:t>
                </a:r>
                <a:endParaRPr b="0" i="0" sz="1400" u="none" cap="none" strike="noStrike">
                  <a:solidFill>
                    <a:srgbClr val="000000"/>
                  </a:solidFill>
                  <a:latin typeface="Arial"/>
                  <a:ea typeface="Arial"/>
                  <a:cs typeface="Arial"/>
                  <a:sym typeface="Arial"/>
                </a:endParaRPr>
              </a:p>
            </p:txBody>
          </p:sp>
          <p:cxnSp>
            <p:nvCxnSpPr>
              <p:cNvPr id="124" name="Google Shape;124;p20"/>
              <p:cNvCxnSpPr/>
              <p:nvPr/>
            </p:nvCxnSpPr>
            <p:spPr>
              <a:xfrm>
                <a:off x="2302528" y="1370692"/>
                <a:ext cx="490690" cy="322875"/>
              </a:xfrm>
              <a:prstGeom prst="straightConnector1">
                <a:avLst/>
              </a:prstGeom>
              <a:noFill/>
              <a:ln cap="flat" cmpd="sng" w="25400">
                <a:solidFill>
                  <a:schemeClr val="accent1"/>
                </a:solidFill>
                <a:prstDash val="solid"/>
                <a:miter lim="800000"/>
                <a:headEnd len="med" w="med" type="stealth"/>
                <a:tailEnd len="med" w="med" type="stealth"/>
              </a:ln>
              <a:effectLst>
                <a:outerShdw blurRad="63500" dir="5400000" dist="20000">
                  <a:srgbClr val="808080">
                    <a:alpha val="37255"/>
                  </a:srgbClr>
                </a:outerShdw>
              </a:effectLst>
            </p:spPr>
          </p:cxnSp>
          <p:cxnSp>
            <p:nvCxnSpPr>
              <p:cNvPr id="125" name="Google Shape;125;p20"/>
              <p:cNvCxnSpPr/>
              <p:nvPr/>
            </p:nvCxnSpPr>
            <p:spPr>
              <a:xfrm>
                <a:off x="1702796" y="1514192"/>
                <a:ext cx="1090422" cy="179375"/>
              </a:xfrm>
              <a:prstGeom prst="straightConnector1">
                <a:avLst/>
              </a:prstGeom>
              <a:noFill/>
              <a:ln cap="flat" cmpd="sng" w="25400">
                <a:solidFill>
                  <a:schemeClr val="accent1"/>
                </a:solidFill>
                <a:prstDash val="solid"/>
                <a:miter lim="800000"/>
                <a:headEnd len="med" w="med" type="stealth"/>
                <a:tailEnd len="med" w="med" type="stealth"/>
              </a:ln>
              <a:effectLst>
                <a:outerShdw blurRad="63500" dir="5400000" dist="20000">
                  <a:srgbClr val="808080">
                    <a:alpha val="37255"/>
                  </a:srgbClr>
                </a:outerShdw>
              </a:effectLst>
            </p:spPr>
          </p:cxnSp>
          <p:cxnSp>
            <p:nvCxnSpPr>
              <p:cNvPr id="126" name="Google Shape;126;p20"/>
              <p:cNvCxnSpPr/>
              <p:nvPr/>
            </p:nvCxnSpPr>
            <p:spPr>
              <a:xfrm flipH="1" rot="10800000">
                <a:off x="1975402" y="1693567"/>
                <a:ext cx="817817" cy="107625"/>
              </a:xfrm>
              <a:prstGeom prst="straightConnector1">
                <a:avLst/>
              </a:prstGeom>
              <a:noFill/>
              <a:ln cap="flat" cmpd="sng" w="25400">
                <a:solidFill>
                  <a:schemeClr val="accent1"/>
                </a:solidFill>
                <a:prstDash val="solid"/>
                <a:miter lim="800000"/>
                <a:headEnd len="med" w="med" type="stealth"/>
                <a:tailEnd len="med" w="med" type="stealth"/>
              </a:ln>
              <a:effectLst>
                <a:outerShdw blurRad="63500" dir="5400000" dist="20000">
                  <a:srgbClr val="808080">
                    <a:alpha val="37255"/>
                  </a:srgbClr>
                </a:outerShdw>
              </a:effectLst>
            </p:spPr>
          </p:cxnSp>
          <p:cxnSp>
            <p:nvCxnSpPr>
              <p:cNvPr id="127" name="Google Shape;127;p20"/>
              <p:cNvCxnSpPr/>
              <p:nvPr/>
            </p:nvCxnSpPr>
            <p:spPr>
              <a:xfrm flipH="1" rot="10800000">
                <a:off x="2248007" y="1693567"/>
                <a:ext cx="545211" cy="394625"/>
              </a:xfrm>
              <a:prstGeom prst="straightConnector1">
                <a:avLst/>
              </a:prstGeom>
              <a:noFill/>
              <a:ln cap="flat" cmpd="sng" w="25400">
                <a:solidFill>
                  <a:schemeClr val="accent1"/>
                </a:solidFill>
                <a:prstDash val="solid"/>
                <a:miter lim="800000"/>
                <a:headEnd len="med" w="med" type="stealth"/>
                <a:tailEnd len="med" w="med" type="stealth"/>
              </a:ln>
              <a:effectLst>
                <a:outerShdw blurRad="63500" dir="5400000" dist="20000">
                  <a:srgbClr val="808080">
                    <a:alpha val="37255"/>
                  </a:srgbClr>
                </a:outerShdw>
              </a:effectLst>
            </p:spPr>
          </p:cxnSp>
          <p:pic>
            <p:nvPicPr>
              <p:cNvPr descr="firefox.png" id="128" name="Google Shape;128;p20"/>
              <p:cNvPicPr preferRelativeResize="0"/>
              <p:nvPr/>
            </p:nvPicPr>
            <p:blipFill rotWithShape="1">
              <a:blip r:embed="rId3">
                <a:alphaModFix/>
              </a:blip>
              <a:srcRect b="0" l="0" r="0" t="0"/>
              <a:stretch/>
            </p:blipFill>
            <p:spPr>
              <a:xfrm>
                <a:off x="941245" y="1265479"/>
                <a:ext cx="333215" cy="352244"/>
              </a:xfrm>
              <a:prstGeom prst="rect">
                <a:avLst/>
              </a:prstGeom>
              <a:noFill/>
              <a:ln>
                <a:noFill/>
              </a:ln>
            </p:spPr>
          </p:pic>
          <p:pic>
            <p:nvPicPr>
              <p:cNvPr descr="firefox.png" id="129" name="Google Shape;129;p20"/>
              <p:cNvPicPr preferRelativeResize="0"/>
              <p:nvPr/>
            </p:nvPicPr>
            <p:blipFill rotWithShape="1">
              <a:blip r:embed="rId3">
                <a:alphaModFix/>
              </a:blip>
              <a:srcRect b="0" l="0" r="0" t="0"/>
              <a:stretch/>
            </p:blipFill>
            <p:spPr>
              <a:xfrm>
                <a:off x="1179256" y="1684031"/>
                <a:ext cx="333215" cy="352244"/>
              </a:xfrm>
              <a:prstGeom prst="rect">
                <a:avLst/>
              </a:prstGeom>
              <a:noFill/>
              <a:ln>
                <a:noFill/>
              </a:ln>
            </p:spPr>
          </p:pic>
          <p:pic>
            <p:nvPicPr>
              <p:cNvPr descr="firefox.png" id="130" name="Google Shape;130;p20"/>
              <p:cNvPicPr preferRelativeResize="0"/>
              <p:nvPr/>
            </p:nvPicPr>
            <p:blipFill rotWithShape="1">
              <a:blip r:embed="rId3">
                <a:alphaModFix/>
              </a:blip>
              <a:srcRect b="0" l="0" r="0" t="0"/>
              <a:stretch/>
            </p:blipFill>
            <p:spPr>
              <a:xfrm>
                <a:off x="1464868" y="1003885"/>
                <a:ext cx="333215" cy="352244"/>
              </a:xfrm>
              <a:prstGeom prst="rect">
                <a:avLst/>
              </a:prstGeom>
              <a:noFill/>
              <a:ln>
                <a:noFill/>
              </a:ln>
            </p:spPr>
          </p:pic>
        </p:grpSp>
      </p:grpSp>
      <p:grpSp>
        <p:nvGrpSpPr>
          <p:cNvPr id="131" name="Google Shape;131;p20"/>
          <p:cNvGrpSpPr/>
          <p:nvPr/>
        </p:nvGrpSpPr>
        <p:grpSpPr>
          <a:xfrm>
            <a:off x="160065" y="5598739"/>
            <a:ext cx="2232143" cy="1084088"/>
            <a:chOff x="3883640" y="1370664"/>
            <a:chExt cx="2232143" cy="1084088"/>
          </a:xfrm>
        </p:grpSpPr>
        <p:sp>
          <p:nvSpPr>
            <p:cNvPr id="132" name="Google Shape;132;p20"/>
            <p:cNvSpPr txBox="1"/>
            <p:nvPr/>
          </p:nvSpPr>
          <p:spPr>
            <a:xfrm>
              <a:off x="3883640" y="1514192"/>
              <a:ext cx="272606" cy="179375"/>
            </a:xfrm>
            <a:prstGeom prst="rect">
              <a:avLst/>
            </a:prstGeom>
            <a:solidFill>
              <a:schemeClr val="accent2"/>
            </a:solidFill>
            <a:ln cap="flat" cmpd="sng" w="9525">
              <a:solidFill>
                <a:srgbClr val="B6DCDF"/>
              </a:solidFill>
              <a:prstDash val="solid"/>
              <a:miter lim="800000"/>
              <a:headEnd len="sm" w="sm" type="none"/>
              <a:tailEnd len="sm" w="sm" type="none"/>
            </a:ln>
            <a:effectLst>
              <a:outerShdw blurRad="63500" dir="5400000" dist="23000">
                <a:srgbClr val="80808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Helvetica Neue"/>
                <a:buNone/>
              </a:pPr>
              <a:r>
                <a:rPr b="0" i="0" lang="en-US" sz="2400" u="none" cap="none" strike="noStrike">
                  <a:solidFill>
                    <a:srgbClr val="FFFFFF"/>
                  </a:solidFill>
                  <a:latin typeface="Helvetica Neue"/>
                  <a:ea typeface="Helvetica Neue"/>
                  <a:cs typeface="Helvetica Neue"/>
                  <a:sym typeface="Helvetica Neue"/>
                </a:rPr>
                <a:t>P</a:t>
              </a:r>
              <a:endParaRPr b="0" i="0" sz="1400" u="none" cap="none" strike="noStrike">
                <a:solidFill>
                  <a:srgbClr val="000000"/>
                </a:solidFill>
                <a:latin typeface="Arial"/>
                <a:ea typeface="Arial"/>
                <a:cs typeface="Arial"/>
                <a:sym typeface="Arial"/>
              </a:endParaRPr>
            </a:p>
          </p:txBody>
        </p:sp>
        <p:sp>
          <p:nvSpPr>
            <p:cNvPr id="133" name="Google Shape;133;p20"/>
            <p:cNvSpPr txBox="1"/>
            <p:nvPr/>
          </p:nvSpPr>
          <p:spPr>
            <a:xfrm>
              <a:off x="4047203" y="1801192"/>
              <a:ext cx="272606" cy="179375"/>
            </a:xfrm>
            <a:prstGeom prst="rect">
              <a:avLst/>
            </a:prstGeom>
            <a:solidFill>
              <a:schemeClr val="accent2"/>
            </a:solidFill>
            <a:ln cap="flat" cmpd="sng" w="9525">
              <a:solidFill>
                <a:srgbClr val="B6DCDF"/>
              </a:solidFill>
              <a:prstDash val="solid"/>
              <a:miter lim="800000"/>
              <a:headEnd len="sm" w="sm" type="none"/>
              <a:tailEnd len="sm" w="sm" type="none"/>
            </a:ln>
            <a:effectLst>
              <a:outerShdw blurRad="63500" dir="5400000" dist="23000">
                <a:srgbClr val="80808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Helvetica Neue"/>
                <a:buNone/>
              </a:pPr>
              <a:r>
                <a:rPr b="0" i="0" lang="en-US" sz="2400" u="none" cap="none" strike="noStrike">
                  <a:solidFill>
                    <a:srgbClr val="FFFFFF"/>
                  </a:solidFill>
                  <a:latin typeface="Helvetica Neue"/>
                  <a:ea typeface="Helvetica Neue"/>
                  <a:cs typeface="Helvetica Neue"/>
                  <a:sym typeface="Helvetica Neue"/>
                </a:rPr>
                <a:t>P</a:t>
              </a:r>
              <a:endParaRPr b="0" i="0" sz="1400" u="none" cap="none" strike="noStrike">
                <a:solidFill>
                  <a:srgbClr val="000000"/>
                </a:solidFill>
                <a:latin typeface="Arial"/>
                <a:ea typeface="Arial"/>
                <a:cs typeface="Arial"/>
                <a:sym typeface="Arial"/>
              </a:endParaRPr>
            </a:p>
          </p:txBody>
        </p:sp>
        <p:sp>
          <p:nvSpPr>
            <p:cNvPr id="134" name="Google Shape;134;p20"/>
            <p:cNvSpPr txBox="1"/>
            <p:nvPr/>
          </p:nvSpPr>
          <p:spPr>
            <a:xfrm>
              <a:off x="4592414" y="1980567"/>
              <a:ext cx="272606" cy="179375"/>
            </a:xfrm>
            <a:prstGeom prst="rect">
              <a:avLst/>
            </a:prstGeom>
            <a:solidFill>
              <a:schemeClr val="accent2"/>
            </a:solidFill>
            <a:ln cap="flat" cmpd="sng" w="9525">
              <a:solidFill>
                <a:srgbClr val="B6DCDF"/>
              </a:solidFill>
              <a:prstDash val="solid"/>
              <a:miter lim="800000"/>
              <a:headEnd len="sm" w="sm" type="none"/>
              <a:tailEnd len="sm" w="sm" type="none"/>
            </a:ln>
            <a:effectLst>
              <a:outerShdw blurRad="63500" dir="5400000" dist="23000">
                <a:srgbClr val="80808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Helvetica Neue"/>
                <a:buNone/>
              </a:pPr>
              <a:r>
                <a:rPr b="0" i="0" lang="en-US" sz="2400" u="none" cap="none" strike="noStrike">
                  <a:solidFill>
                    <a:srgbClr val="FFFFFF"/>
                  </a:solidFill>
                  <a:latin typeface="Helvetica Neue"/>
                  <a:ea typeface="Helvetica Neue"/>
                  <a:cs typeface="Helvetica Neue"/>
                  <a:sym typeface="Helvetica Neue"/>
                </a:rPr>
                <a:t>P</a:t>
              </a:r>
              <a:endParaRPr b="0" i="0" sz="1400" u="none" cap="none" strike="noStrike">
                <a:solidFill>
                  <a:srgbClr val="000000"/>
                </a:solidFill>
                <a:latin typeface="Arial"/>
                <a:ea typeface="Arial"/>
                <a:cs typeface="Arial"/>
                <a:sym typeface="Arial"/>
              </a:endParaRPr>
            </a:p>
          </p:txBody>
        </p:sp>
        <p:sp>
          <p:nvSpPr>
            <p:cNvPr id="135" name="Google Shape;135;p20"/>
            <p:cNvSpPr txBox="1"/>
            <p:nvPr/>
          </p:nvSpPr>
          <p:spPr>
            <a:xfrm>
              <a:off x="4537893" y="1442442"/>
              <a:ext cx="272606" cy="179375"/>
            </a:xfrm>
            <a:prstGeom prst="rect">
              <a:avLst/>
            </a:prstGeom>
            <a:solidFill>
              <a:schemeClr val="accent2"/>
            </a:solidFill>
            <a:ln cap="flat" cmpd="sng" w="9525">
              <a:solidFill>
                <a:srgbClr val="B6DCDF"/>
              </a:solidFill>
              <a:prstDash val="solid"/>
              <a:miter lim="800000"/>
              <a:headEnd len="sm" w="sm" type="none"/>
              <a:tailEnd len="sm" w="sm" type="none"/>
            </a:ln>
            <a:effectLst>
              <a:outerShdw blurRad="63500" dir="5400000" dist="23000">
                <a:srgbClr val="80808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Helvetica Neue"/>
                <a:buNone/>
              </a:pPr>
              <a:r>
                <a:rPr b="0" i="0" lang="en-US" sz="2400" u="none" cap="none" strike="noStrike">
                  <a:solidFill>
                    <a:srgbClr val="FFFFFF"/>
                  </a:solidFill>
                  <a:latin typeface="Helvetica Neue"/>
                  <a:ea typeface="Helvetica Neue"/>
                  <a:cs typeface="Helvetica Neue"/>
                  <a:sym typeface="Helvetica Neue"/>
                </a:rPr>
                <a:t>P</a:t>
              </a:r>
              <a:endParaRPr b="0" i="0" sz="1400" u="none" cap="none" strike="noStrike">
                <a:solidFill>
                  <a:srgbClr val="000000"/>
                </a:solidFill>
                <a:latin typeface="Arial"/>
                <a:ea typeface="Arial"/>
                <a:cs typeface="Arial"/>
                <a:sym typeface="Arial"/>
              </a:endParaRPr>
            </a:p>
          </p:txBody>
        </p:sp>
        <p:sp>
          <p:nvSpPr>
            <p:cNvPr id="136" name="Google Shape;136;p20"/>
            <p:cNvSpPr txBox="1"/>
            <p:nvPr/>
          </p:nvSpPr>
          <p:spPr>
            <a:xfrm>
              <a:off x="5083104" y="1478317"/>
              <a:ext cx="272606" cy="179375"/>
            </a:xfrm>
            <a:prstGeom prst="rect">
              <a:avLst/>
            </a:prstGeom>
            <a:solidFill>
              <a:schemeClr val="accent2"/>
            </a:solidFill>
            <a:ln cap="flat" cmpd="sng" w="9525">
              <a:solidFill>
                <a:srgbClr val="B6DCDF"/>
              </a:solidFill>
              <a:prstDash val="solid"/>
              <a:miter lim="800000"/>
              <a:headEnd len="sm" w="sm" type="none"/>
              <a:tailEnd len="sm" w="sm" type="none"/>
            </a:ln>
            <a:effectLst>
              <a:outerShdw blurRad="63500" dir="5400000" dist="23000">
                <a:srgbClr val="80808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Helvetica Neue"/>
                <a:buNone/>
              </a:pPr>
              <a:r>
                <a:rPr b="0" i="0" lang="en-US" sz="2400" u="none" cap="none" strike="noStrike">
                  <a:solidFill>
                    <a:srgbClr val="FFFFFF"/>
                  </a:solidFill>
                  <a:latin typeface="Helvetica Neue"/>
                  <a:ea typeface="Helvetica Neue"/>
                  <a:cs typeface="Helvetica Neue"/>
                  <a:sym typeface="Helvetica Neue"/>
                </a:rPr>
                <a:t>P</a:t>
              </a:r>
              <a:endParaRPr b="0" i="0" sz="1400" u="none" cap="none" strike="noStrike">
                <a:solidFill>
                  <a:srgbClr val="000000"/>
                </a:solidFill>
                <a:latin typeface="Arial"/>
                <a:ea typeface="Arial"/>
                <a:cs typeface="Arial"/>
                <a:sym typeface="Arial"/>
              </a:endParaRPr>
            </a:p>
          </p:txBody>
        </p:sp>
        <p:sp>
          <p:nvSpPr>
            <p:cNvPr id="137" name="Google Shape;137;p20"/>
            <p:cNvSpPr txBox="1"/>
            <p:nvPr/>
          </p:nvSpPr>
          <p:spPr>
            <a:xfrm>
              <a:off x="5246668" y="1837067"/>
              <a:ext cx="272606" cy="179375"/>
            </a:xfrm>
            <a:prstGeom prst="rect">
              <a:avLst/>
            </a:prstGeom>
            <a:solidFill>
              <a:schemeClr val="accent2"/>
            </a:solidFill>
            <a:ln cap="flat" cmpd="sng" w="9525">
              <a:solidFill>
                <a:srgbClr val="B6DCDF"/>
              </a:solidFill>
              <a:prstDash val="solid"/>
              <a:miter lim="800000"/>
              <a:headEnd len="sm" w="sm" type="none"/>
              <a:tailEnd len="sm" w="sm" type="none"/>
            </a:ln>
            <a:effectLst>
              <a:outerShdw blurRad="63500" dir="5400000" dist="23000">
                <a:srgbClr val="80808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Helvetica Neue"/>
                <a:buNone/>
              </a:pPr>
              <a:r>
                <a:rPr b="0" i="0" lang="en-US" sz="2400" u="none" cap="none" strike="noStrike">
                  <a:solidFill>
                    <a:srgbClr val="FFFFFF"/>
                  </a:solidFill>
                  <a:latin typeface="Helvetica Neue"/>
                  <a:ea typeface="Helvetica Neue"/>
                  <a:cs typeface="Helvetica Neue"/>
                  <a:sym typeface="Helvetica Neue"/>
                </a:rPr>
                <a:t>P</a:t>
              </a:r>
              <a:endParaRPr b="0" i="0" sz="1400" u="none" cap="none" strike="noStrike">
                <a:solidFill>
                  <a:srgbClr val="000000"/>
                </a:solidFill>
                <a:latin typeface="Arial"/>
                <a:ea typeface="Arial"/>
                <a:cs typeface="Arial"/>
                <a:sym typeface="Arial"/>
              </a:endParaRPr>
            </a:p>
          </p:txBody>
        </p:sp>
        <p:cxnSp>
          <p:nvCxnSpPr>
            <p:cNvPr id="138" name="Google Shape;138;p20"/>
            <p:cNvCxnSpPr/>
            <p:nvPr/>
          </p:nvCxnSpPr>
          <p:spPr>
            <a:xfrm flipH="1" rot="-5400000">
              <a:off x="5211501" y="1665598"/>
              <a:ext cx="179375" cy="163563"/>
            </a:xfrm>
            <a:prstGeom prst="straightConnector1">
              <a:avLst/>
            </a:prstGeom>
            <a:noFill/>
            <a:ln cap="flat" cmpd="sng" w="25400">
              <a:solidFill>
                <a:schemeClr val="accent1"/>
              </a:solidFill>
              <a:prstDash val="solid"/>
              <a:miter lim="800000"/>
              <a:headEnd len="med" w="med" type="stealth"/>
              <a:tailEnd len="med" w="med" type="stealth"/>
            </a:ln>
            <a:effectLst>
              <a:outerShdw blurRad="63500" dir="5400000" dist="20000">
                <a:srgbClr val="808080">
                  <a:alpha val="37255"/>
                </a:srgbClr>
              </a:outerShdw>
            </a:effectLst>
          </p:spPr>
        </p:cxnSp>
        <p:cxnSp>
          <p:nvCxnSpPr>
            <p:cNvPr id="139" name="Google Shape;139;p20"/>
            <p:cNvCxnSpPr/>
            <p:nvPr/>
          </p:nvCxnSpPr>
          <p:spPr>
            <a:xfrm flipH="1">
              <a:off x="4865020" y="1926754"/>
              <a:ext cx="381648" cy="143500"/>
            </a:xfrm>
            <a:prstGeom prst="straightConnector1">
              <a:avLst/>
            </a:prstGeom>
            <a:noFill/>
            <a:ln cap="flat" cmpd="sng" w="25400">
              <a:solidFill>
                <a:schemeClr val="accent1"/>
              </a:solidFill>
              <a:prstDash val="solid"/>
              <a:miter lim="800000"/>
              <a:headEnd len="med" w="med" type="stealth"/>
              <a:tailEnd len="med" w="med" type="stealth"/>
            </a:ln>
            <a:effectLst>
              <a:outerShdw blurRad="63500" dir="5400000" dist="20000">
                <a:srgbClr val="808080">
                  <a:alpha val="37255"/>
                </a:srgbClr>
              </a:outerShdw>
            </a:effectLst>
          </p:spPr>
        </p:cxnSp>
        <p:cxnSp>
          <p:nvCxnSpPr>
            <p:cNvPr id="140" name="Google Shape;140;p20"/>
            <p:cNvCxnSpPr/>
            <p:nvPr/>
          </p:nvCxnSpPr>
          <p:spPr>
            <a:xfrm rot="-5400000">
              <a:off x="4812625" y="1573784"/>
              <a:ext cx="322875" cy="490690"/>
            </a:xfrm>
            <a:prstGeom prst="straightConnector1">
              <a:avLst/>
            </a:prstGeom>
            <a:noFill/>
            <a:ln cap="flat" cmpd="sng" w="25400">
              <a:solidFill>
                <a:schemeClr val="accent1"/>
              </a:solidFill>
              <a:prstDash val="solid"/>
              <a:miter lim="800000"/>
              <a:headEnd len="med" w="med" type="stealth"/>
              <a:tailEnd len="med" w="med" type="stealth"/>
            </a:ln>
            <a:effectLst>
              <a:outerShdw blurRad="63500" dir="5400000" dist="20000">
                <a:srgbClr val="808080">
                  <a:alpha val="37255"/>
                </a:srgbClr>
              </a:outerShdw>
            </a:effectLst>
          </p:spPr>
        </p:cxnSp>
        <p:cxnSp>
          <p:nvCxnSpPr>
            <p:cNvPr id="141" name="Google Shape;141;p20"/>
            <p:cNvCxnSpPr/>
            <p:nvPr/>
          </p:nvCxnSpPr>
          <p:spPr>
            <a:xfrm rot="10800000">
              <a:off x="4183506" y="1980567"/>
              <a:ext cx="408908" cy="89687"/>
            </a:xfrm>
            <a:prstGeom prst="straightConnector1">
              <a:avLst/>
            </a:prstGeom>
            <a:noFill/>
            <a:ln cap="flat" cmpd="sng" w="25400">
              <a:solidFill>
                <a:schemeClr val="accent1"/>
              </a:solidFill>
              <a:prstDash val="solid"/>
              <a:miter lim="800000"/>
              <a:headEnd len="med" w="med" type="stealth"/>
              <a:tailEnd len="med" w="med" type="stealth"/>
            </a:ln>
            <a:effectLst>
              <a:outerShdw blurRad="63500" dir="5400000" dist="20000">
                <a:srgbClr val="808080">
                  <a:alpha val="37255"/>
                </a:srgbClr>
              </a:outerShdw>
            </a:effectLst>
          </p:spPr>
        </p:cxnSp>
        <p:cxnSp>
          <p:nvCxnSpPr>
            <p:cNvPr id="142" name="Google Shape;142;p20"/>
            <p:cNvCxnSpPr/>
            <p:nvPr/>
          </p:nvCxnSpPr>
          <p:spPr>
            <a:xfrm flipH="1" rot="10800000">
              <a:off x="4319809" y="1621817"/>
              <a:ext cx="354387" cy="269062"/>
            </a:xfrm>
            <a:prstGeom prst="straightConnector1">
              <a:avLst/>
            </a:prstGeom>
            <a:noFill/>
            <a:ln cap="flat" cmpd="sng" w="25400">
              <a:solidFill>
                <a:schemeClr val="accent1"/>
              </a:solidFill>
              <a:prstDash val="solid"/>
              <a:miter lim="800000"/>
              <a:headEnd len="med" w="med" type="stealth"/>
              <a:tailEnd len="med" w="med" type="stealth"/>
            </a:ln>
            <a:effectLst>
              <a:outerShdw blurRad="63500" dir="5400000" dist="20000">
                <a:srgbClr val="808080">
                  <a:alpha val="37255"/>
                </a:srgbClr>
              </a:outerShdw>
            </a:effectLst>
          </p:spPr>
        </p:cxnSp>
        <p:cxnSp>
          <p:nvCxnSpPr>
            <p:cNvPr id="143" name="Google Shape;143;p20"/>
            <p:cNvCxnSpPr/>
            <p:nvPr/>
          </p:nvCxnSpPr>
          <p:spPr>
            <a:xfrm flipH="1" rot="10800000">
              <a:off x="4156246" y="1532130"/>
              <a:ext cx="381648" cy="71750"/>
            </a:xfrm>
            <a:prstGeom prst="straightConnector1">
              <a:avLst/>
            </a:prstGeom>
            <a:noFill/>
            <a:ln cap="flat" cmpd="sng" w="25400">
              <a:solidFill>
                <a:schemeClr val="accent1"/>
              </a:solidFill>
              <a:prstDash val="solid"/>
              <a:miter lim="800000"/>
              <a:headEnd len="med" w="med" type="stealth"/>
              <a:tailEnd len="med" w="med" type="stealth"/>
            </a:ln>
            <a:effectLst>
              <a:outerShdw blurRad="63500" dir="5400000" dist="20000">
                <a:srgbClr val="808080">
                  <a:alpha val="37255"/>
                </a:srgbClr>
              </a:outerShdw>
            </a:effectLst>
          </p:spPr>
        </p:cxnSp>
        <p:cxnSp>
          <p:nvCxnSpPr>
            <p:cNvPr id="144" name="Google Shape;144;p20"/>
            <p:cNvCxnSpPr/>
            <p:nvPr/>
          </p:nvCxnSpPr>
          <p:spPr>
            <a:xfrm>
              <a:off x="4156246" y="1603879"/>
              <a:ext cx="1090422" cy="322875"/>
            </a:xfrm>
            <a:prstGeom prst="straightConnector1">
              <a:avLst/>
            </a:prstGeom>
            <a:noFill/>
            <a:ln cap="flat" cmpd="sng" w="25400">
              <a:solidFill>
                <a:schemeClr val="accent1"/>
              </a:solidFill>
              <a:prstDash val="solid"/>
              <a:miter lim="800000"/>
              <a:headEnd len="med" w="med" type="stealth"/>
              <a:tailEnd len="med" w="med" type="stealth"/>
            </a:ln>
            <a:effectLst>
              <a:outerShdw blurRad="63500" dir="5400000" dist="20000">
                <a:srgbClr val="808080">
                  <a:alpha val="37255"/>
                </a:srgbClr>
              </a:outerShdw>
            </a:effectLst>
          </p:spPr>
        </p:cxnSp>
        <p:pic>
          <p:nvPicPr>
            <p:cNvPr id="145" name="Google Shape;145;p20"/>
            <p:cNvPicPr preferRelativeResize="0"/>
            <p:nvPr/>
          </p:nvPicPr>
          <p:blipFill rotWithShape="1">
            <a:blip r:embed="rId4">
              <a:alphaModFix/>
            </a:blip>
            <a:srcRect b="0" l="0" r="0" t="0"/>
            <a:stretch/>
          </p:blipFill>
          <p:spPr>
            <a:xfrm>
              <a:off x="4519431" y="1539066"/>
              <a:ext cx="346062" cy="326279"/>
            </a:xfrm>
            <a:prstGeom prst="rect">
              <a:avLst/>
            </a:prstGeom>
            <a:noFill/>
            <a:ln>
              <a:noFill/>
            </a:ln>
          </p:spPr>
        </p:pic>
        <p:pic>
          <p:nvPicPr>
            <p:cNvPr id="146" name="Google Shape;146;p20"/>
            <p:cNvPicPr preferRelativeResize="0"/>
            <p:nvPr/>
          </p:nvPicPr>
          <p:blipFill rotWithShape="1">
            <a:blip r:embed="rId4">
              <a:alphaModFix/>
            </a:blip>
            <a:srcRect b="0" l="0" r="0" t="0"/>
            <a:stretch/>
          </p:blipFill>
          <p:spPr>
            <a:xfrm>
              <a:off x="5200393" y="1370664"/>
              <a:ext cx="346062" cy="326279"/>
            </a:xfrm>
            <a:prstGeom prst="rect">
              <a:avLst/>
            </a:prstGeom>
            <a:noFill/>
            <a:ln>
              <a:noFill/>
            </a:ln>
          </p:spPr>
        </p:pic>
        <p:pic>
          <p:nvPicPr>
            <p:cNvPr id="147" name="Google Shape;147;p20"/>
            <p:cNvPicPr preferRelativeResize="0"/>
            <p:nvPr/>
          </p:nvPicPr>
          <p:blipFill rotWithShape="1">
            <a:blip r:embed="rId4">
              <a:alphaModFix/>
            </a:blip>
            <a:srcRect b="0" l="0" r="0" t="0"/>
            <a:stretch/>
          </p:blipFill>
          <p:spPr>
            <a:xfrm>
              <a:off x="5591108" y="1412764"/>
              <a:ext cx="346062" cy="326279"/>
            </a:xfrm>
            <a:prstGeom prst="rect">
              <a:avLst/>
            </a:prstGeom>
            <a:noFill/>
            <a:ln>
              <a:noFill/>
            </a:ln>
          </p:spPr>
        </p:pic>
        <p:pic>
          <p:nvPicPr>
            <p:cNvPr id="148" name="Google Shape;148;p20"/>
            <p:cNvPicPr preferRelativeResize="0"/>
            <p:nvPr/>
          </p:nvPicPr>
          <p:blipFill rotWithShape="1">
            <a:blip r:embed="rId4">
              <a:alphaModFix/>
            </a:blip>
            <a:srcRect b="0" l="0" r="0" t="0"/>
            <a:stretch/>
          </p:blipFill>
          <p:spPr>
            <a:xfrm>
              <a:off x="5769721" y="1960071"/>
              <a:ext cx="346062" cy="326279"/>
            </a:xfrm>
            <a:prstGeom prst="rect">
              <a:avLst/>
            </a:prstGeom>
            <a:noFill/>
            <a:ln>
              <a:noFill/>
            </a:ln>
          </p:spPr>
        </p:pic>
        <p:pic>
          <p:nvPicPr>
            <p:cNvPr id="149" name="Google Shape;149;p20"/>
            <p:cNvPicPr preferRelativeResize="0"/>
            <p:nvPr/>
          </p:nvPicPr>
          <p:blipFill rotWithShape="1">
            <a:blip r:embed="rId4">
              <a:alphaModFix/>
            </a:blip>
            <a:srcRect b="0" l="0" r="0" t="0"/>
            <a:stretch/>
          </p:blipFill>
          <p:spPr>
            <a:xfrm>
              <a:off x="5189229" y="2128473"/>
              <a:ext cx="346062" cy="326279"/>
            </a:xfrm>
            <a:prstGeom prst="rect">
              <a:avLst/>
            </a:prstGeom>
            <a:noFill/>
            <a:ln>
              <a:noFill/>
            </a:ln>
          </p:spPr>
        </p:pic>
        <p:pic>
          <p:nvPicPr>
            <p:cNvPr id="150" name="Google Shape;150;p20"/>
            <p:cNvPicPr preferRelativeResize="0"/>
            <p:nvPr/>
          </p:nvPicPr>
          <p:blipFill rotWithShape="1">
            <a:blip r:embed="rId4">
              <a:alphaModFix/>
            </a:blip>
            <a:srcRect b="0" l="0" r="0" t="0"/>
            <a:stretch/>
          </p:blipFill>
          <p:spPr>
            <a:xfrm>
              <a:off x="4698044" y="1833769"/>
              <a:ext cx="346062" cy="326279"/>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Client-Server</a:t>
            </a:r>
            <a:endParaRPr/>
          </a:p>
        </p:txBody>
      </p:sp>
      <p:sp>
        <p:nvSpPr>
          <p:cNvPr id="156" name="Google Shape;156;p2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a:t>Client &amp; Server specialized for their tasks</a:t>
            </a:r>
            <a:endParaRPr/>
          </a:p>
          <a:p>
            <a:pPr indent="-342900" lvl="0" marL="457200" rtl="0" algn="l">
              <a:lnSpc>
                <a:spcPct val="115000"/>
              </a:lnSpc>
              <a:spcBef>
                <a:spcPts val="1200"/>
              </a:spcBef>
              <a:spcAft>
                <a:spcPts val="0"/>
              </a:spcAft>
              <a:buSzPts val="1800"/>
              <a:buChar char="●"/>
            </a:pPr>
            <a:r>
              <a:rPr lang="en-US"/>
              <a:t>Client: ask questions on behalf of users; let users interact w/data</a:t>
            </a:r>
            <a:endParaRPr/>
          </a:p>
          <a:p>
            <a:pPr indent="-342900" lvl="0" marL="457200" rtl="0" algn="l">
              <a:lnSpc>
                <a:spcPct val="115000"/>
              </a:lnSpc>
              <a:spcBef>
                <a:spcPts val="0"/>
              </a:spcBef>
              <a:spcAft>
                <a:spcPts val="0"/>
              </a:spcAft>
              <a:buSzPts val="1800"/>
              <a:buChar char="●"/>
            </a:pPr>
            <a:r>
              <a:rPr lang="en-US"/>
              <a:t>Server: wait for &amp; respond to questions, serve many clients</a:t>
            </a:r>
            <a:endParaRPr/>
          </a:p>
          <a:p>
            <a:pPr indent="0" lvl="0" marL="0" rtl="0" algn="l">
              <a:lnSpc>
                <a:spcPct val="115000"/>
              </a:lnSpc>
              <a:spcBef>
                <a:spcPts val="1200"/>
              </a:spcBef>
              <a:spcAft>
                <a:spcPts val="0"/>
              </a:spcAft>
              <a:buSzPts val="1800"/>
              <a:buNone/>
            </a:pPr>
            <a:r>
              <a:rPr lang="en-US" u="sng">
                <a:solidFill>
                  <a:schemeClr val="hlink"/>
                </a:solidFill>
                <a:hlinkClick r:id="rId3"/>
              </a:rPr>
              <a:t>Popular Movies — The Movie Database (TMDB)</a:t>
            </a:r>
            <a:endParaRPr/>
          </a:p>
          <a:p>
            <a:pPr indent="0" lvl="0" marL="0" rtl="0" algn="l">
              <a:lnSpc>
                <a:spcPct val="115000"/>
              </a:lnSpc>
              <a:spcBef>
                <a:spcPts val="1200"/>
              </a:spcBef>
              <a:spcAft>
                <a:spcPts val="1200"/>
              </a:spcAft>
              <a:buSzPts val="1800"/>
              <a:buNone/>
            </a:pPr>
            <a:r>
              <a:t/>
            </a:r>
            <a:endParaRPr/>
          </a:p>
        </p:txBody>
      </p:sp>
      <p:pic>
        <p:nvPicPr>
          <p:cNvPr id="157" name="Google Shape;157;p21"/>
          <p:cNvPicPr preferRelativeResize="0"/>
          <p:nvPr/>
        </p:nvPicPr>
        <p:blipFill rotWithShape="1">
          <a:blip r:embed="rId4">
            <a:alphaModFix/>
          </a:blip>
          <a:srcRect b="76387" l="24891" r="18004" t="0"/>
          <a:stretch/>
        </p:blipFill>
        <p:spPr>
          <a:xfrm>
            <a:off x="500974" y="4413508"/>
            <a:ext cx="4601302" cy="1420000"/>
          </a:xfrm>
          <a:prstGeom prst="rect">
            <a:avLst/>
          </a:prstGeom>
          <a:noFill/>
          <a:ln>
            <a:noFill/>
          </a:ln>
        </p:spPr>
      </p:pic>
      <p:pic>
        <p:nvPicPr>
          <p:cNvPr id="158" name="Google Shape;158;p21"/>
          <p:cNvPicPr preferRelativeResize="0"/>
          <p:nvPr/>
        </p:nvPicPr>
        <p:blipFill rotWithShape="1">
          <a:blip r:embed="rId5">
            <a:alphaModFix/>
          </a:blip>
          <a:srcRect b="0" l="0" r="0" t="0"/>
          <a:stretch/>
        </p:blipFill>
        <p:spPr>
          <a:xfrm>
            <a:off x="415975" y="3429008"/>
            <a:ext cx="4686300" cy="552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2"/>
          <p:cNvSpPr txBox="1"/>
          <p:nvPr>
            <p:ph type="title"/>
          </p:nvPr>
        </p:nvSpPr>
        <p:spPr>
          <a:xfrm>
            <a:off x="304800" y="0"/>
            <a:ext cx="7924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D2D8A"/>
              </a:buClr>
              <a:buSzPts val="4400"/>
              <a:buFont typeface="Helvetica Neue"/>
              <a:buNone/>
            </a:pPr>
            <a:r>
              <a:rPr lang="en-US" sz="4400">
                <a:latin typeface="Helvetica Neue"/>
                <a:ea typeface="Helvetica Neue"/>
                <a:cs typeface="Helvetica Neue"/>
                <a:sym typeface="Helvetica Neue"/>
              </a:rPr>
              <a:t>Evolution of the Web</a:t>
            </a:r>
            <a:endParaRPr/>
          </a:p>
        </p:txBody>
      </p:sp>
      <p:sp>
        <p:nvSpPr>
          <p:cNvPr id="164" name="Google Shape;164;p22"/>
          <p:cNvSpPr txBox="1"/>
          <p:nvPr>
            <p:ph idx="1" type="body"/>
          </p:nvPr>
        </p:nvSpPr>
        <p:spPr>
          <a:xfrm>
            <a:off x="304800" y="1371600"/>
            <a:ext cx="8534400" cy="5323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360"/>
              </a:spcBef>
              <a:spcAft>
                <a:spcPts val="0"/>
              </a:spcAft>
              <a:buSzPts val="1800"/>
              <a:buNone/>
            </a:pPr>
            <a:r>
              <a:rPr lang="en-US" sz="2000"/>
              <a:t>Web Before</a:t>
            </a:r>
            <a:endParaRPr sz="2000"/>
          </a:p>
          <a:p>
            <a:pPr indent="-342900" lvl="0" marL="342900" rtl="0" algn="l">
              <a:lnSpc>
                <a:spcPct val="115000"/>
              </a:lnSpc>
              <a:spcBef>
                <a:spcPts val="360"/>
              </a:spcBef>
              <a:spcAft>
                <a:spcPts val="0"/>
              </a:spcAft>
              <a:buSzPts val="2000"/>
              <a:buChar char="•"/>
            </a:pPr>
            <a:r>
              <a:rPr lang="en-US" sz="2000"/>
              <a:t>Originally served static content - URL names static page</a:t>
            </a:r>
            <a:endParaRPr sz="2000"/>
          </a:p>
          <a:p>
            <a:pPr indent="-342900" lvl="0" marL="342900" rtl="0" algn="l">
              <a:lnSpc>
                <a:spcPct val="115000"/>
              </a:lnSpc>
              <a:spcBef>
                <a:spcPts val="0"/>
              </a:spcBef>
              <a:spcAft>
                <a:spcPts val="0"/>
              </a:spcAft>
              <a:buSzPts val="2000"/>
              <a:buChar char="•"/>
            </a:pPr>
            <a:r>
              <a:rPr lang="en-US" sz="2000"/>
              <a:t>Then e-commerce sites run a program to generate each “page” - URL invokes a remote program to generate each page on the fly</a:t>
            </a:r>
            <a:endParaRPr sz="2000"/>
          </a:p>
          <a:p>
            <a:pPr indent="0" lvl="0" marL="0" rtl="0" algn="l">
              <a:lnSpc>
                <a:spcPct val="115000"/>
              </a:lnSpc>
              <a:spcBef>
                <a:spcPts val="360"/>
              </a:spcBef>
              <a:spcAft>
                <a:spcPts val="0"/>
              </a:spcAft>
              <a:buSzPts val="1800"/>
              <a:buNone/>
            </a:pPr>
            <a:r>
              <a:t/>
            </a:r>
            <a:endParaRPr sz="2000"/>
          </a:p>
          <a:p>
            <a:pPr indent="0" lvl="0" marL="0" rtl="0" algn="l">
              <a:lnSpc>
                <a:spcPct val="115000"/>
              </a:lnSpc>
              <a:spcBef>
                <a:spcPts val="360"/>
              </a:spcBef>
              <a:spcAft>
                <a:spcPts val="0"/>
              </a:spcAft>
              <a:buSzPts val="1800"/>
              <a:buNone/>
            </a:pPr>
            <a:r>
              <a:t/>
            </a:r>
            <a:endParaRPr sz="2000"/>
          </a:p>
          <a:p>
            <a:pPr indent="0" lvl="0" marL="0" rtl="0" algn="l">
              <a:lnSpc>
                <a:spcPct val="115000"/>
              </a:lnSpc>
              <a:spcBef>
                <a:spcPts val="360"/>
              </a:spcBef>
              <a:spcAft>
                <a:spcPts val="0"/>
              </a:spcAft>
              <a:buSzPts val="1800"/>
              <a:buNone/>
            </a:pPr>
            <a:r>
              <a:t/>
            </a:r>
            <a:endParaRPr sz="2000"/>
          </a:p>
          <a:p>
            <a:pPr indent="0" lvl="0" marL="0" rtl="0" algn="l">
              <a:lnSpc>
                <a:spcPct val="115000"/>
              </a:lnSpc>
              <a:spcBef>
                <a:spcPts val="360"/>
              </a:spcBef>
              <a:spcAft>
                <a:spcPts val="0"/>
              </a:spcAft>
              <a:buSzPts val="1800"/>
              <a:buNone/>
            </a:pPr>
            <a:r>
              <a:rPr lang="en-US" sz="2000"/>
              <a:t>Web Now</a:t>
            </a:r>
            <a:endParaRPr sz="2000"/>
          </a:p>
          <a:p>
            <a:pPr indent="-342900" lvl="0" marL="457200" rtl="0" algn="l">
              <a:lnSpc>
                <a:spcPct val="115000"/>
              </a:lnSpc>
              <a:spcBef>
                <a:spcPts val="0"/>
              </a:spcBef>
              <a:spcAft>
                <a:spcPts val="0"/>
              </a:spcAft>
              <a:buSzPts val="1800"/>
              <a:buFont typeface="Open Sans"/>
              <a:buChar char="-"/>
            </a:pPr>
            <a:r>
              <a:rPr lang="en-US">
                <a:solidFill>
                  <a:schemeClr val="dk1"/>
                </a:solidFill>
                <a:latin typeface="Open Sans"/>
                <a:ea typeface="Open Sans"/>
                <a:cs typeface="Open Sans"/>
                <a:sym typeface="Open Sans"/>
              </a:rPr>
              <a:t>collection of programs that can be invoked remotely to return any kind of data (not just a static web page to be viewed)</a:t>
            </a:r>
            <a:endParaRPr>
              <a:solidFill>
                <a:schemeClr val="dk1"/>
              </a:solidFill>
              <a:latin typeface="Open Sans"/>
              <a:ea typeface="Open Sans"/>
              <a:cs typeface="Open Sans"/>
              <a:sym typeface="Open Sans"/>
            </a:endParaRPr>
          </a:p>
          <a:p>
            <a:pPr indent="-342900" lvl="0" marL="457200" rtl="0" algn="l">
              <a:lnSpc>
                <a:spcPct val="115000"/>
              </a:lnSpc>
              <a:spcBef>
                <a:spcPts val="1200"/>
              </a:spcBef>
              <a:spcAft>
                <a:spcPts val="0"/>
              </a:spcAft>
              <a:buSzPts val="1800"/>
              <a:buFont typeface="Open Sans"/>
              <a:buChar char="-"/>
            </a:pPr>
            <a:r>
              <a:rPr lang="en-US">
                <a:solidFill>
                  <a:schemeClr val="dk1"/>
                </a:solidFill>
                <a:latin typeface="Open Sans"/>
                <a:ea typeface="Open Sans"/>
                <a:cs typeface="Open Sans"/>
                <a:sym typeface="Open Sans"/>
              </a:rPr>
              <a:t>Remote procedure calls where a web client can call a function that gets executed on another computer and returns an answer to the client</a:t>
            </a:r>
            <a:endParaRPr>
              <a:solidFill>
                <a:schemeClr val="dk1"/>
              </a:solidFill>
              <a:latin typeface="Open Sans"/>
              <a:ea typeface="Open Sans"/>
              <a:cs typeface="Open Sans"/>
              <a:sym typeface="Open Sans"/>
            </a:endParaRPr>
          </a:p>
          <a:p>
            <a:pPr indent="-342900" lvl="0" marL="457200" rtl="0" algn="l">
              <a:lnSpc>
                <a:spcPct val="115000"/>
              </a:lnSpc>
              <a:spcBef>
                <a:spcPts val="0"/>
              </a:spcBef>
              <a:spcAft>
                <a:spcPts val="0"/>
              </a:spcAft>
              <a:buSzPts val="1800"/>
              <a:buFont typeface="Open Sans"/>
              <a:buChar char="-"/>
            </a:pPr>
            <a:r>
              <a:rPr lang="en-US">
                <a:solidFill>
                  <a:schemeClr val="dk1"/>
                </a:solidFill>
                <a:latin typeface="Open Sans"/>
                <a:ea typeface="Open Sans"/>
                <a:cs typeface="Open Sans"/>
                <a:sym typeface="Open Sans"/>
              </a:rPr>
              <a:t>Web = collection of services</a:t>
            </a:r>
            <a:endParaRPr>
              <a:solidFill>
                <a:schemeClr val="dk1"/>
              </a:solidFill>
              <a:latin typeface="Open Sans"/>
              <a:ea typeface="Open Sans"/>
              <a:cs typeface="Open Sans"/>
              <a:sym typeface="Open Sans"/>
            </a:endParaRPr>
          </a:p>
          <a:p>
            <a:pPr indent="0" lvl="0" marL="0" rtl="0" algn="l">
              <a:lnSpc>
                <a:spcPct val="115000"/>
              </a:lnSpc>
              <a:spcBef>
                <a:spcPts val="360"/>
              </a:spcBef>
              <a:spcAft>
                <a:spcPts val="0"/>
              </a:spcAft>
              <a:buSzPts val="1800"/>
              <a:buNone/>
            </a:pPr>
            <a:r>
              <a:t/>
            </a:r>
            <a:endParaRPr sz="2000"/>
          </a:p>
          <a:p>
            <a:pPr indent="0" lvl="0" marL="0" rtl="0" algn="l">
              <a:lnSpc>
                <a:spcPct val="115000"/>
              </a:lnSpc>
              <a:spcBef>
                <a:spcPts val="360"/>
              </a:spcBef>
              <a:spcAft>
                <a:spcPts val="0"/>
              </a:spcAft>
              <a:buSzPts val="1800"/>
              <a:buNone/>
            </a:pPr>
            <a:r>
              <a:t/>
            </a:r>
            <a:endParaRPr sz="2000"/>
          </a:p>
          <a:p>
            <a:pPr indent="0" lvl="0" marL="0" rtl="0" algn="l">
              <a:lnSpc>
                <a:spcPct val="115000"/>
              </a:lnSpc>
              <a:spcBef>
                <a:spcPts val="360"/>
              </a:spcBef>
              <a:spcAft>
                <a:spcPts val="0"/>
              </a:spcAft>
              <a:buSzPts val="1800"/>
              <a:buNone/>
            </a:pPr>
            <a:r>
              <a:t/>
            </a:r>
            <a:endParaRPr sz="2000"/>
          </a:p>
        </p:txBody>
      </p:sp>
      <p:pic>
        <p:nvPicPr>
          <p:cNvPr id="165" name="Google Shape;165;p22"/>
          <p:cNvPicPr preferRelativeResize="0"/>
          <p:nvPr/>
        </p:nvPicPr>
        <p:blipFill rotWithShape="1">
          <a:blip r:embed="rId3">
            <a:alphaModFix/>
          </a:blip>
          <a:srcRect b="34102" l="0" r="0" t="41630"/>
          <a:stretch/>
        </p:blipFill>
        <p:spPr>
          <a:xfrm>
            <a:off x="1327663" y="3000038"/>
            <a:ext cx="4921925" cy="8579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3"/>
          <p:cNvSpPr txBox="1"/>
          <p:nvPr>
            <p:ph type="title"/>
          </p:nvPr>
        </p:nvSpPr>
        <p:spPr>
          <a:xfrm>
            <a:off x="311700" y="195642"/>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What is Service Oriented Architecture?</a:t>
            </a:r>
            <a:endParaRPr/>
          </a:p>
        </p:txBody>
      </p:sp>
      <p:sp>
        <p:nvSpPr>
          <p:cNvPr id="171" name="Google Shape;171;p23"/>
          <p:cNvSpPr txBox="1"/>
          <p:nvPr>
            <p:ph idx="1" type="body"/>
          </p:nvPr>
        </p:nvSpPr>
        <p:spPr>
          <a:xfrm>
            <a:off x="311700" y="959150"/>
            <a:ext cx="8703900" cy="4555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a:t>Service-oriented architecture (SOA) is a software development model that uses services to communicate across different platforms and languages to form applications</a:t>
            </a:r>
            <a:endParaRPr/>
          </a:p>
          <a:p>
            <a:pPr indent="-342900" lvl="0" marL="457200" rtl="0" algn="l">
              <a:lnSpc>
                <a:spcPct val="115000"/>
              </a:lnSpc>
              <a:spcBef>
                <a:spcPts val="1200"/>
              </a:spcBef>
              <a:spcAft>
                <a:spcPts val="0"/>
              </a:spcAft>
              <a:buSzPts val="1800"/>
              <a:buChar char="●"/>
            </a:pPr>
            <a:r>
              <a:rPr lang="en-US"/>
              <a:t>reusable software components exchange information via services. </a:t>
            </a:r>
            <a:endParaRPr/>
          </a:p>
          <a:p>
            <a:pPr indent="-342900" lvl="0" marL="457200" rtl="0" algn="l">
              <a:lnSpc>
                <a:spcPct val="115000"/>
              </a:lnSpc>
              <a:spcBef>
                <a:spcPts val="0"/>
              </a:spcBef>
              <a:spcAft>
                <a:spcPts val="0"/>
              </a:spcAft>
              <a:buSzPts val="1800"/>
              <a:buChar char="●"/>
            </a:pPr>
            <a:r>
              <a:rPr lang="en-US"/>
              <a:t>Services are accessed through defined application program interfaces (APIs) </a:t>
            </a:r>
            <a:endParaRPr/>
          </a:p>
          <a:p>
            <a:pPr indent="-342900" lvl="0" marL="457200" rtl="0" algn="l">
              <a:lnSpc>
                <a:spcPct val="115000"/>
              </a:lnSpc>
              <a:spcBef>
                <a:spcPts val="0"/>
              </a:spcBef>
              <a:spcAft>
                <a:spcPts val="0"/>
              </a:spcAft>
              <a:buSzPts val="1800"/>
              <a:buChar char="●"/>
            </a:pPr>
            <a:r>
              <a:rPr lang="en-US"/>
              <a:t>Each service contains the code and data required to execute a business function</a:t>
            </a:r>
            <a:endParaRPr/>
          </a:p>
          <a:p>
            <a:pPr indent="-342900" lvl="1" marL="914400" rtl="0" algn="l">
              <a:lnSpc>
                <a:spcPct val="115000"/>
              </a:lnSpc>
              <a:spcBef>
                <a:spcPts val="0"/>
              </a:spcBef>
              <a:spcAft>
                <a:spcPts val="0"/>
              </a:spcAft>
              <a:buSzPts val="1800"/>
              <a:buChar char="○"/>
            </a:pPr>
            <a:r>
              <a:rPr lang="en-US" sz="1800"/>
              <a:t>checking a customer’s credit, calculating a monthly loan payment, or processing a mortgage application</a:t>
            </a:r>
            <a:endParaRPr sz="1800"/>
          </a:p>
          <a:p>
            <a:pPr indent="-342900" lvl="0" marL="457200" rtl="0" algn="l">
              <a:lnSpc>
                <a:spcPct val="115000"/>
              </a:lnSpc>
              <a:spcBef>
                <a:spcPts val="0"/>
              </a:spcBef>
              <a:spcAft>
                <a:spcPts val="0"/>
              </a:spcAft>
              <a:buSzPts val="1800"/>
              <a:buChar char="●"/>
            </a:pPr>
            <a:r>
              <a:rPr lang="en-US"/>
              <a:t>This provides abstraction so can be called without knowing the details of how the service is implemented</a:t>
            </a:r>
            <a:endParaRPr/>
          </a:p>
          <a:p>
            <a:pPr indent="-342900" lvl="0" marL="457200" rtl="0" algn="l">
              <a:lnSpc>
                <a:spcPct val="115000"/>
              </a:lnSpc>
              <a:spcBef>
                <a:spcPts val="0"/>
              </a:spcBef>
              <a:spcAft>
                <a:spcPts val="0"/>
              </a:spcAft>
              <a:buSzPts val="1800"/>
              <a:buChar char="●"/>
            </a:pPr>
            <a:r>
              <a:rPr lang="en-US"/>
              <a:t>The services are available using standard network protocols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type="title"/>
          </p:nvPr>
        </p:nvSpPr>
        <p:spPr>
          <a:xfrm>
            <a:off x="311700" y="14741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US"/>
              <a:t>Amazon: Early Adopter of  SOA</a:t>
            </a:r>
            <a:endParaRPr b="1"/>
          </a:p>
        </p:txBody>
      </p:sp>
      <p:sp>
        <p:nvSpPr>
          <p:cNvPr id="177" name="Google Shape;177;p24"/>
          <p:cNvSpPr txBox="1"/>
          <p:nvPr>
            <p:ph idx="1" type="body"/>
          </p:nvPr>
        </p:nvSpPr>
        <p:spPr>
          <a:xfrm>
            <a:off x="311700" y="766283"/>
            <a:ext cx="8520600" cy="455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US"/>
              <a:t>Service Oriented Architecture (SOA) is a set of independent composable services that can be combined as black boxes</a:t>
            </a:r>
            <a:endParaRPr/>
          </a:p>
          <a:p>
            <a:pPr indent="-342900" lvl="0" marL="457200" rtl="0" algn="l">
              <a:lnSpc>
                <a:spcPct val="115000"/>
              </a:lnSpc>
              <a:spcBef>
                <a:spcPts val="1200"/>
              </a:spcBef>
              <a:spcAft>
                <a:spcPts val="0"/>
              </a:spcAft>
              <a:buSzPts val="1800"/>
              <a:buChar char="●"/>
            </a:pPr>
            <a:r>
              <a:rPr lang="en-US"/>
              <a:t>each service manages their own data</a:t>
            </a:r>
            <a:endParaRPr/>
          </a:p>
          <a:p>
            <a:pPr indent="-342900" lvl="0" marL="457200" rtl="0" algn="l">
              <a:lnSpc>
                <a:spcPct val="115000"/>
              </a:lnSpc>
              <a:spcBef>
                <a:spcPts val="0"/>
              </a:spcBef>
              <a:spcAft>
                <a:spcPts val="0"/>
              </a:spcAft>
              <a:buSzPts val="1800"/>
              <a:buChar char="●"/>
            </a:pPr>
            <a:r>
              <a:rPr lang="en-US"/>
              <a:t>Use service to get data and not allow direct access</a:t>
            </a:r>
            <a:endParaRPr/>
          </a:p>
          <a:p>
            <a:pPr indent="-342900" lvl="0" marL="457200" rtl="0" algn="l">
              <a:lnSpc>
                <a:spcPct val="115000"/>
              </a:lnSpc>
              <a:spcBef>
                <a:spcPts val="0"/>
              </a:spcBef>
              <a:spcAft>
                <a:spcPts val="0"/>
              </a:spcAft>
              <a:buSzPts val="1800"/>
              <a:buChar char="●"/>
            </a:pPr>
            <a:r>
              <a:rPr lang="en-US"/>
              <a:t>Outside users can now build a new service and make programmatic request</a:t>
            </a:r>
            <a:endParaRPr/>
          </a:p>
        </p:txBody>
      </p:sp>
      <p:pic>
        <p:nvPicPr>
          <p:cNvPr id="178" name="Google Shape;178;p24"/>
          <p:cNvPicPr preferRelativeResize="0"/>
          <p:nvPr/>
        </p:nvPicPr>
        <p:blipFill rotWithShape="1">
          <a:blip r:embed="rId3">
            <a:alphaModFix/>
          </a:blip>
          <a:srcRect b="0" l="0" r="0" t="0"/>
          <a:stretch/>
        </p:blipFill>
        <p:spPr>
          <a:xfrm>
            <a:off x="1231400" y="2673625"/>
            <a:ext cx="5909450" cy="3630776"/>
          </a:xfrm>
          <a:prstGeom prst="rect">
            <a:avLst/>
          </a:prstGeom>
          <a:noFill/>
          <a:ln>
            <a:noFill/>
          </a:ln>
        </p:spPr>
      </p:pic>
      <p:sp>
        <p:nvSpPr>
          <p:cNvPr id="179" name="Google Shape;179;p24"/>
          <p:cNvSpPr txBox="1"/>
          <p:nvPr/>
        </p:nvSpPr>
        <p:spPr>
          <a:xfrm>
            <a:off x="844775" y="6376675"/>
            <a:ext cx="2791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Open Sans"/>
                <a:ea typeface="Open Sans"/>
                <a:cs typeface="Open Sans"/>
                <a:sym typeface="Open Sans"/>
              </a:rPr>
              <a:t>Silo version behind a single API</a:t>
            </a:r>
            <a:endParaRPr b="0" i="0" sz="1400" u="none" cap="none" strike="noStrike">
              <a:solidFill>
                <a:srgbClr val="000000"/>
              </a:solidFill>
              <a:latin typeface="Open Sans"/>
              <a:ea typeface="Open Sans"/>
              <a:cs typeface="Open Sans"/>
              <a:sym typeface="Open Sans"/>
            </a:endParaRPr>
          </a:p>
        </p:txBody>
      </p:sp>
      <p:sp>
        <p:nvSpPr>
          <p:cNvPr id="180" name="Google Shape;180;p24"/>
          <p:cNvSpPr txBox="1"/>
          <p:nvPr/>
        </p:nvSpPr>
        <p:spPr>
          <a:xfrm>
            <a:off x="3968400" y="6376675"/>
            <a:ext cx="5175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Open Sans"/>
                <a:ea typeface="Open Sans"/>
                <a:cs typeface="Open Sans"/>
                <a:sym typeface="Open Sans"/>
              </a:rPr>
              <a:t>All three subsystems are independent and available via APIs</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Discussion</a:t>
            </a:r>
            <a:endParaRPr/>
          </a:p>
        </p:txBody>
      </p:sp>
      <p:sp>
        <p:nvSpPr>
          <p:cNvPr id="187" name="Google Shape;187;p25"/>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1000"/>
              </a:spcBef>
              <a:spcAft>
                <a:spcPts val="0"/>
              </a:spcAft>
              <a:buSzPts val="1800"/>
              <a:buNone/>
            </a:pPr>
            <a:r>
              <a:rPr lang="en-US"/>
              <a:t>Explore </a:t>
            </a:r>
            <a:r>
              <a:rPr lang="en-US" u="sng">
                <a:solidFill>
                  <a:schemeClr val="accent5"/>
                </a:solidFill>
                <a:hlinkClick r:id="rId3">
                  <a:extLst>
                    <a:ext uri="{A12FA001-AC4F-418D-AE19-62706E023703}">
                      <ahyp:hlinkClr val="tx"/>
                    </a:ext>
                  </a:extLst>
                </a:hlinkClick>
              </a:rPr>
              <a:t>https://www.themoviedb.org/</a:t>
            </a:r>
            <a:endParaRPr/>
          </a:p>
          <a:p>
            <a:pPr indent="-342900" lvl="0" marL="457200" rtl="0" algn="l">
              <a:lnSpc>
                <a:spcPct val="115000"/>
              </a:lnSpc>
              <a:spcBef>
                <a:spcPts val="1000"/>
              </a:spcBef>
              <a:spcAft>
                <a:spcPts val="0"/>
              </a:spcAft>
              <a:buSzPts val="1800"/>
              <a:buAutoNum type="arabicPeriod"/>
            </a:pPr>
            <a:r>
              <a:rPr lang="en-US"/>
              <a:t>How do web apps work? What protocols are used to communicate?</a:t>
            </a:r>
            <a:endParaRPr/>
          </a:p>
          <a:p>
            <a:pPr indent="0" lvl="0" marL="0" rtl="0" algn="l">
              <a:lnSpc>
                <a:spcPct val="115000"/>
              </a:lnSpc>
              <a:spcBef>
                <a:spcPts val="1000"/>
              </a:spcBef>
              <a:spcAft>
                <a:spcPts val="0"/>
              </a:spcAft>
              <a:buSzPts val="1800"/>
              <a:buNone/>
            </a:pPr>
            <a:r>
              <a:rPr lang="en-US"/>
              <a:t>Explore  </a:t>
            </a:r>
            <a:r>
              <a:rPr lang="en-US" u="sng">
                <a:solidFill>
                  <a:schemeClr val="accent5"/>
                </a:solidFill>
                <a:hlinkClick r:id="rId4">
                  <a:extLst>
                    <a:ext uri="{A12FA001-AC4F-418D-AE19-62706E023703}">
                      <ahyp:hlinkClr val="tx"/>
                    </a:ext>
                  </a:extLst>
                </a:hlinkClick>
              </a:rPr>
              <a:t>https://developers.themoviedb.org/3/search/search-movies</a:t>
            </a:r>
            <a:r>
              <a:rPr lang="en-US"/>
              <a:t> </a:t>
            </a:r>
            <a:endParaRPr/>
          </a:p>
          <a:p>
            <a:pPr indent="-342900" lvl="0" marL="457200" rtl="0" algn="l">
              <a:lnSpc>
                <a:spcPct val="115000"/>
              </a:lnSpc>
              <a:spcBef>
                <a:spcPts val="1000"/>
              </a:spcBef>
              <a:spcAft>
                <a:spcPts val="0"/>
              </a:spcAft>
              <a:buSzPts val="1800"/>
              <a:buAutoNum type="arabicPeriod"/>
            </a:pPr>
            <a:r>
              <a:rPr lang="en-US"/>
              <a:t>What is an API? What is an HTTP Request?</a:t>
            </a:r>
            <a:endParaRPr/>
          </a:p>
          <a:p>
            <a:pPr indent="-342900" lvl="0" marL="457200" rtl="0" algn="l">
              <a:lnSpc>
                <a:spcPct val="115000"/>
              </a:lnSpc>
              <a:spcBef>
                <a:spcPts val="1000"/>
              </a:spcBef>
              <a:spcAft>
                <a:spcPts val="0"/>
              </a:spcAft>
              <a:buSzPts val="1800"/>
              <a:buAutoNum type="arabicPeriod"/>
            </a:pPr>
            <a:r>
              <a:rPr lang="en-US"/>
              <a:t>Discuss this URI </a:t>
            </a:r>
            <a:r>
              <a:rPr lang="en-US" u="sng">
                <a:solidFill>
                  <a:schemeClr val="hlink"/>
                </a:solidFill>
                <a:hlinkClick r:id="rId5"/>
              </a:rPr>
              <a:t>https://www.themoviedb.org/search?query=coco</a:t>
            </a:r>
            <a:r>
              <a:rPr lang="en-US"/>
              <a:t> </a:t>
            </a:r>
            <a:endParaRPr/>
          </a:p>
          <a:p>
            <a:pPr indent="0" lvl="0" marL="0" rtl="0" algn="l">
              <a:lnSpc>
                <a:spcPct val="115000"/>
              </a:lnSpc>
              <a:spcBef>
                <a:spcPts val="1000"/>
              </a:spcBef>
              <a:spcAft>
                <a:spcPts val="0"/>
              </a:spcAft>
              <a:buSzPts val="1800"/>
              <a:buNone/>
            </a:pPr>
            <a:r>
              <a:t/>
            </a:r>
            <a:endParaRPr/>
          </a:p>
          <a:p>
            <a:pPr indent="0" lvl="0" marL="0" rtl="0" algn="l">
              <a:lnSpc>
                <a:spcPct val="115000"/>
              </a:lnSpc>
              <a:spcBef>
                <a:spcPts val="0"/>
              </a:spcBef>
              <a:spcAft>
                <a:spcPts val="0"/>
              </a:spcAft>
              <a:buSzPts val="1800"/>
              <a:buNone/>
            </a:pPr>
            <a:r>
              <a:t/>
            </a:r>
            <a:endParaRPr/>
          </a:p>
        </p:txBody>
      </p:sp>
      <p:pic>
        <p:nvPicPr>
          <p:cNvPr id="188" name="Google Shape;188;p25"/>
          <p:cNvPicPr preferRelativeResize="0"/>
          <p:nvPr/>
        </p:nvPicPr>
        <p:blipFill rotWithShape="1">
          <a:blip r:embed="rId6">
            <a:alphaModFix/>
          </a:blip>
          <a:srcRect b="0" l="0" r="0" t="0"/>
          <a:stretch/>
        </p:blipFill>
        <p:spPr>
          <a:xfrm>
            <a:off x="7195725" y="84375"/>
            <a:ext cx="1745775" cy="1309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6"/>
          <p:cNvSpPr txBox="1"/>
          <p:nvPr>
            <p:ph type="title"/>
          </p:nvPr>
        </p:nvSpPr>
        <p:spPr>
          <a:xfrm>
            <a:off x="221025" y="2079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HTTP (HyperText Transfer Protocol</a:t>
            </a:r>
            <a:endParaRPr/>
          </a:p>
        </p:txBody>
      </p:sp>
      <p:sp>
        <p:nvSpPr>
          <p:cNvPr id="195" name="Google Shape;195;p26"/>
          <p:cNvSpPr txBox="1"/>
          <p:nvPr>
            <p:ph idx="1" type="body"/>
          </p:nvPr>
        </p:nvSpPr>
        <p:spPr>
          <a:xfrm>
            <a:off x="311700" y="924508"/>
            <a:ext cx="8520600" cy="4555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a:t>HTTP is </a:t>
            </a:r>
            <a:r>
              <a:rPr lang="en-US" sz="1900"/>
              <a:t>an ASCII-based request/reply protocol for transferring information on the Web. </a:t>
            </a:r>
            <a:endParaRPr/>
          </a:p>
          <a:p>
            <a:pPr indent="0" lvl="0" marL="0" rtl="0" algn="l">
              <a:lnSpc>
                <a:spcPct val="115000"/>
              </a:lnSpc>
              <a:spcBef>
                <a:spcPts val="1200"/>
              </a:spcBef>
              <a:spcAft>
                <a:spcPts val="0"/>
              </a:spcAft>
              <a:buSzPts val="1800"/>
              <a:buNone/>
            </a:pPr>
            <a:r>
              <a:rPr lang="en-US"/>
              <a:t>Clients request and receive data like web pages, images, video, audio, and files from the servers containing them. </a:t>
            </a:r>
            <a:endParaRPr/>
          </a:p>
          <a:p>
            <a:pPr indent="0" lvl="0" marL="0" rtl="0" algn="l">
              <a:lnSpc>
                <a:spcPct val="115000"/>
              </a:lnSpc>
              <a:spcBef>
                <a:spcPts val="1200"/>
              </a:spcBef>
              <a:spcAft>
                <a:spcPts val="1200"/>
              </a:spcAft>
              <a:buClr>
                <a:schemeClr val="dk1"/>
              </a:buClr>
              <a:buSzPts val="1100"/>
              <a:buFont typeface="Arial"/>
              <a:buNone/>
            </a:pPr>
            <a:r>
              <a:rPr lang="en-US"/>
              <a:t>A client will send a request to the server with an identifier for a desired piece of data, and the server will attempt to respond to the request</a:t>
            </a:r>
            <a:endParaRPr/>
          </a:p>
        </p:txBody>
      </p:sp>
      <p:pic>
        <p:nvPicPr>
          <p:cNvPr id="196" name="Google Shape;196;p26"/>
          <p:cNvPicPr preferRelativeResize="0"/>
          <p:nvPr/>
        </p:nvPicPr>
        <p:blipFill rotWithShape="1">
          <a:blip r:embed="rId3">
            <a:alphaModFix/>
          </a:blip>
          <a:srcRect b="0" l="0" r="0" t="0"/>
          <a:stretch/>
        </p:blipFill>
        <p:spPr>
          <a:xfrm>
            <a:off x="678550" y="3361000"/>
            <a:ext cx="7134530" cy="3178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7"/>
          <p:cNvSpPr txBox="1"/>
          <p:nvPr>
            <p:ph type="title"/>
          </p:nvPr>
        </p:nvSpPr>
        <p:spPr>
          <a:xfrm>
            <a:off x="224325" y="0"/>
            <a:ext cx="7924800" cy="836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D2D8A"/>
              </a:buClr>
              <a:buSzPts val="3200"/>
              <a:buFont typeface="Helvetica Neue"/>
              <a:buNone/>
            </a:pPr>
            <a:r>
              <a:rPr lang="en-US" sz="3200">
                <a:latin typeface="Helvetica Neue"/>
                <a:ea typeface="Helvetica Neue"/>
                <a:cs typeface="Helvetica Neue"/>
                <a:sym typeface="Helvetica Neue"/>
              </a:rPr>
              <a:t>HTTP Request</a:t>
            </a:r>
            <a:endParaRPr/>
          </a:p>
        </p:txBody>
      </p:sp>
      <p:sp>
        <p:nvSpPr>
          <p:cNvPr id="203" name="Google Shape;203;p27"/>
          <p:cNvSpPr txBox="1"/>
          <p:nvPr>
            <p:ph idx="1" type="body"/>
          </p:nvPr>
        </p:nvSpPr>
        <p:spPr>
          <a:xfrm>
            <a:off x="119075" y="967150"/>
            <a:ext cx="8610600" cy="5573400"/>
          </a:xfrm>
          <a:prstGeom prst="rect">
            <a:avLst/>
          </a:prstGeom>
          <a:noFill/>
          <a:ln>
            <a:noFill/>
          </a:ln>
        </p:spPr>
        <p:txBody>
          <a:bodyPr anchorCtr="0" anchor="t" bIns="45700" lIns="91425" spcFirstLastPara="1" rIns="91425" wrap="square" tIns="45700">
            <a:noAutofit/>
          </a:bodyPr>
          <a:lstStyle/>
          <a:p>
            <a:pPr indent="-342900" lvl="0" marL="342900" rtl="0" algn="l">
              <a:lnSpc>
                <a:spcPct val="115000"/>
              </a:lnSpc>
              <a:spcBef>
                <a:spcPts val="360"/>
              </a:spcBef>
              <a:spcAft>
                <a:spcPts val="0"/>
              </a:spcAft>
              <a:buSzPts val="1900"/>
              <a:buChar char="•"/>
            </a:pPr>
            <a:r>
              <a:rPr lang="en-US" sz="1900"/>
              <a:t>HTTP request includes:</a:t>
            </a:r>
            <a:endParaRPr sz="1900"/>
          </a:p>
          <a:p>
            <a:pPr indent="-292100" lvl="1" marL="742950" rtl="0" algn="l">
              <a:lnSpc>
                <a:spcPct val="115000"/>
              </a:lnSpc>
              <a:spcBef>
                <a:spcPts val="360"/>
              </a:spcBef>
              <a:spcAft>
                <a:spcPts val="0"/>
              </a:spcAft>
              <a:buSzPts val="1900"/>
              <a:buChar char="–"/>
            </a:pPr>
            <a:r>
              <a:rPr lang="en-US" sz="1500"/>
              <a:t>request method (GET, POST, etc.)</a:t>
            </a:r>
            <a:endParaRPr sz="1500"/>
          </a:p>
          <a:p>
            <a:pPr indent="-292100" lvl="1" marL="742950" rtl="0" algn="l">
              <a:lnSpc>
                <a:spcPct val="115000"/>
              </a:lnSpc>
              <a:spcBef>
                <a:spcPts val="360"/>
              </a:spcBef>
              <a:spcAft>
                <a:spcPts val="0"/>
              </a:spcAft>
              <a:buSzPts val="1900"/>
              <a:buChar char="–"/>
            </a:pPr>
            <a:r>
              <a:rPr lang="en-US" sz="1500"/>
              <a:t>Uniform Resource Identifier (URI) </a:t>
            </a:r>
            <a:endParaRPr sz="1500"/>
          </a:p>
          <a:p>
            <a:pPr indent="-292100" lvl="1" marL="742950" rtl="0" algn="l">
              <a:lnSpc>
                <a:spcPct val="115000"/>
              </a:lnSpc>
              <a:spcBef>
                <a:spcPts val="360"/>
              </a:spcBef>
              <a:spcAft>
                <a:spcPts val="0"/>
              </a:spcAft>
              <a:buSzPts val="1900"/>
              <a:buChar char="–"/>
            </a:pPr>
            <a:r>
              <a:rPr lang="en-US" sz="1500"/>
              <a:t>HTTP protocol version understood by the client</a:t>
            </a:r>
            <a:endParaRPr sz="1500"/>
          </a:p>
          <a:p>
            <a:pPr indent="-292100" lvl="1" marL="742950" rtl="0" algn="l">
              <a:lnSpc>
                <a:spcPct val="115000"/>
              </a:lnSpc>
              <a:spcBef>
                <a:spcPts val="360"/>
              </a:spcBef>
              <a:spcAft>
                <a:spcPts val="0"/>
              </a:spcAft>
              <a:buSzPts val="1900"/>
              <a:buChar char="–"/>
            </a:pPr>
            <a:r>
              <a:rPr lang="en-US" sz="1500"/>
              <a:t>headers—extra info regarding transfer request</a:t>
            </a:r>
            <a:endParaRPr sz="1500"/>
          </a:p>
          <a:p>
            <a:pPr indent="0" lvl="0" marL="342900" rtl="0" algn="l">
              <a:lnSpc>
                <a:spcPct val="115000"/>
              </a:lnSpc>
              <a:spcBef>
                <a:spcPts val="360"/>
              </a:spcBef>
              <a:spcAft>
                <a:spcPts val="0"/>
              </a:spcAft>
              <a:buSzPts val="1800"/>
              <a:buNone/>
            </a:pPr>
            <a:r>
              <a:t/>
            </a:r>
            <a:endParaRPr sz="1500"/>
          </a:p>
          <a:p>
            <a:pPr indent="0" lvl="0" marL="0" rtl="0" algn="l">
              <a:lnSpc>
                <a:spcPct val="115000"/>
              </a:lnSpc>
              <a:spcBef>
                <a:spcPts val="360"/>
              </a:spcBef>
              <a:spcAft>
                <a:spcPts val="0"/>
              </a:spcAft>
              <a:buSzPts val="1800"/>
              <a:buNone/>
            </a:pPr>
            <a:r>
              <a:t/>
            </a:r>
            <a:endParaRPr sz="1500"/>
          </a:p>
          <a:p>
            <a:pPr indent="0" lvl="0" marL="0" rtl="0" algn="l">
              <a:lnSpc>
                <a:spcPct val="115000"/>
              </a:lnSpc>
              <a:spcBef>
                <a:spcPts val="360"/>
              </a:spcBef>
              <a:spcAft>
                <a:spcPts val="0"/>
              </a:spcAft>
              <a:buSzPts val="1800"/>
              <a:buNone/>
            </a:pPr>
            <a:r>
              <a:t/>
            </a:r>
            <a:endParaRPr sz="1500"/>
          </a:p>
          <a:p>
            <a:pPr indent="0" lvl="0" marL="0" rtl="0" algn="l">
              <a:lnSpc>
                <a:spcPct val="115000"/>
              </a:lnSpc>
              <a:spcBef>
                <a:spcPts val="360"/>
              </a:spcBef>
              <a:spcAft>
                <a:spcPts val="0"/>
              </a:spcAft>
              <a:buSzPts val="1800"/>
              <a:buNone/>
            </a:pPr>
            <a:r>
              <a:t/>
            </a:r>
            <a:endParaRPr sz="1500"/>
          </a:p>
          <a:p>
            <a:pPr indent="0" lvl="0" marL="0" rtl="0" algn="l">
              <a:lnSpc>
                <a:spcPct val="115000"/>
              </a:lnSpc>
              <a:spcBef>
                <a:spcPts val="360"/>
              </a:spcBef>
              <a:spcAft>
                <a:spcPts val="0"/>
              </a:spcAft>
              <a:buSzPts val="1800"/>
              <a:buNone/>
            </a:pPr>
            <a:r>
              <a:t/>
            </a:r>
            <a:endParaRPr sz="1500"/>
          </a:p>
          <a:p>
            <a:pPr indent="0" lvl="0" marL="0" rtl="0" algn="l">
              <a:lnSpc>
                <a:spcPct val="115000"/>
              </a:lnSpc>
              <a:spcBef>
                <a:spcPts val="360"/>
              </a:spcBef>
              <a:spcAft>
                <a:spcPts val="0"/>
              </a:spcAft>
              <a:buSzPts val="1800"/>
              <a:buNone/>
            </a:pPr>
            <a:r>
              <a:t/>
            </a:r>
            <a:endParaRPr sz="1500"/>
          </a:p>
          <a:p>
            <a:pPr indent="0" lvl="0" marL="342900" rtl="0" algn="l">
              <a:lnSpc>
                <a:spcPct val="115000"/>
              </a:lnSpc>
              <a:spcBef>
                <a:spcPts val="360"/>
              </a:spcBef>
              <a:spcAft>
                <a:spcPts val="0"/>
              </a:spcAft>
              <a:buSzPts val="1800"/>
              <a:buNone/>
            </a:pPr>
            <a:r>
              <a:t/>
            </a:r>
            <a:endParaRPr sz="1500"/>
          </a:p>
          <a:p>
            <a:pPr indent="-342900" lvl="0" marL="342900" rtl="0" algn="l">
              <a:lnSpc>
                <a:spcPct val="115000"/>
              </a:lnSpc>
              <a:spcBef>
                <a:spcPts val="360"/>
              </a:spcBef>
              <a:spcAft>
                <a:spcPts val="0"/>
              </a:spcAft>
              <a:buSzPts val="1900"/>
              <a:buChar char="•"/>
            </a:pPr>
            <a:r>
              <a:rPr lang="en-US" sz="1900"/>
              <a:t>HTTP is stateless </a:t>
            </a:r>
            <a:endParaRPr sz="1900"/>
          </a:p>
          <a:p>
            <a:pPr indent="-285750" lvl="1" marL="742950" rtl="0" algn="l">
              <a:lnSpc>
                <a:spcPct val="115000"/>
              </a:lnSpc>
              <a:spcBef>
                <a:spcPts val="360"/>
              </a:spcBef>
              <a:spcAft>
                <a:spcPts val="0"/>
              </a:spcAft>
              <a:buSzPts val="1800"/>
              <a:buChar char="–"/>
            </a:pPr>
            <a:r>
              <a:rPr lang="en-US" sz="1800"/>
              <a:t>every HTTP request is completely independent of each other </a:t>
            </a:r>
            <a:endParaRPr sz="1800"/>
          </a:p>
          <a:p>
            <a:pPr indent="-285750" lvl="1" marL="742950" rtl="0" algn="l">
              <a:lnSpc>
                <a:spcPct val="115000"/>
              </a:lnSpc>
              <a:spcBef>
                <a:spcPts val="360"/>
              </a:spcBef>
              <a:spcAft>
                <a:spcPts val="0"/>
              </a:spcAft>
              <a:buSzPts val="1800"/>
              <a:buChar char="–"/>
            </a:pPr>
            <a:r>
              <a:rPr lang="en-US" sz="1800"/>
              <a:t>hence cookies are used to pass information in header that this is same client </a:t>
            </a:r>
            <a:endParaRPr sz="1800"/>
          </a:p>
        </p:txBody>
      </p:sp>
      <p:sp>
        <p:nvSpPr>
          <p:cNvPr id="204" name="Google Shape;204;p27"/>
          <p:cNvSpPr/>
          <p:nvPr/>
        </p:nvSpPr>
        <p:spPr>
          <a:xfrm>
            <a:off x="4014900" y="1330725"/>
            <a:ext cx="1114200" cy="698400"/>
          </a:xfrm>
          <a:prstGeom prst="leftArrowCallout">
            <a:avLst>
              <a:gd fmla="val 25000" name="adj1"/>
              <a:gd fmla="val 25000" name="adj2"/>
              <a:gd fmla="val 25000" name="adj3"/>
              <a:gd fmla="val 64977" name="adj4"/>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form  route</a:t>
            </a:r>
            <a:endParaRPr b="0" i="0" sz="1400" u="none" cap="none" strike="noStrike">
              <a:solidFill>
                <a:srgbClr val="000000"/>
              </a:solidFill>
              <a:latin typeface="Arial"/>
              <a:ea typeface="Arial"/>
              <a:cs typeface="Arial"/>
              <a:sym typeface="Arial"/>
            </a:endParaRPr>
          </a:p>
        </p:txBody>
      </p:sp>
      <p:pic>
        <p:nvPicPr>
          <p:cNvPr id="205" name="Google Shape;205;p27"/>
          <p:cNvPicPr preferRelativeResize="0"/>
          <p:nvPr/>
        </p:nvPicPr>
        <p:blipFill rotWithShape="1">
          <a:blip r:embed="rId3">
            <a:alphaModFix/>
          </a:blip>
          <a:srcRect b="0" l="0" r="0" t="0"/>
          <a:stretch/>
        </p:blipFill>
        <p:spPr>
          <a:xfrm>
            <a:off x="695525" y="2919449"/>
            <a:ext cx="3814824" cy="1917875"/>
          </a:xfrm>
          <a:prstGeom prst="rect">
            <a:avLst/>
          </a:prstGeom>
          <a:noFill/>
          <a:ln>
            <a:noFill/>
          </a:ln>
        </p:spPr>
      </p:pic>
      <p:sp>
        <p:nvSpPr>
          <p:cNvPr id="206" name="Google Shape;206;p27"/>
          <p:cNvSpPr txBox="1"/>
          <p:nvPr/>
        </p:nvSpPr>
        <p:spPr>
          <a:xfrm>
            <a:off x="3219125" y="4437125"/>
            <a:ext cx="1171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chemeClr val="hlink"/>
                </a:solidFill>
                <a:latin typeface="Arial"/>
                <a:ea typeface="Arial"/>
                <a:cs typeface="Arial"/>
                <a:sym typeface="Arial"/>
                <a:hlinkClick r:id="rId4"/>
              </a:rPr>
              <a:t>Code.org</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8"/>
          <p:cNvSpPr txBox="1"/>
          <p:nvPr>
            <p:ph type="title"/>
          </p:nvPr>
        </p:nvSpPr>
        <p:spPr>
          <a:xfrm>
            <a:off x="130275" y="57925"/>
            <a:ext cx="7924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D2D8A"/>
              </a:buClr>
              <a:buSzPts val="3200"/>
              <a:buFont typeface="Helvetica Neue"/>
              <a:buNone/>
            </a:pPr>
            <a:r>
              <a:rPr lang="en-US" sz="3200">
                <a:latin typeface="Helvetica Neue"/>
                <a:ea typeface="Helvetica Neue"/>
                <a:cs typeface="Helvetica Neue"/>
                <a:sym typeface="Helvetica Neue"/>
              </a:rPr>
              <a:t>HTTP Response</a:t>
            </a:r>
            <a:endParaRPr/>
          </a:p>
        </p:txBody>
      </p:sp>
      <p:sp>
        <p:nvSpPr>
          <p:cNvPr id="213" name="Google Shape;213;p28"/>
          <p:cNvSpPr txBox="1"/>
          <p:nvPr>
            <p:ph idx="1" type="body"/>
          </p:nvPr>
        </p:nvSpPr>
        <p:spPr>
          <a:xfrm>
            <a:off x="266700" y="1073275"/>
            <a:ext cx="8610600" cy="5573400"/>
          </a:xfrm>
          <a:prstGeom prst="rect">
            <a:avLst/>
          </a:prstGeom>
          <a:noFill/>
          <a:ln>
            <a:noFill/>
          </a:ln>
        </p:spPr>
        <p:txBody>
          <a:bodyPr anchorCtr="0" anchor="t" bIns="45700" lIns="91425" spcFirstLastPara="1" rIns="91425" wrap="square" tIns="45700">
            <a:noAutofit/>
          </a:bodyPr>
          <a:lstStyle/>
          <a:p>
            <a:pPr indent="0" lvl="0" marL="342900" rtl="0" algn="l">
              <a:lnSpc>
                <a:spcPct val="115000"/>
              </a:lnSpc>
              <a:spcBef>
                <a:spcPts val="360"/>
              </a:spcBef>
              <a:spcAft>
                <a:spcPts val="0"/>
              </a:spcAft>
              <a:buSzPts val="1800"/>
              <a:buNone/>
            </a:pPr>
            <a:r>
              <a:t/>
            </a:r>
            <a:endParaRPr sz="1500"/>
          </a:p>
          <a:p>
            <a:pPr indent="0" lvl="0" marL="342900" rtl="0" algn="l">
              <a:lnSpc>
                <a:spcPct val="115000"/>
              </a:lnSpc>
              <a:spcBef>
                <a:spcPts val="360"/>
              </a:spcBef>
              <a:spcAft>
                <a:spcPts val="0"/>
              </a:spcAft>
              <a:buSzPts val="1800"/>
              <a:buNone/>
            </a:pPr>
            <a:r>
              <a:rPr lang="en-US" sz="1900"/>
              <a:t>HTTP response from server</a:t>
            </a:r>
            <a:endParaRPr sz="1900"/>
          </a:p>
          <a:p>
            <a:pPr indent="-292100" lvl="1" marL="742950" rtl="0" algn="l">
              <a:lnSpc>
                <a:spcPct val="115000"/>
              </a:lnSpc>
              <a:spcBef>
                <a:spcPts val="360"/>
              </a:spcBef>
              <a:spcAft>
                <a:spcPts val="0"/>
              </a:spcAft>
              <a:buSzPts val="1900"/>
              <a:buChar char="–"/>
            </a:pPr>
            <a:r>
              <a:rPr lang="en-US" sz="1500"/>
              <a:t>Protocol version &amp; Status code =&gt;</a:t>
            </a:r>
            <a:endParaRPr sz="1500"/>
          </a:p>
          <a:p>
            <a:pPr indent="-292100" lvl="1" marL="742950" rtl="0" algn="l">
              <a:lnSpc>
                <a:spcPct val="115000"/>
              </a:lnSpc>
              <a:spcBef>
                <a:spcPts val="360"/>
              </a:spcBef>
              <a:spcAft>
                <a:spcPts val="0"/>
              </a:spcAft>
              <a:buSzPts val="1900"/>
              <a:buChar char="–"/>
            </a:pPr>
            <a:r>
              <a:rPr lang="en-US" sz="1500"/>
              <a:t>Response headers</a:t>
            </a:r>
            <a:endParaRPr sz="1500"/>
          </a:p>
          <a:p>
            <a:pPr indent="-292100" lvl="1" marL="742950" rtl="0" algn="l">
              <a:lnSpc>
                <a:spcPct val="115000"/>
              </a:lnSpc>
              <a:spcBef>
                <a:spcPts val="360"/>
              </a:spcBef>
              <a:spcAft>
                <a:spcPts val="0"/>
              </a:spcAft>
              <a:buSzPts val="1900"/>
              <a:buChar char="–"/>
            </a:pPr>
            <a:r>
              <a:rPr lang="en-US" sz="1500"/>
              <a:t>Response body</a:t>
            </a:r>
            <a:endParaRPr sz="1500"/>
          </a:p>
          <a:p>
            <a:pPr indent="0" lvl="0" marL="342900" rtl="0" algn="l">
              <a:lnSpc>
                <a:spcPct val="115000"/>
              </a:lnSpc>
              <a:spcBef>
                <a:spcPts val="360"/>
              </a:spcBef>
              <a:spcAft>
                <a:spcPts val="0"/>
              </a:spcAft>
              <a:buSzPts val="1800"/>
              <a:buNone/>
            </a:pPr>
            <a:r>
              <a:t/>
            </a:r>
            <a:endParaRPr sz="1800"/>
          </a:p>
        </p:txBody>
      </p:sp>
      <p:sp>
        <p:nvSpPr>
          <p:cNvPr id="214" name="Google Shape;214;p28"/>
          <p:cNvSpPr txBox="1"/>
          <p:nvPr/>
        </p:nvSpPr>
        <p:spPr>
          <a:xfrm>
            <a:off x="4695600" y="1580312"/>
            <a:ext cx="3048000" cy="1477500"/>
          </a:xfrm>
          <a:prstGeom prst="rect">
            <a:avLst/>
          </a:prstGeom>
          <a:solidFill>
            <a:srgbClr val="FFF2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1" i="0" lang="en-US" sz="1800" u="none" cap="none" strike="noStrike">
                <a:solidFill>
                  <a:schemeClr val="lt1"/>
                </a:solidFill>
                <a:latin typeface="Times"/>
                <a:ea typeface="Times"/>
                <a:cs typeface="Times"/>
                <a:sym typeface="Times"/>
              </a:rPr>
              <a:t>HTTP status codes:</a:t>
            </a:r>
            <a:endParaRPr b="0" i="0" sz="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Times"/>
              <a:buNone/>
            </a:pPr>
            <a:r>
              <a:rPr b="0" i="0" lang="en-US" sz="1800" u="none" cap="none" strike="noStrike">
                <a:solidFill>
                  <a:schemeClr val="lt1"/>
                </a:solidFill>
                <a:latin typeface="Times"/>
                <a:ea typeface="Times"/>
                <a:cs typeface="Times"/>
                <a:sym typeface="Times"/>
              </a:rPr>
              <a:t>2xx — </a:t>
            </a:r>
            <a:r>
              <a:rPr b="0" i="1" lang="en-US" sz="1800" u="none" cap="none" strike="noStrike">
                <a:solidFill>
                  <a:schemeClr val="lt1"/>
                </a:solidFill>
                <a:latin typeface="Times"/>
                <a:ea typeface="Times"/>
                <a:cs typeface="Times"/>
                <a:sym typeface="Times"/>
              </a:rPr>
              <a:t>all is well</a:t>
            </a:r>
            <a:endParaRPr b="0" i="0" sz="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Times"/>
              <a:buNone/>
            </a:pPr>
            <a:r>
              <a:rPr b="0" i="0" lang="en-US" sz="1800" u="none" cap="none" strike="noStrike">
                <a:solidFill>
                  <a:schemeClr val="lt1"/>
                </a:solidFill>
                <a:latin typeface="Times"/>
                <a:ea typeface="Times"/>
                <a:cs typeface="Times"/>
                <a:sym typeface="Times"/>
              </a:rPr>
              <a:t>3xx — </a:t>
            </a:r>
            <a:r>
              <a:rPr b="0" i="1" lang="en-US" sz="1800" u="none" cap="none" strike="noStrike">
                <a:solidFill>
                  <a:schemeClr val="lt1"/>
                </a:solidFill>
                <a:latin typeface="Times"/>
                <a:ea typeface="Times"/>
                <a:cs typeface="Times"/>
                <a:sym typeface="Times"/>
              </a:rPr>
              <a:t>resource moved</a:t>
            </a:r>
            <a:endParaRPr b="0" i="0" sz="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Times"/>
              <a:buNone/>
            </a:pPr>
            <a:r>
              <a:rPr b="0" i="0" lang="en-US" sz="1800" u="none" cap="none" strike="noStrike">
                <a:solidFill>
                  <a:schemeClr val="lt1"/>
                </a:solidFill>
                <a:latin typeface="Times"/>
                <a:ea typeface="Times"/>
                <a:cs typeface="Times"/>
                <a:sym typeface="Times"/>
              </a:rPr>
              <a:t>4xx — </a:t>
            </a:r>
            <a:r>
              <a:rPr b="0" i="1" lang="en-US" sz="1800" u="none" cap="none" strike="noStrike">
                <a:solidFill>
                  <a:schemeClr val="lt1"/>
                </a:solidFill>
                <a:latin typeface="Times"/>
                <a:ea typeface="Times"/>
                <a:cs typeface="Times"/>
                <a:sym typeface="Times"/>
              </a:rPr>
              <a:t>access problem</a:t>
            </a:r>
            <a:endParaRPr b="0" i="0" sz="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Times"/>
              <a:buNone/>
            </a:pPr>
            <a:r>
              <a:rPr b="0" i="0" lang="en-US" sz="1800" u="none" cap="none" strike="noStrike">
                <a:solidFill>
                  <a:schemeClr val="lt1"/>
                </a:solidFill>
                <a:latin typeface="Times"/>
                <a:ea typeface="Times"/>
                <a:cs typeface="Times"/>
                <a:sym typeface="Times"/>
              </a:rPr>
              <a:t>5xx — </a:t>
            </a:r>
            <a:r>
              <a:rPr b="0" i="1" lang="en-US" sz="1800" u="none" cap="none" strike="noStrike">
                <a:solidFill>
                  <a:schemeClr val="lt1"/>
                </a:solidFill>
                <a:latin typeface="Times"/>
                <a:ea typeface="Times"/>
                <a:cs typeface="Times"/>
                <a:sym typeface="Times"/>
              </a:rPr>
              <a:t>server error</a:t>
            </a:r>
            <a:endParaRPr b="0" i="0" sz="800" u="none" cap="none" strike="noStrike">
              <a:solidFill>
                <a:schemeClr val="lt1"/>
              </a:solidFill>
              <a:latin typeface="Arial"/>
              <a:ea typeface="Arial"/>
              <a:cs typeface="Arial"/>
              <a:sym typeface="Arial"/>
            </a:endParaRPr>
          </a:p>
        </p:txBody>
      </p:sp>
      <p:sp>
        <p:nvSpPr>
          <p:cNvPr id="215" name="Google Shape;215;p28"/>
          <p:cNvSpPr txBox="1"/>
          <p:nvPr/>
        </p:nvSpPr>
        <p:spPr>
          <a:xfrm>
            <a:off x="7743600" y="5515150"/>
            <a:ext cx="1171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chemeClr val="hlink"/>
                </a:solidFill>
                <a:latin typeface="Arial"/>
                <a:ea typeface="Arial"/>
                <a:cs typeface="Arial"/>
                <a:sym typeface="Arial"/>
                <a:hlinkClick r:id="rId3"/>
              </a:rPr>
              <a:t>Code.org</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216" name="Google Shape;216;p28"/>
          <p:cNvPicPr preferRelativeResize="0"/>
          <p:nvPr/>
        </p:nvPicPr>
        <p:blipFill rotWithShape="1">
          <a:blip r:embed="rId4">
            <a:alphaModFix/>
          </a:blip>
          <a:srcRect b="0" l="0" r="0" t="0"/>
          <a:stretch/>
        </p:blipFill>
        <p:spPr>
          <a:xfrm>
            <a:off x="913975" y="3495100"/>
            <a:ext cx="6591300" cy="2971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9"/>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US"/>
              <a:t>HTTP Communication </a:t>
            </a:r>
            <a:endParaRPr/>
          </a:p>
        </p:txBody>
      </p:sp>
      <p:sp>
        <p:nvSpPr>
          <p:cNvPr id="222" name="Google Shape;222;p29"/>
          <p:cNvSpPr txBox="1"/>
          <p:nvPr>
            <p:ph idx="1" type="body"/>
          </p:nvPr>
        </p:nvSpPr>
        <p:spPr>
          <a:xfrm>
            <a:off x="213550" y="1234200"/>
            <a:ext cx="8930400" cy="4555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lang="en-US"/>
              <a:t>HTTP Server is listening to localhost:3000</a:t>
            </a:r>
            <a:endParaRPr/>
          </a:p>
          <a:p>
            <a:pPr indent="-342900" lvl="0" marL="457200" rtl="0" algn="l">
              <a:lnSpc>
                <a:spcPct val="115000"/>
              </a:lnSpc>
              <a:spcBef>
                <a:spcPts val="0"/>
              </a:spcBef>
              <a:spcAft>
                <a:spcPts val="0"/>
              </a:spcAft>
              <a:buSzPts val="1800"/>
              <a:buAutoNum type="arabicPeriod"/>
            </a:pPr>
            <a:r>
              <a:rPr lang="en-US"/>
              <a:t>Web Client requests Rotten Potatoes home page from a Web Server</a:t>
            </a:r>
            <a:endParaRPr/>
          </a:p>
          <a:p>
            <a:pPr indent="-342900" lvl="1" marL="914400" rtl="0" algn="l">
              <a:lnSpc>
                <a:spcPct val="115000"/>
              </a:lnSpc>
              <a:spcBef>
                <a:spcPts val="0"/>
              </a:spcBef>
              <a:spcAft>
                <a:spcPts val="0"/>
              </a:spcAft>
              <a:buSzPts val="1800"/>
              <a:buAutoNum type="alphaLcPeriod"/>
            </a:pPr>
            <a:r>
              <a:rPr lang="en-US" sz="1800"/>
              <a:t>Web Client’s browser creates HTTP request using GET method and URI: localhost:3000 to contact web server listening to same computer, same port.</a:t>
            </a:r>
            <a:endParaRPr sz="1800"/>
          </a:p>
          <a:p>
            <a:pPr indent="-342900" lvl="1" marL="914400" rtl="0" algn="l">
              <a:lnSpc>
                <a:spcPct val="115000"/>
              </a:lnSpc>
              <a:spcBef>
                <a:spcPts val="0"/>
              </a:spcBef>
              <a:spcAft>
                <a:spcPts val="0"/>
              </a:spcAft>
              <a:buSzPts val="1800"/>
              <a:buAutoNum type="alphaLcPeriod"/>
            </a:pPr>
            <a:r>
              <a:rPr lang="en-US" sz="1800"/>
              <a:t>Web Server receives the HTTP request </a:t>
            </a:r>
            <a:endParaRPr sz="1800"/>
          </a:p>
          <a:p>
            <a:pPr indent="0" lvl="0" marL="457200" rtl="0" algn="l">
              <a:lnSpc>
                <a:spcPct val="115000"/>
              </a:lnSpc>
              <a:spcBef>
                <a:spcPts val="0"/>
              </a:spcBef>
              <a:spcAft>
                <a:spcPts val="0"/>
              </a:spcAft>
              <a:buSzPts val="1800"/>
              <a:buNone/>
            </a:pPr>
            <a:r>
              <a:t/>
            </a:r>
            <a:endParaRPr/>
          </a:p>
        </p:txBody>
      </p:sp>
      <p:pic>
        <p:nvPicPr>
          <p:cNvPr id="223" name="Google Shape;223;p29"/>
          <p:cNvPicPr preferRelativeResize="0"/>
          <p:nvPr/>
        </p:nvPicPr>
        <p:blipFill rotWithShape="1">
          <a:blip r:embed="rId3">
            <a:alphaModFix/>
          </a:blip>
          <a:srcRect b="0" l="0" r="0" t="0"/>
          <a:stretch/>
        </p:blipFill>
        <p:spPr>
          <a:xfrm>
            <a:off x="679750" y="3146829"/>
            <a:ext cx="7006419" cy="2360400"/>
          </a:xfrm>
          <a:prstGeom prst="rect">
            <a:avLst/>
          </a:prstGeom>
          <a:noFill/>
          <a:ln>
            <a:noFill/>
          </a:ln>
        </p:spPr>
      </p:pic>
      <p:sp>
        <p:nvSpPr>
          <p:cNvPr id="224" name="Google Shape;224;p29"/>
          <p:cNvSpPr txBox="1"/>
          <p:nvPr/>
        </p:nvSpPr>
        <p:spPr>
          <a:xfrm>
            <a:off x="641100" y="5727875"/>
            <a:ext cx="45759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sng" cap="none" strike="noStrike">
                <a:solidFill>
                  <a:schemeClr val="hlink"/>
                </a:solidFill>
                <a:latin typeface="Arial"/>
                <a:ea typeface="Arial"/>
                <a:cs typeface="Arial"/>
                <a:sym typeface="Arial"/>
                <a:hlinkClick r:id="rId4"/>
              </a:rPr>
              <a:t>HTTP Headers for Dummies</a:t>
            </a:r>
            <a:r>
              <a:rPr b="0" i="0" lang="en-US" sz="2400" u="none" cap="none" strike="noStrike">
                <a:solidFill>
                  <a:srgbClr val="000000"/>
                </a:solidFill>
                <a:latin typeface="Arial"/>
                <a:ea typeface="Arial"/>
                <a:cs typeface="Arial"/>
                <a:sym typeface="Arial"/>
              </a:rPr>
              <a:t>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US"/>
              <a:t>HTTP Communication </a:t>
            </a:r>
            <a:endParaRPr/>
          </a:p>
        </p:txBody>
      </p:sp>
      <p:sp>
        <p:nvSpPr>
          <p:cNvPr id="230" name="Google Shape;230;p30"/>
          <p:cNvSpPr txBox="1"/>
          <p:nvPr>
            <p:ph idx="1" type="body"/>
          </p:nvPr>
        </p:nvSpPr>
        <p:spPr>
          <a:xfrm>
            <a:off x="54050" y="1455025"/>
            <a:ext cx="9001200" cy="4555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lang="en-US"/>
              <a:t>HTTP Server obtains Rotten Potatoes app and sends this content back to Client</a:t>
            </a:r>
            <a:endParaRPr/>
          </a:p>
          <a:p>
            <a:pPr indent="-342900" lvl="1" marL="914400" rtl="0" algn="l">
              <a:lnSpc>
                <a:spcPct val="115000"/>
              </a:lnSpc>
              <a:spcBef>
                <a:spcPts val="0"/>
              </a:spcBef>
              <a:spcAft>
                <a:spcPts val="0"/>
              </a:spcAft>
              <a:buSzPts val="1800"/>
              <a:buAutoNum type="alphaLcPeriod"/>
            </a:pPr>
            <a:r>
              <a:rPr lang="en-US" sz="1800"/>
              <a:t>Server returns content encoded in HTML using HTTP</a:t>
            </a:r>
            <a:endParaRPr sz="1800"/>
          </a:p>
          <a:p>
            <a:pPr indent="-342900" lvl="1" marL="914400" rtl="0" algn="l">
              <a:lnSpc>
                <a:spcPct val="115000"/>
              </a:lnSpc>
              <a:spcBef>
                <a:spcPts val="0"/>
              </a:spcBef>
              <a:spcAft>
                <a:spcPts val="0"/>
              </a:spcAft>
              <a:buSzPts val="1800"/>
              <a:buAutoNum type="alphaLcPeriod"/>
            </a:pPr>
            <a:r>
              <a:rPr lang="en-US" sz="1800"/>
              <a:t>Client receives the content as a HTTP reply</a:t>
            </a:r>
            <a:endParaRPr sz="1800"/>
          </a:p>
          <a:p>
            <a:pPr indent="-342900" lvl="0" marL="457200" rtl="0" algn="l">
              <a:lnSpc>
                <a:spcPct val="115000"/>
              </a:lnSpc>
              <a:spcBef>
                <a:spcPts val="0"/>
              </a:spcBef>
              <a:spcAft>
                <a:spcPts val="0"/>
              </a:spcAft>
              <a:buSzPts val="1800"/>
              <a:buAutoNum type="arabicPeriod"/>
            </a:pPr>
            <a:r>
              <a:rPr lang="en-US"/>
              <a:t>Web Client displays content according to directives </a:t>
            </a:r>
            <a:endParaRPr/>
          </a:p>
          <a:p>
            <a:pPr indent="-342900" lvl="0" marL="457200" rtl="0" algn="l">
              <a:lnSpc>
                <a:spcPct val="115000"/>
              </a:lnSpc>
              <a:spcBef>
                <a:spcPts val="0"/>
              </a:spcBef>
              <a:spcAft>
                <a:spcPts val="0"/>
              </a:spcAft>
              <a:buSzPts val="1800"/>
              <a:buAutoNum type="arabicPeriod"/>
            </a:pPr>
            <a:r>
              <a:rPr lang="en-US"/>
              <a:t>Web Client closes its HTTP connection</a:t>
            </a:r>
            <a:endParaRPr/>
          </a:p>
          <a:p>
            <a:pPr indent="-342900" lvl="0" marL="457200" rtl="0" algn="l">
              <a:lnSpc>
                <a:spcPct val="115000"/>
              </a:lnSpc>
              <a:spcBef>
                <a:spcPts val="0"/>
              </a:spcBef>
              <a:spcAft>
                <a:spcPts val="0"/>
              </a:spcAft>
              <a:buSzPts val="1800"/>
              <a:buAutoNum type="arabicPeriod"/>
            </a:pPr>
            <a:r>
              <a:rPr lang="en-US"/>
              <a:t>Web Server is still listening for clients.</a:t>
            </a:r>
            <a:endParaRPr/>
          </a:p>
        </p:txBody>
      </p:sp>
      <p:pic>
        <p:nvPicPr>
          <p:cNvPr id="231" name="Google Shape;231;p30"/>
          <p:cNvPicPr preferRelativeResize="0"/>
          <p:nvPr/>
        </p:nvPicPr>
        <p:blipFill rotWithShape="1">
          <a:blip r:embed="rId3">
            <a:alphaModFix/>
          </a:blip>
          <a:srcRect b="0" l="0" r="0" t="0"/>
          <a:stretch/>
        </p:blipFill>
        <p:spPr>
          <a:xfrm>
            <a:off x="471181" y="3732380"/>
            <a:ext cx="6990475" cy="2651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31"/>
          <p:cNvPicPr preferRelativeResize="0"/>
          <p:nvPr/>
        </p:nvPicPr>
        <p:blipFill>
          <a:blip r:embed="rId3">
            <a:alphaModFix/>
          </a:blip>
          <a:stretch>
            <a:fillRect/>
          </a:stretch>
        </p:blipFill>
        <p:spPr>
          <a:xfrm>
            <a:off x="208700" y="2734125"/>
            <a:ext cx="8384215" cy="3749976"/>
          </a:xfrm>
          <a:prstGeom prst="rect">
            <a:avLst/>
          </a:prstGeom>
          <a:noFill/>
          <a:ln>
            <a:noFill/>
          </a:ln>
        </p:spPr>
      </p:pic>
      <p:sp>
        <p:nvSpPr>
          <p:cNvPr id="238" name="Google Shape;238;p31"/>
          <p:cNvSpPr txBox="1"/>
          <p:nvPr>
            <p:ph type="title"/>
          </p:nvPr>
        </p:nvSpPr>
        <p:spPr>
          <a:xfrm>
            <a:off x="304800" y="0"/>
            <a:ext cx="7924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800"/>
              <a:buNone/>
            </a:pPr>
            <a:r>
              <a:rPr lang="en-US"/>
              <a:t>Demo HTTP Request Using Curl</a:t>
            </a:r>
            <a:endParaRPr/>
          </a:p>
        </p:txBody>
      </p:sp>
      <p:sp>
        <p:nvSpPr>
          <p:cNvPr id="239" name="Google Shape;239;p31"/>
          <p:cNvSpPr txBox="1"/>
          <p:nvPr>
            <p:ph idx="1" type="body"/>
          </p:nvPr>
        </p:nvSpPr>
        <p:spPr>
          <a:xfrm>
            <a:off x="304800" y="1035525"/>
            <a:ext cx="8556300" cy="1698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360"/>
              </a:spcBef>
              <a:spcAft>
                <a:spcPts val="0"/>
              </a:spcAft>
              <a:buSzPts val="1800"/>
              <a:buNone/>
            </a:pPr>
            <a:r>
              <a:rPr lang="en-US" sz="1600"/>
              <a:t>curl (</a:t>
            </a:r>
            <a:r>
              <a:rPr lang="en-US" sz="1600" u="sng">
                <a:solidFill>
                  <a:schemeClr val="hlink"/>
                </a:solidFill>
                <a:hlinkClick r:id="rId4"/>
              </a:rPr>
              <a:t>Client URI</a:t>
            </a:r>
            <a:r>
              <a:rPr lang="en-US" sz="1600"/>
              <a:t>) is a command line tool that enables transferring of data to and from servers. Acts as HTTP client to send requests to a server and stores whatever comes back from the server. </a:t>
            </a:r>
            <a:endParaRPr sz="1600"/>
          </a:p>
          <a:p>
            <a:pPr indent="0" lvl="0" marL="0" rtl="0" algn="l">
              <a:lnSpc>
                <a:spcPct val="115000"/>
              </a:lnSpc>
              <a:spcBef>
                <a:spcPts val="360"/>
              </a:spcBef>
              <a:spcAft>
                <a:spcPts val="0"/>
              </a:spcAft>
              <a:buSzPts val="1800"/>
              <a:buNone/>
            </a:pPr>
            <a:r>
              <a:rPr lang="en-US" sz="1600"/>
              <a:t>Run command: </a:t>
            </a:r>
            <a:r>
              <a:rPr b="1" lang="en-US" sz="1600"/>
              <a:t>curl </a:t>
            </a:r>
            <a:r>
              <a:rPr b="1" lang="en-US" sz="1600" u="sng">
                <a:solidFill>
                  <a:schemeClr val="hlink"/>
                </a:solidFill>
                <a:hlinkClick r:id="rId5"/>
              </a:rPr>
              <a:t>https://simplewordcloud.com/</a:t>
            </a:r>
            <a:r>
              <a:rPr b="1" lang="en-US" sz="1600"/>
              <a:t> </a:t>
            </a:r>
            <a:endParaRPr b="1" sz="1600"/>
          </a:p>
          <a:p>
            <a:pPr indent="0" lvl="0" marL="0" rtl="0" algn="l">
              <a:lnSpc>
                <a:spcPct val="115000"/>
              </a:lnSpc>
              <a:spcBef>
                <a:spcPts val="360"/>
              </a:spcBef>
              <a:spcAft>
                <a:spcPts val="0"/>
              </a:spcAft>
              <a:buSzPts val="1800"/>
              <a:buNone/>
            </a:pPr>
            <a:r>
              <a:rPr lang="en-US" sz="1600"/>
              <a:t>Returns the html file </a:t>
            </a:r>
            <a:endParaRPr sz="1600"/>
          </a:p>
          <a:p>
            <a:pPr indent="0" lvl="0" marL="0" rtl="0" algn="l">
              <a:lnSpc>
                <a:spcPct val="115000"/>
              </a:lnSpc>
              <a:spcBef>
                <a:spcPts val="360"/>
              </a:spcBef>
              <a:spcAft>
                <a:spcPts val="0"/>
              </a:spcAft>
              <a:buSzPts val="1800"/>
              <a:buNone/>
            </a:pPr>
            <a:r>
              <a:t/>
            </a:r>
            <a:endParaRPr sz="1600"/>
          </a:p>
          <a:p>
            <a:pPr indent="0" lvl="0" marL="0" rtl="0" algn="l">
              <a:lnSpc>
                <a:spcPct val="115000"/>
              </a:lnSpc>
              <a:spcBef>
                <a:spcPts val="360"/>
              </a:spcBef>
              <a:spcAft>
                <a:spcPts val="0"/>
              </a:spcAft>
              <a:buClr>
                <a:schemeClr val="dk1"/>
              </a:buClr>
              <a:buSzPts val="1100"/>
              <a:buFont typeface="Arial"/>
              <a:buNone/>
            </a:pPr>
            <a:r>
              <a:t/>
            </a:r>
            <a:endParaRPr sz="1600"/>
          </a:p>
        </p:txBody>
      </p:sp>
      <p:pic>
        <p:nvPicPr>
          <p:cNvPr id="240" name="Google Shape;240;p31"/>
          <p:cNvPicPr preferRelativeResize="0"/>
          <p:nvPr/>
        </p:nvPicPr>
        <p:blipFill>
          <a:blip r:embed="rId6">
            <a:alphaModFix/>
          </a:blip>
          <a:stretch>
            <a:fillRect/>
          </a:stretch>
        </p:blipFill>
        <p:spPr>
          <a:xfrm>
            <a:off x="4193225" y="3300975"/>
            <a:ext cx="4779546" cy="32765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2"/>
          <p:cNvSpPr txBox="1"/>
          <p:nvPr>
            <p:ph type="title"/>
          </p:nvPr>
        </p:nvSpPr>
        <p:spPr>
          <a:xfrm>
            <a:off x="304800" y="0"/>
            <a:ext cx="7924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800"/>
              <a:buNone/>
            </a:pPr>
            <a:r>
              <a:rPr lang="en-US"/>
              <a:t>Demo HTTP Request Using Curl -i</a:t>
            </a:r>
            <a:endParaRPr/>
          </a:p>
        </p:txBody>
      </p:sp>
      <p:sp>
        <p:nvSpPr>
          <p:cNvPr id="247" name="Google Shape;247;p32"/>
          <p:cNvSpPr txBox="1"/>
          <p:nvPr>
            <p:ph idx="1" type="body"/>
          </p:nvPr>
        </p:nvSpPr>
        <p:spPr>
          <a:xfrm>
            <a:off x="304800" y="1035525"/>
            <a:ext cx="8534400" cy="5090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360"/>
              </a:spcBef>
              <a:spcAft>
                <a:spcPts val="0"/>
              </a:spcAft>
              <a:buSzPts val="1800"/>
              <a:buNone/>
            </a:pPr>
            <a:r>
              <a:rPr lang="en-US" u="sng">
                <a:solidFill>
                  <a:schemeClr val="hlink"/>
                </a:solidFill>
                <a:hlinkClick r:id="rId3"/>
              </a:rPr>
              <a:t>curl -I option</a:t>
            </a:r>
            <a:r>
              <a:rPr lang="en-US"/>
              <a:t> will return the headers sent back from the server</a:t>
            </a:r>
            <a:endParaRPr/>
          </a:p>
          <a:p>
            <a:pPr indent="0" lvl="0" marL="0" rtl="0" algn="l">
              <a:lnSpc>
                <a:spcPct val="115000"/>
              </a:lnSpc>
              <a:spcBef>
                <a:spcPts val="360"/>
              </a:spcBef>
              <a:spcAft>
                <a:spcPts val="0"/>
              </a:spcAft>
              <a:buSzPts val="1800"/>
              <a:buNone/>
            </a:pPr>
            <a:r>
              <a:t/>
            </a:r>
            <a:endParaRPr/>
          </a:p>
          <a:p>
            <a:pPr indent="0" lvl="0" marL="0" rtl="0" algn="l">
              <a:lnSpc>
                <a:spcPct val="115000"/>
              </a:lnSpc>
              <a:spcBef>
                <a:spcPts val="360"/>
              </a:spcBef>
              <a:spcAft>
                <a:spcPts val="0"/>
              </a:spcAft>
              <a:buSzPts val="1800"/>
              <a:buNone/>
            </a:pPr>
            <a:r>
              <a:t/>
            </a:r>
            <a:endParaRPr/>
          </a:p>
        </p:txBody>
      </p:sp>
      <p:sp>
        <p:nvSpPr>
          <p:cNvPr id="248" name="Google Shape;248;p32"/>
          <p:cNvSpPr txBox="1"/>
          <p:nvPr/>
        </p:nvSpPr>
        <p:spPr>
          <a:xfrm>
            <a:off x="225750" y="1499800"/>
            <a:ext cx="8797800" cy="4863900"/>
          </a:xfrm>
          <a:prstGeom prst="rect">
            <a:avLst/>
          </a:prstGeom>
          <a:solidFill>
            <a:schemeClr val="dk1"/>
          </a:solidFill>
          <a:ln cap="flat" cmpd="sng" w="9525">
            <a:solidFill>
              <a:srgbClr val="C9DAF8"/>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latin typeface="Arial"/>
                <a:ea typeface="Arial"/>
                <a:cs typeface="Arial"/>
                <a:sym typeface="Arial"/>
              </a:rPr>
              <a:t>deb@LAPTOP-5974SGTP:~$ </a:t>
            </a:r>
            <a:r>
              <a:rPr b="1" i="0" lang="en-US" sz="1600" u="none" cap="none" strike="noStrike">
                <a:solidFill>
                  <a:srgbClr val="000000"/>
                </a:solidFill>
                <a:latin typeface="Arial"/>
                <a:ea typeface="Arial"/>
                <a:cs typeface="Arial"/>
                <a:sym typeface="Arial"/>
              </a:rPr>
              <a:t>curl -i http://watchout4snakes.com/Random/RandomWord</a:t>
            </a:r>
            <a:endParaRPr b="1"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highlight>
                  <a:srgbClr val="D9D2E9"/>
                </a:highlight>
                <a:latin typeface="Arial"/>
                <a:ea typeface="Arial"/>
                <a:cs typeface="Arial"/>
                <a:sym typeface="Arial"/>
              </a:rPr>
              <a:t>HTTP/1.1 200 OK</a:t>
            </a:r>
            <a:endParaRPr b="0" i="0" sz="16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highlight>
                  <a:srgbClr val="D9D2E9"/>
                </a:highlight>
                <a:latin typeface="Arial"/>
                <a:ea typeface="Arial"/>
                <a:cs typeface="Arial"/>
                <a:sym typeface="Arial"/>
              </a:rPr>
              <a:t>Cache-Control: private, max-age=20</a:t>
            </a:r>
            <a:endParaRPr b="0" i="0" sz="16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highlight>
                  <a:srgbClr val="D9D2E9"/>
                </a:highlight>
                <a:latin typeface="Arial"/>
                <a:ea typeface="Arial"/>
                <a:cs typeface="Arial"/>
                <a:sym typeface="Arial"/>
              </a:rPr>
              <a:t>Content-Type: text/html; charset=utf-8</a:t>
            </a:r>
            <a:endParaRPr b="0" i="0" sz="16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highlight>
                  <a:srgbClr val="D9D2E9"/>
                </a:highlight>
                <a:latin typeface="Arial"/>
                <a:ea typeface="Arial"/>
                <a:cs typeface="Arial"/>
                <a:sym typeface="Arial"/>
              </a:rPr>
              <a:t>Expires: Fri, 06 Jan 2023 22:55:55 GMT</a:t>
            </a:r>
            <a:endParaRPr b="0" i="0" sz="16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highlight>
                  <a:srgbClr val="D9D2E9"/>
                </a:highlight>
                <a:latin typeface="Arial"/>
                <a:ea typeface="Arial"/>
                <a:cs typeface="Arial"/>
                <a:sym typeface="Arial"/>
              </a:rPr>
              <a:t>Last-Modified: Fri, 06 Jan 2023 22:55:35 GMT</a:t>
            </a:r>
            <a:endParaRPr b="0" i="0" sz="16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highlight>
                  <a:srgbClr val="D9D2E9"/>
                </a:highlight>
                <a:latin typeface="Arial"/>
                <a:ea typeface="Arial"/>
                <a:cs typeface="Arial"/>
                <a:sym typeface="Arial"/>
              </a:rPr>
              <a:t>Server: Microsoft-IIS/10.0</a:t>
            </a:r>
            <a:endParaRPr b="0" i="0" sz="16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highlight>
                  <a:srgbClr val="D9D2E9"/>
                </a:highlight>
                <a:latin typeface="Arial"/>
                <a:ea typeface="Arial"/>
                <a:cs typeface="Arial"/>
                <a:sym typeface="Arial"/>
              </a:rPr>
              <a:t>X-AspNetMvc-Version: 3.0</a:t>
            </a:r>
            <a:endParaRPr b="0" i="0" sz="16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highlight>
                  <a:srgbClr val="D9D2E9"/>
                </a:highlight>
                <a:latin typeface="Arial"/>
                <a:ea typeface="Arial"/>
                <a:cs typeface="Arial"/>
                <a:sym typeface="Arial"/>
              </a:rPr>
              <a:t>X-AspNet-Version: 4.0.30319</a:t>
            </a:r>
            <a:endParaRPr b="0" i="0" sz="16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highlight>
                  <a:srgbClr val="D9D2E9"/>
                </a:highlight>
                <a:latin typeface="Arial"/>
                <a:ea typeface="Arial"/>
                <a:cs typeface="Arial"/>
                <a:sym typeface="Arial"/>
              </a:rPr>
              <a:t>X-Powered-By: ASP.NET</a:t>
            </a:r>
            <a:endParaRPr b="0" i="0" sz="16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highlight>
                  <a:srgbClr val="D9D2E9"/>
                </a:highlight>
                <a:latin typeface="Arial"/>
                <a:ea typeface="Arial"/>
                <a:cs typeface="Arial"/>
                <a:sym typeface="Arial"/>
              </a:rPr>
              <a:t>X-Powered-By-Plesk: PleskWin</a:t>
            </a:r>
            <a:endParaRPr b="0" i="0" sz="16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highlight>
                  <a:srgbClr val="D9D2E9"/>
                </a:highlight>
                <a:latin typeface="Arial"/>
                <a:ea typeface="Arial"/>
                <a:cs typeface="Arial"/>
                <a:sym typeface="Arial"/>
              </a:rPr>
              <a:t>Date: Fri, 06 Jan 2023 22:55:35 GMT</a:t>
            </a:r>
            <a:endParaRPr b="0" i="0" sz="16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highlight>
                  <a:srgbClr val="D9D2E9"/>
                </a:highlight>
                <a:latin typeface="Arial"/>
                <a:ea typeface="Arial"/>
                <a:cs typeface="Arial"/>
                <a:sym typeface="Arial"/>
              </a:rPr>
              <a:t>Content-Length: 4080</a:t>
            </a:r>
            <a:endParaRPr b="0" i="0" sz="16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latin typeface="Arial"/>
                <a:ea typeface="Arial"/>
                <a:cs typeface="Arial"/>
                <a:sym typeface="Arial"/>
              </a:rPr>
              <a:t>&lt;!DOCTYPE html&gt;</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latin typeface="Arial"/>
                <a:ea typeface="Arial"/>
                <a:cs typeface="Arial"/>
                <a:sym typeface="Arial"/>
              </a:rPr>
              <a:t>&lt;html&gt;</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latin typeface="Arial"/>
                <a:ea typeface="Arial"/>
                <a:cs typeface="Arial"/>
                <a:sym typeface="Arial"/>
              </a:rPr>
              <a:t>&lt;head&gt;</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00"/>
                </a:solidFill>
                <a:latin typeface="Arial"/>
                <a:ea typeface="Arial"/>
                <a:cs typeface="Arial"/>
                <a:sym typeface="Arial"/>
              </a:rPr>
              <a:t>    &lt;title&gt;Random Word Generator - Word&lt;/title&gt;</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3"/>
          <p:cNvSpPr txBox="1"/>
          <p:nvPr>
            <p:ph type="title"/>
          </p:nvPr>
        </p:nvSpPr>
        <p:spPr>
          <a:xfrm>
            <a:off x="1219200" y="0"/>
            <a:ext cx="7924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n-US"/>
              <a:t>Demo HTTP Request Using Curl -v</a:t>
            </a:r>
            <a:endParaRPr/>
          </a:p>
        </p:txBody>
      </p:sp>
      <p:sp>
        <p:nvSpPr>
          <p:cNvPr id="255" name="Google Shape;255;p33"/>
          <p:cNvSpPr txBox="1"/>
          <p:nvPr>
            <p:ph idx="1" type="body"/>
          </p:nvPr>
        </p:nvSpPr>
        <p:spPr>
          <a:xfrm>
            <a:off x="304800" y="920600"/>
            <a:ext cx="8534400" cy="561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360"/>
              </a:spcBef>
              <a:spcAft>
                <a:spcPts val="0"/>
              </a:spcAft>
              <a:buClr>
                <a:schemeClr val="dk1"/>
              </a:buClr>
              <a:buSzPts val="1100"/>
              <a:buFont typeface="Arial"/>
              <a:buNone/>
            </a:pPr>
            <a:r>
              <a:rPr lang="en-US"/>
              <a:t>curl using -v option will return both the client headers and server headers</a:t>
            </a:r>
            <a:endParaRPr/>
          </a:p>
        </p:txBody>
      </p:sp>
      <p:sp>
        <p:nvSpPr>
          <p:cNvPr id="256" name="Google Shape;256;p33"/>
          <p:cNvSpPr txBox="1"/>
          <p:nvPr/>
        </p:nvSpPr>
        <p:spPr>
          <a:xfrm>
            <a:off x="438050" y="1269350"/>
            <a:ext cx="8534400" cy="52641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latin typeface="Arial"/>
                <a:ea typeface="Arial"/>
                <a:cs typeface="Arial"/>
                <a:sym typeface="Arial"/>
              </a:rPr>
              <a:t>deb@LAPTOP-5974SGTP:~$ </a:t>
            </a:r>
            <a:r>
              <a:rPr b="1" i="0" lang="en-US" sz="1500" u="none" cap="none" strike="noStrike">
                <a:solidFill>
                  <a:srgbClr val="000000"/>
                </a:solidFill>
                <a:latin typeface="Arial"/>
                <a:ea typeface="Arial"/>
                <a:cs typeface="Arial"/>
                <a:sym typeface="Arial"/>
              </a:rPr>
              <a:t>curl -v http://watchout4snakes.com/Random/RandomWord</a:t>
            </a:r>
            <a:endParaRPr b="1"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latin typeface="Arial"/>
                <a:ea typeface="Arial"/>
                <a:cs typeface="Arial"/>
                <a:sym typeface="Arial"/>
              </a:rPr>
              <a:t>*   Trying 50.62.160.127:80...</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latin typeface="Arial"/>
                <a:ea typeface="Arial"/>
                <a:cs typeface="Arial"/>
                <a:sym typeface="Arial"/>
              </a:rPr>
              <a:t>* Connected to watchout4snakes.com (50.62.160.127) port 80 (#0)</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D9D2E9"/>
                </a:highlight>
                <a:latin typeface="Arial"/>
                <a:ea typeface="Arial"/>
                <a:cs typeface="Arial"/>
                <a:sym typeface="Arial"/>
              </a:rPr>
              <a:t>&gt; GET /Random/RandomWord HTTP/1.1</a:t>
            </a:r>
            <a:endParaRPr b="0" i="0" sz="15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D9D2E9"/>
                </a:highlight>
                <a:latin typeface="Arial"/>
                <a:ea typeface="Arial"/>
                <a:cs typeface="Arial"/>
                <a:sym typeface="Arial"/>
              </a:rPr>
              <a:t>&gt; Host: watchout4snakes.com</a:t>
            </a:r>
            <a:endParaRPr b="0" i="0" sz="15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D9D2E9"/>
                </a:highlight>
                <a:latin typeface="Arial"/>
                <a:ea typeface="Arial"/>
                <a:cs typeface="Arial"/>
                <a:sym typeface="Arial"/>
              </a:rPr>
              <a:t>&gt; User-Agent: curl/7.81.0</a:t>
            </a:r>
            <a:endParaRPr b="0" i="0" sz="15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D9D2E9"/>
                </a:highlight>
                <a:latin typeface="Arial"/>
                <a:ea typeface="Arial"/>
                <a:cs typeface="Arial"/>
                <a:sym typeface="Arial"/>
              </a:rPr>
              <a:t>&gt; Accept: */*</a:t>
            </a:r>
            <a:endParaRPr b="0" i="0" sz="15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D9D2E9"/>
                </a:highlight>
                <a:latin typeface="Arial"/>
                <a:ea typeface="Arial"/>
                <a:cs typeface="Arial"/>
                <a:sym typeface="Arial"/>
              </a:rPr>
              <a:t>&gt;</a:t>
            </a:r>
            <a:endParaRPr b="0" i="0" sz="1500" u="none" cap="none" strike="noStrike">
              <a:solidFill>
                <a:srgbClr val="000000"/>
              </a:solidFill>
              <a:highlight>
                <a:srgbClr val="D9D2E9"/>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latin typeface="Arial"/>
                <a:ea typeface="Arial"/>
                <a:cs typeface="Arial"/>
                <a:sym typeface="Arial"/>
              </a:rPr>
              <a:t>* Mark bundle as not supporting multiuse</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FFF2CC"/>
                </a:highlight>
                <a:latin typeface="Arial"/>
                <a:ea typeface="Arial"/>
                <a:cs typeface="Arial"/>
                <a:sym typeface="Arial"/>
              </a:rPr>
              <a:t>&lt; HTTP/1.1 200 OK</a:t>
            </a:r>
            <a:endParaRPr b="0" i="0" sz="1500" u="none" cap="none" strike="noStrike">
              <a:solidFill>
                <a:srgbClr val="000000"/>
              </a:solidFill>
              <a:highlight>
                <a:srgbClr val="FFF2CC"/>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FFF2CC"/>
                </a:highlight>
                <a:latin typeface="Arial"/>
                <a:ea typeface="Arial"/>
                <a:cs typeface="Arial"/>
                <a:sym typeface="Arial"/>
              </a:rPr>
              <a:t>&lt; Cache-Control: private, max-age=20</a:t>
            </a:r>
            <a:endParaRPr b="0" i="0" sz="1500" u="none" cap="none" strike="noStrike">
              <a:solidFill>
                <a:srgbClr val="000000"/>
              </a:solidFill>
              <a:highlight>
                <a:srgbClr val="FFF2CC"/>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FFF2CC"/>
                </a:highlight>
                <a:latin typeface="Arial"/>
                <a:ea typeface="Arial"/>
                <a:cs typeface="Arial"/>
                <a:sym typeface="Arial"/>
              </a:rPr>
              <a:t>&lt; Content-Type: text/html; charset=utf-8</a:t>
            </a:r>
            <a:endParaRPr b="0" i="0" sz="1500" u="none" cap="none" strike="noStrike">
              <a:solidFill>
                <a:srgbClr val="000000"/>
              </a:solidFill>
              <a:highlight>
                <a:srgbClr val="FFF2CC"/>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FFF2CC"/>
                </a:highlight>
                <a:latin typeface="Arial"/>
                <a:ea typeface="Arial"/>
                <a:cs typeface="Arial"/>
                <a:sym typeface="Arial"/>
              </a:rPr>
              <a:t>&lt; Expires: Fri, 06 Jan 2023 23:10:16 GMT</a:t>
            </a:r>
            <a:endParaRPr b="0" i="0" sz="1500" u="none" cap="none" strike="noStrike">
              <a:solidFill>
                <a:srgbClr val="000000"/>
              </a:solidFill>
              <a:highlight>
                <a:srgbClr val="FFF2CC"/>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FFF2CC"/>
                </a:highlight>
                <a:latin typeface="Arial"/>
                <a:ea typeface="Arial"/>
                <a:cs typeface="Arial"/>
                <a:sym typeface="Arial"/>
              </a:rPr>
              <a:t>&lt; Last-Modified: Fri, 06 Jan 2023 23:09:56 GMT</a:t>
            </a:r>
            <a:endParaRPr b="0" i="0" sz="1500" u="none" cap="none" strike="noStrike">
              <a:solidFill>
                <a:srgbClr val="000000"/>
              </a:solidFill>
              <a:highlight>
                <a:srgbClr val="FFF2CC"/>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FFF2CC"/>
                </a:highlight>
                <a:latin typeface="Arial"/>
                <a:ea typeface="Arial"/>
                <a:cs typeface="Arial"/>
                <a:sym typeface="Arial"/>
              </a:rPr>
              <a:t>&lt; Server: Microsoft-IIS/10.0</a:t>
            </a:r>
            <a:endParaRPr b="0" i="0" sz="1500" u="none" cap="none" strike="noStrike">
              <a:solidFill>
                <a:srgbClr val="000000"/>
              </a:solidFill>
              <a:highlight>
                <a:srgbClr val="FFF2CC"/>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FFF2CC"/>
                </a:highlight>
                <a:latin typeface="Arial"/>
                <a:ea typeface="Arial"/>
                <a:cs typeface="Arial"/>
                <a:sym typeface="Arial"/>
              </a:rPr>
              <a:t>&lt; X-AspNetMvc-Version: 3.0</a:t>
            </a:r>
            <a:endParaRPr b="0" i="0" sz="1500" u="none" cap="none" strike="noStrike">
              <a:solidFill>
                <a:srgbClr val="000000"/>
              </a:solidFill>
              <a:highlight>
                <a:srgbClr val="FFF2CC"/>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FFF2CC"/>
                </a:highlight>
                <a:latin typeface="Arial"/>
                <a:ea typeface="Arial"/>
                <a:cs typeface="Arial"/>
                <a:sym typeface="Arial"/>
              </a:rPr>
              <a:t>&lt; X-AspNet-Version: 4.0.30319</a:t>
            </a:r>
            <a:endParaRPr b="0" i="0" sz="1500" u="none" cap="none" strike="noStrike">
              <a:solidFill>
                <a:srgbClr val="000000"/>
              </a:solidFill>
              <a:highlight>
                <a:srgbClr val="FFF2CC"/>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FFF2CC"/>
                </a:highlight>
                <a:latin typeface="Arial"/>
                <a:ea typeface="Arial"/>
                <a:cs typeface="Arial"/>
                <a:sym typeface="Arial"/>
              </a:rPr>
              <a:t>&lt; X-Powered-By: ASP.NET</a:t>
            </a:r>
            <a:endParaRPr b="0" i="0" sz="1500" u="none" cap="none" strike="noStrike">
              <a:solidFill>
                <a:srgbClr val="000000"/>
              </a:solidFill>
              <a:highlight>
                <a:srgbClr val="FFF2CC"/>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FFF2CC"/>
                </a:highlight>
                <a:latin typeface="Arial"/>
                <a:ea typeface="Arial"/>
                <a:cs typeface="Arial"/>
                <a:sym typeface="Arial"/>
              </a:rPr>
              <a:t>&lt; X-Powered-By-Plesk: PleskWin</a:t>
            </a:r>
            <a:endParaRPr b="0" i="0" sz="1500" u="none" cap="none" strike="noStrike">
              <a:solidFill>
                <a:srgbClr val="000000"/>
              </a:solidFill>
              <a:highlight>
                <a:srgbClr val="FFF2CC"/>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FFF2CC"/>
                </a:highlight>
                <a:latin typeface="Arial"/>
                <a:ea typeface="Arial"/>
                <a:cs typeface="Arial"/>
                <a:sym typeface="Arial"/>
              </a:rPr>
              <a:t>&lt; Date: Fri, 06 Jan 2023 23:09:55 GMT</a:t>
            </a:r>
            <a:endParaRPr b="0" i="0" sz="1500" u="none" cap="none" strike="noStrike">
              <a:solidFill>
                <a:srgbClr val="000000"/>
              </a:solidFill>
              <a:highlight>
                <a:srgbClr val="FFF2CC"/>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500" u="none" cap="none" strike="noStrike">
                <a:solidFill>
                  <a:srgbClr val="000000"/>
                </a:solidFill>
                <a:highlight>
                  <a:srgbClr val="FFF2CC"/>
                </a:highlight>
                <a:latin typeface="Arial"/>
                <a:ea typeface="Arial"/>
                <a:cs typeface="Arial"/>
                <a:sym typeface="Arial"/>
              </a:rPr>
              <a:t>&lt; Content-Length: 4080</a:t>
            </a:r>
            <a:endParaRPr b="0" i="0" sz="1500" u="none" cap="none" strike="noStrike">
              <a:solidFill>
                <a:srgbClr val="000000"/>
              </a:solidFill>
              <a:highlight>
                <a:srgbClr val="FFF2CC"/>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57" name="Google Shape;257;p33"/>
          <p:cNvSpPr/>
          <p:nvPr/>
        </p:nvSpPr>
        <p:spPr>
          <a:xfrm>
            <a:off x="4057475" y="2112688"/>
            <a:ext cx="4692300" cy="1354800"/>
          </a:xfrm>
          <a:prstGeom prst="leftArrowCallout">
            <a:avLst>
              <a:gd fmla="val 25000" name="adj1"/>
              <a:gd fmla="val 25000" name="adj2"/>
              <a:gd fmla="val 17674" name="adj3"/>
              <a:gd fmla="val 90991" name="adj4"/>
            </a:avLst>
          </a:prstGeom>
          <a:solidFill>
            <a:srgbClr val="D9D2E9"/>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client request headers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route - GET URI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user agent - identifies type of client so can be used to determine  browser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accept any type of data</a:t>
            </a:r>
            <a:endParaRPr b="0" i="0" sz="1400" u="none" cap="none" strike="noStrike">
              <a:solidFill>
                <a:srgbClr val="000000"/>
              </a:solidFill>
              <a:latin typeface="Arial"/>
              <a:ea typeface="Arial"/>
              <a:cs typeface="Arial"/>
              <a:sym typeface="Arial"/>
            </a:endParaRPr>
          </a:p>
        </p:txBody>
      </p:sp>
      <p:sp>
        <p:nvSpPr>
          <p:cNvPr id="258" name="Google Shape;258;p33"/>
          <p:cNvSpPr/>
          <p:nvPr/>
        </p:nvSpPr>
        <p:spPr>
          <a:xfrm>
            <a:off x="4417500" y="4437175"/>
            <a:ext cx="4635900" cy="1734000"/>
          </a:xfrm>
          <a:prstGeom prst="leftArrowCallout">
            <a:avLst>
              <a:gd fmla="val 22441" name="adj1"/>
              <a:gd fmla="val 25000" name="adj2"/>
              <a:gd fmla="val 14291" name="adj3"/>
              <a:gd fmla="val 83930" name="adj4"/>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Server Reply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200 status code means everything ok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More descriptors followed by the resource that was requested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4"/>
          <p:cNvSpPr txBox="1"/>
          <p:nvPr>
            <p:ph type="title"/>
          </p:nvPr>
        </p:nvSpPr>
        <p:spPr>
          <a:xfrm>
            <a:off x="0" y="0"/>
            <a:ext cx="7924800" cy="901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D2D8A"/>
              </a:buClr>
              <a:buSzPts val="4400"/>
              <a:buFont typeface="Helvetica Neue"/>
              <a:buNone/>
            </a:pPr>
            <a:r>
              <a:rPr b="0" i="0" lang="en-US" sz="4400" u="none">
                <a:latin typeface="Helvetica Neue"/>
                <a:ea typeface="Helvetica Neue"/>
                <a:cs typeface="Helvetica Neue"/>
                <a:sym typeface="Helvetica Neue"/>
              </a:rPr>
              <a:t>Cookies</a:t>
            </a:r>
            <a:endParaRPr/>
          </a:p>
        </p:txBody>
      </p:sp>
      <p:sp>
        <p:nvSpPr>
          <p:cNvPr id="265" name="Google Shape;265;p34"/>
          <p:cNvSpPr txBox="1"/>
          <p:nvPr>
            <p:ph idx="1" type="body"/>
          </p:nvPr>
        </p:nvSpPr>
        <p:spPr>
          <a:xfrm>
            <a:off x="304800" y="901075"/>
            <a:ext cx="8534400" cy="5486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360"/>
              </a:spcBef>
              <a:spcAft>
                <a:spcPts val="0"/>
              </a:spcAft>
              <a:buSzPts val="1800"/>
              <a:buNone/>
            </a:pPr>
            <a:r>
              <a:rPr lang="en-US" sz="1900"/>
              <a:t>HTTP is a stateless protocol in that every request is independent of every other request, even from the same user. </a:t>
            </a:r>
            <a:endParaRPr sz="1900"/>
          </a:p>
          <a:p>
            <a:pPr indent="0" lvl="0" marL="0" rtl="0" algn="l">
              <a:lnSpc>
                <a:spcPct val="115000"/>
              </a:lnSpc>
              <a:spcBef>
                <a:spcPts val="360"/>
              </a:spcBef>
              <a:spcAft>
                <a:spcPts val="0"/>
              </a:spcAft>
              <a:buSzPts val="1800"/>
              <a:buNone/>
            </a:pPr>
            <a:r>
              <a:rPr lang="en-US" sz="1900"/>
              <a:t>HTTP cookies allow server to track client</a:t>
            </a:r>
            <a:endParaRPr sz="1900"/>
          </a:p>
          <a:p>
            <a:pPr indent="-292100" lvl="1" marL="742950" rtl="0" algn="l">
              <a:lnSpc>
                <a:spcPct val="115000"/>
              </a:lnSpc>
              <a:spcBef>
                <a:spcPts val="360"/>
              </a:spcBef>
              <a:spcAft>
                <a:spcPts val="0"/>
              </a:spcAft>
              <a:buSzPts val="1900"/>
              <a:buChar char="–"/>
            </a:pPr>
            <a:r>
              <a:rPr lang="en-US" sz="1900"/>
              <a:t>Browser automatically passes cookie to server on each request</a:t>
            </a:r>
            <a:endParaRPr sz="1900"/>
          </a:p>
          <a:p>
            <a:pPr indent="-292100" lvl="1" marL="742950" rtl="0" algn="l">
              <a:lnSpc>
                <a:spcPct val="115000"/>
              </a:lnSpc>
              <a:spcBef>
                <a:spcPts val="360"/>
              </a:spcBef>
              <a:spcAft>
                <a:spcPts val="0"/>
              </a:spcAft>
              <a:buSzPts val="1900"/>
              <a:buChar char="–"/>
            </a:pPr>
            <a:r>
              <a:rPr lang="en-US" sz="1900"/>
              <a:t>Server may change cookie on each response</a:t>
            </a:r>
            <a:endParaRPr sz="1900"/>
          </a:p>
          <a:p>
            <a:pPr indent="-292100" lvl="1" marL="742950" rtl="0" algn="l">
              <a:lnSpc>
                <a:spcPct val="115000"/>
              </a:lnSpc>
              <a:spcBef>
                <a:spcPts val="360"/>
              </a:spcBef>
              <a:spcAft>
                <a:spcPts val="0"/>
              </a:spcAft>
              <a:buSzPts val="1900"/>
              <a:buChar char="–"/>
            </a:pPr>
            <a:r>
              <a:rPr lang="en-US" sz="1900"/>
              <a:t>Typical usage: cookie includes a handle to server-side information </a:t>
            </a:r>
            <a:endParaRPr sz="1900"/>
          </a:p>
          <a:p>
            <a:pPr indent="-292100" lvl="1" marL="742950" rtl="0" algn="l">
              <a:lnSpc>
                <a:spcPct val="115000"/>
              </a:lnSpc>
              <a:spcBef>
                <a:spcPts val="360"/>
              </a:spcBef>
              <a:spcAft>
                <a:spcPts val="0"/>
              </a:spcAft>
              <a:buSzPts val="1900"/>
              <a:buChar char="–"/>
            </a:pPr>
            <a:r>
              <a:rPr lang="en-US" sz="1900"/>
              <a:t>That’s why some sites don’t work if cookies are completely disabled</a:t>
            </a:r>
            <a:endParaRPr sz="1900"/>
          </a:p>
          <a:p>
            <a:pPr indent="0" lvl="0" marL="0" rtl="0" algn="l">
              <a:lnSpc>
                <a:spcPct val="115000"/>
              </a:lnSpc>
              <a:spcBef>
                <a:spcPts val="360"/>
              </a:spcBef>
              <a:spcAft>
                <a:spcPts val="0"/>
              </a:spcAft>
              <a:buSzPts val="1800"/>
              <a:buNone/>
            </a:pPr>
            <a:r>
              <a:rPr lang="en-US" sz="1900" u="sng">
                <a:solidFill>
                  <a:schemeClr val="hlink"/>
                </a:solidFill>
                <a:hlinkClick r:id="rId3"/>
              </a:rPr>
              <a:t>HTTP Cookies 101: What is it &amp; How Does HTTP Cookies Work?</a:t>
            </a:r>
            <a:endParaRPr sz="1900"/>
          </a:p>
          <a:p>
            <a:pPr indent="0" lvl="0" marL="0" rtl="0" algn="l">
              <a:lnSpc>
                <a:spcPct val="115000"/>
              </a:lnSpc>
              <a:spcBef>
                <a:spcPts val="360"/>
              </a:spcBef>
              <a:spcAft>
                <a:spcPts val="0"/>
              </a:spcAft>
              <a:buSzPts val="1800"/>
              <a:buNone/>
            </a:pPr>
            <a:r>
              <a:rPr lang="en-US" sz="1900"/>
              <a:t> </a:t>
            </a:r>
            <a:endParaRPr sz="1900"/>
          </a:p>
          <a:p>
            <a:pPr indent="0" lvl="0" marL="0" rtl="0" algn="l">
              <a:lnSpc>
                <a:spcPct val="115000"/>
              </a:lnSpc>
              <a:spcBef>
                <a:spcPts val="360"/>
              </a:spcBef>
              <a:spcAft>
                <a:spcPts val="0"/>
              </a:spcAft>
              <a:buSzPts val="1800"/>
              <a:buNone/>
            </a:pPr>
            <a:r>
              <a:rPr b="1" lang="en-US" sz="1900"/>
              <a:t>curl -D - http://www.google.com -o /dev/null </a:t>
            </a:r>
            <a:endParaRPr b="1" sz="1900"/>
          </a:p>
          <a:p>
            <a:pPr indent="-349250" lvl="0" marL="457200" rtl="0" algn="l">
              <a:lnSpc>
                <a:spcPct val="115000"/>
              </a:lnSpc>
              <a:spcBef>
                <a:spcPts val="360"/>
              </a:spcBef>
              <a:spcAft>
                <a:spcPts val="0"/>
              </a:spcAft>
              <a:buSzPts val="1900"/>
              <a:buChar char="●"/>
            </a:pPr>
            <a:r>
              <a:rPr lang="en-US" sz="1900"/>
              <a:t>see the cookie arriving from google.com</a:t>
            </a:r>
            <a:endParaRPr sz="1900"/>
          </a:p>
          <a:p>
            <a:pPr indent="0" lvl="0" marL="0" rtl="0" algn="l">
              <a:lnSpc>
                <a:spcPct val="115000"/>
              </a:lnSpc>
              <a:spcBef>
                <a:spcPts val="360"/>
              </a:spcBef>
              <a:spcAft>
                <a:spcPts val="0"/>
              </a:spcAft>
              <a:buSzPts val="1800"/>
              <a:buNone/>
            </a:pPr>
            <a:r>
              <a:t/>
            </a:r>
            <a:endParaRPr sz="1900"/>
          </a:p>
          <a:p>
            <a:pPr indent="0" lvl="0" marL="0" rtl="0" algn="l">
              <a:lnSpc>
                <a:spcPct val="115000"/>
              </a:lnSpc>
              <a:spcBef>
                <a:spcPts val="360"/>
              </a:spcBef>
              <a:spcAft>
                <a:spcPts val="0"/>
              </a:spcAft>
              <a:buSzPts val="1800"/>
              <a:buNone/>
            </a:pPr>
            <a:r>
              <a:t/>
            </a:r>
            <a:endParaRPr sz="1900"/>
          </a:p>
          <a:p>
            <a:pPr indent="0" lvl="0" marL="0" rtl="0" algn="l">
              <a:lnSpc>
                <a:spcPct val="115000"/>
              </a:lnSpc>
              <a:spcBef>
                <a:spcPts val="360"/>
              </a:spcBef>
              <a:spcAft>
                <a:spcPts val="0"/>
              </a:spcAft>
              <a:buSzPts val="1800"/>
              <a:buNone/>
            </a:pPr>
            <a:r>
              <a:t/>
            </a:r>
            <a:endParaRPr sz="1900"/>
          </a:p>
          <a:p>
            <a:pPr indent="0" lvl="0" marL="0" rtl="0" algn="l">
              <a:lnSpc>
                <a:spcPct val="115000"/>
              </a:lnSpc>
              <a:spcBef>
                <a:spcPts val="360"/>
              </a:spcBef>
              <a:spcAft>
                <a:spcPts val="0"/>
              </a:spcAft>
              <a:buSzPts val="1800"/>
              <a:buNone/>
            </a:pPr>
            <a:r>
              <a:t/>
            </a:r>
            <a:endParaRPr sz="1900"/>
          </a:p>
        </p:txBody>
      </p:sp>
      <p:pic>
        <p:nvPicPr>
          <p:cNvPr id="266" name="Google Shape;266;p34"/>
          <p:cNvPicPr preferRelativeResize="0"/>
          <p:nvPr/>
        </p:nvPicPr>
        <p:blipFill rotWithShape="1">
          <a:blip r:embed="rId4">
            <a:alphaModFix/>
          </a:blip>
          <a:srcRect b="0" l="0" r="0" t="0"/>
          <a:stretch/>
        </p:blipFill>
        <p:spPr>
          <a:xfrm>
            <a:off x="178475" y="5262150"/>
            <a:ext cx="8660724" cy="9671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Application Programming Interface (API)</a:t>
            </a:r>
            <a:endParaRPr/>
          </a:p>
        </p:txBody>
      </p:sp>
      <p:sp>
        <p:nvSpPr>
          <p:cNvPr id="273" name="Google Shape;273;p35"/>
          <p:cNvSpPr txBox="1"/>
          <p:nvPr>
            <p:ph idx="1" type="body"/>
          </p:nvPr>
        </p:nvSpPr>
        <p:spPr>
          <a:xfrm>
            <a:off x="311700" y="1536625"/>
            <a:ext cx="8659800" cy="5156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US"/>
              <a:t>API -  A set of well-defined methods for interacting with the data of a software system. Defines what kind of requests are acceptable to access their servers and what kind of requests should be expected</a:t>
            </a:r>
            <a:endParaRPr/>
          </a:p>
          <a:p>
            <a:pPr indent="0" lvl="0" marL="0" rtl="0" algn="l">
              <a:lnSpc>
                <a:spcPct val="115000"/>
              </a:lnSpc>
              <a:spcBef>
                <a:spcPts val="1200"/>
              </a:spcBef>
              <a:spcAft>
                <a:spcPts val="0"/>
              </a:spcAft>
              <a:buClr>
                <a:schemeClr val="dk1"/>
              </a:buClr>
              <a:buSzPts val="1100"/>
              <a:buFont typeface="Arial"/>
              <a:buNone/>
            </a:pPr>
            <a:r>
              <a:rPr lang="en-US"/>
              <a:t>API documents show info about:</a:t>
            </a:r>
            <a:endParaRPr/>
          </a:p>
          <a:p>
            <a:pPr indent="-342900" lvl="0" marL="457200" rtl="0" algn="l">
              <a:lnSpc>
                <a:spcPct val="115000"/>
              </a:lnSpc>
              <a:spcBef>
                <a:spcPts val="1200"/>
              </a:spcBef>
              <a:spcAft>
                <a:spcPts val="0"/>
              </a:spcAft>
              <a:buSzPts val="1800"/>
              <a:buChar char="-"/>
            </a:pPr>
            <a:r>
              <a:rPr lang="en-US"/>
              <a:t>identify function to be called</a:t>
            </a:r>
            <a:endParaRPr/>
          </a:p>
          <a:p>
            <a:pPr indent="-342900" lvl="0" marL="457200" rtl="0" algn="l">
              <a:lnSpc>
                <a:spcPct val="115000"/>
              </a:lnSpc>
              <a:spcBef>
                <a:spcPts val="0"/>
              </a:spcBef>
              <a:spcAft>
                <a:spcPts val="0"/>
              </a:spcAft>
              <a:buSzPts val="1800"/>
              <a:buChar char="-"/>
            </a:pPr>
            <a:r>
              <a:rPr lang="en-US"/>
              <a:t>pass arguments (variable names, formatting)</a:t>
            </a:r>
            <a:endParaRPr/>
          </a:p>
          <a:p>
            <a:pPr indent="-342900" lvl="0" marL="457200" rtl="0" algn="l">
              <a:lnSpc>
                <a:spcPct val="115000"/>
              </a:lnSpc>
              <a:spcBef>
                <a:spcPts val="0"/>
              </a:spcBef>
              <a:spcAft>
                <a:spcPts val="0"/>
              </a:spcAft>
              <a:buSzPts val="1800"/>
              <a:buChar char="-"/>
            </a:pPr>
            <a:r>
              <a:rPr lang="en-US"/>
              <a:t>how to receive return value (return types)</a:t>
            </a:r>
            <a:endParaRPr/>
          </a:p>
          <a:p>
            <a:pPr indent="-342900" lvl="0" marL="457200" rtl="0" algn="l">
              <a:lnSpc>
                <a:spcPct val="115000"/>
              </a:lnSpc>
              <a:spcBef>
                <a:spcPts val="0"/>
              </a:spcBef>
              <a:spcAft>
                <a:spcPts val="0"/>
              </a:spcAft>
              <a:buSzPts val="1800"/>
              <a:buChar char="-"/>
            </a:pPr>
            <a:r>
              <a:rPr lang="en-US"/>
              <a:t>errors, exceptions</a:t>
            </a:r>
            <a:endParaRPr/>
          </a:p>
          <a:p>
            <a:pPr indent="0" lvl="0" marL="457200" rtl="0" algn="l">
              <a:lnSpc>
                <a:spcPct val="115000"/>
              </a:lnSpc>
              <a:spcBef>
                <a:spcPts val="0"/>
              </a:spcBef>
              <a:spcAft>
                <a:spcPts val="0"/>
              </a:spcAft>
              <a:buSzPts val="1800"/>
              <a:buNone/>
            </a:pPr>
            <a:r>
              <a:t/>
            </a:r>
            <a:endParaRPr/>
          </a:p>
          <a:p>
            <a:pPr indent="0" lvl="0" marL="0" rtl="0" algn="l">
              <a:lnSpc>
                <a:spcPct val="115000"/>
              </a:lnSpc>
              <a:spcBef>
                <a:spcPts val="1200"/>
              </a:spcBef>
              <a:spcAft>
                <a:spcPts val="0"/>
              </a:spcAft>
              <a:buSzPts val="1800"/>
              <a:buNone/>
            </a:pPr>
            <a:r>
              <a:rPr lang="en-US" sz="1900"/>
              <a:t>Library documentation is basically API documentation describing a method/function </a:t>
            </a:r>
            <a:endParaRPr sz="1900"/>
          </a:p>
          <a:p>
            <a:pPr indent="-349250" lvl="0" marL="457200" rtl="0" algn="l">
              <a:lnSpc>
                <a:spcPct val="115000"/>
              </a:lnSpc>
              <a:spcBef>
                <a:spcPts val="1200"/>
              </a:spcBef>
              <a:spcAft>
                <a:spcPts val="0"/>
              </a:spcAft>
              <a:buSzPts val="1900"/>
              <a:buChar char="●"/>
            </a:pPr>
            <a:r>
              <a:rPr lang="en-US" sz="1900" u="sng">
                <a:solidFill>
                  <a:schemeClr val="hlink"/>
                </a:solidFill>
                <a:hlinkClick r:id="rId3"/>
              </a:rPr>
              <a:t>strtof, strtod, strtold - cppreference.com</a:t>
            </a:r>
            <a:r>
              <a:rPr lang="en-US" sz="1900"/>
              <a:t> </a:t>
            </a:r>
            <a:endParaRPr sz="1900"/>
          </a:p>
          <a:p>
            <a:pPr indent="-349250" lvl="0" marL="457200" rtl="0" algn="l">
              <a:lnSpc>
                <a:spcPct val="115000"/>
              </a:lnSpc>
              <a:spcBef>
                <a:spcPts val="0"/>
              </a:spcBef>
              <a:spcAft>
                <a:spcPts val="0"/>
              </a:spcAft>
              <a:buSzPts val="1900"/>
              <a:buChar char="●"/>
            </a:pPr>
            <a:r>
              <a:rPr lang="en-US" sz="1900" u="sng">
                <a:solidFill>
                  <a:schemeClr val="hlink"/>
                </a:solidFill>
                <a:hlinkClick r:id="rId4"/>
              </a:rPr>
              <a:t>https://curl.se/libcurl/c/</a:t>
            </a:r>
            <a:r>
              <a:rPr lang="en-US" sz="1900"/>
              <a:t> </a:t>
            </a:r>
            <a:endParaRPr sz="1900"/>
          </a:p>
        </p:txBody>
      </p:sp>
      <p:sp>
        <p:nvSpPr>
          <p:cNvPr id="274" name="Google Shape;274;p35"/>
          <p:cNvSpPr/>
          <p:nvPr/>
        </p:nvSpPr>
        <p:spPr>
          <a:xfrm>
            <a:off x="5581675" y="2345925"/>
            <a:ext cx="3447900" cy="2221500"/>
          </a:xfrm>
          <a:prstGeom prst="cloudCallout">
            <a:avLst>
              <a:gd fmla="val -50305" name="adj1"/>
              <a:gd fmla="val 60924" name="adj2"/>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Lato"/>
                <a:ea typeface="Lato"/>
                <a:cs typeface="Lato"/>
                <a:sym typeface="Lato"/>
              </a:rPr>
              <a:t>How do these translate into service-oriented architecture paradigm when using HTTP routes with URIs to make calls to a remote server.</a:t>
            </a:r>
            <a:endParaRPr b="0" i="0" sz="1500" u="none" cap="none" strike="noStrike">
              <a:solidFill>
                <a:srgbClr val="000000"/>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6"/>
          <p:cNvSpPr txBox="1"/>
          <p:nvPr>
            <p:ph type="title"/>
          </p:nvPr>
        </p:nvSpPr>
        <p:spPr>
          <a:xfrm>
            <a:off x="240575" y="194992"/>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SOA API</a:t>
            </a:r>
            <a:endParaRPr/>
          </a:p>
        </p:txBody>
      </p:sp>
      <p:sp>
        <p:nvSpPr>
          <p:cNvPr id="280" name="Google Shape;280;p36"/>
          <p:cNvSpPr txBox="1"/>
          <p:nvPr>
            <p:ph idx="1" type="body"/>
          </p:nvPr>
        </p:nvSpPr>
        <p:spPr>
          <a:xfrm>
            <a:off x="240575" y="958498"/>
            <a:ext cx="8520600" cy="55155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386"/>
              <a:buFont typeface="Arial"/>
              <a:buNone/>
            </a:pPr>
            <a:r>
              <a:rPr lang="en-US" sz="1700"/>
              <a:t>An Application Programming Interface (API) for a microservice is a formal description of the operations the microservice can do. The API first design stance suggests that even when creating a large SaaS app, we get a more modular design by thinking about the app in terms of its smaller components and the APIs by which they communicate.</a:t>
            </a:r>
            <a:endParaRPr sz="1700"/>
          </a:p>
          <a:p>
            <a:pPr indent="0" lvl="0" marL="0" rtl="0" algn="l">
              <a:lnSpc>
                <a:spcPct val="95000"/>
              </a:lnSpc>
              <a:spcBef>
                <a:spcPts val="0"/>
              </a:spcBef>
              <a:spcAft>
                <a:spcPts val="0"/>
              </a:spcAft>
              <a:buClr>
                <a:schemeClr val="dk1"/>
              </a:buClr>
              <a:buSzPts val="386"/>
              <a:buFont typeface="Arial"/>
              <a:buNone/>
            </a:pPr>
            <a:r>
              <a:t/>
            </a:r>
            <a:endParaRPr sz="1630"/>
          </a:p>
          <a:p>
            <a:pPr indent="0" lvl="0" marL="0" rtl="0" algn="l">
              <a:lnSpc>
                <a:spcPct val="95000"/>
              </a:lnSpc>
              <a:spcBef>
                <a:spcPts val="0"/>
              </a:spcBef>
              <a:spcAft>
                <a:spcPts val="0"/>
              </a:spcAft>
              <a:buClr>
                <a:schemeClr val="dk1"/>
              </a:buClr>
              <a:buSzPts val="386"/>
              <a:buFont typeface="Arial"/>
              <a:buNone/>
            </a:pPr>
            <a:r>
              <a:rPr lang="en-US" sz="1630"/>
              <a:t>SOA  Service Oriented Architecture- Clients need a way to name the server function to be called, pass arguments to it, consume return values, detect and handle server exceptions when an application calls a library function,  using HTTP for communication.</a:t>
            </a:r>
            <a:endParaRPr sz="2480">
              <a:solidFill>
                <a:schemeClr val="dk1"/>
              </a:solidFill>
            </a:endParaRPr>
          </a:p>
          <a:p>
            <a:pPr indent="0" lvl="0" marL="0" rtl="0" algn="l">
              <a:lnSpc>
                <a:spcPct val="95000"/>
              </a:lnSpc>
              <a:spcBef>
                <a:spcPts val="1200"/>
              </a:spcBef>
              <a:spcAft>
                <a:spcPts val="0"/>
              </a:spcAft>
              <a:buSzPts val="1157"/>
              <a:buNone/>
            </a:pPr>
            <a:r>
              <a:rPr lang="en-US" sz="1630"/>
              <a:t>Identify the Callee on web server </a:t>
            </a:r>
            <a:r>
              <a:rPr lang="en-US" sz="2480">
                <a:solidFill>
                  <a:schemeClr val="dk1"/>
                </a:solidFill>
              </a:rPr>
              <a:t> </a:t>
            </a:r>
            <a:endParaRPr sz="2480">
              <a:solidFill>
                <a:schemeClr val="dk1"/>
              </a:solidFill>
            </a:endParaRPr>
          </a:p>
          <a:p>
            <a:pPr indent="0" lvl="0" marL="0" rtl="0" algn="l">
              <a:lnSpc>
                <a:spcPct val="95000"/>
              </a:lnSpc>
              <a:spcBef>
                <a:spcPts val="1200"/>
              </a:spcBef>
              <a:spcAft>
                <a:spcPts val="0"/>
              </a:spcAft>
              <a:buSzPts val="1800"/>
              <a:buNone/>
            </a:pPr>
            <a:r>
              <a:rPr lang="en-US" sz="1630"/>
              <a:t>Endpoint meaning a URI can receive HTTP request asking it to call a function</a:t>
            </a:r>
            <a:endParaRPr sz="1630"/>
          </a:p>
          <a:p>
            <a:pPr indent="-332105" lvl="0" marL="457200" rtl="0" algn="l">
              <a:lnSpc>
                <a:spcPct val="95000"/>
              </a:lnSpc>
              <a:spcBef>
                <a:spcPts val="1200"/>
              </a:spcBef>
              <a:spcAft>
                <a:spcPts val="0"/>
              </a:spcAft>
              <a:buSzPts val="1630"/>
              <a:buChar char="●"/>
            </a:pPr>
            <a:r>
              <a:rPr lang="en-US" sz="1630"/>
              <a:t>Route consists of base URI (API Version), method, path, optional &amp; required arguments</a:t>
            </a:r>
            <a:endParaRPr sz="1630"/>
          </a:p>
          <a:p>
            <a:pPr indent="-332105" lvl="0" marL="457200" rtl="0" algn="l">
              <a:lnSpc>
                <a:spcPct val="95000"/>
              </a:lnSpc>
              <a:spcBef>
                <a:spcPts val="0"/>
              </a:spcBef>
              <a:spcAft>
                <a:spcPts val="0"/>
              </a:spcAft>
              <a:buSzPts val="1630"/>
              <a:buChar char="●"/>
            </a:pPr>
            <a:r>
              <a:rPr lang="en-US" sz="1630"/>
              <a:t>Operation usually first path component of URI</a:t>
            </a:r>
            <a:endParaRPr sz="1630"/>
          </a:p>
          <a:p>
            <a:pPr indent="0" lvl="0" marL="0" rtl="0" algn="l">
              <a:lnSpc>
                <a:spcPct val="95000"/>
              </a:lnSpc>
              <a:spcBef>
                <a:spcPts val="1200"/>
              </a:spcBef>
              <a:spcAft>
                <a:spcPts val="0"/>
              </a:spcAft>
              <a:buSzPts val="1800"/>
              <a:buNone/>
            </a:pPr>
            <a:r>
              <a:rPr lang="en-US" sz="1630"/>
              <a:t>Pass Arguments</a:t>
            </a:r>
            <a:endParaRPr sz="1630"/>
          </a:p>
          <a:p>
            <a:pPr indent="-332105" lvl="0" marL="457200" rtl="0" algn="l">
              <a:lnSpc>
                <a:spcPct val="95000"/>
              </a:lnSpc>
              <a:spcBef>
                <a:spcPts val="1200"/>
              </a:spcBef>
              <a:spcAft>
                <a:spcPts val="0"/>
              </a:spcAft>
              <a:buSzPts val="1630"/>
              <a:buChar char="●"/>
            </a:pPr>
            <a:r>
              <a:rPr lang="en-US" sz="1630"/>
              <a:t>For GET, embed in URI query string</a:t>
            </a:r>
            <a:endParaRPr sz="1630"/>
          </a:p>
          <a:p>
            <a:pPr indent="-332105" lvl="0" marL="457200" rtl="0" algn="l">
              <a:lnSpc>
                <a:spcPct val="95000"/>
              </a:lnSpc>
              <a:spcBef>
                <a:spcPts val="0"/>
              </a:spcBef>
              <a:spcAft>
                <a:spcPts val="0"/>
              </a:spcAft>
              <a:buSzPts val="1630"/>
              <a:buChar char="●"/>
            </a:pPr>
            <a:r>
              <a:rPr lang="en-US" sz="1630"/>
              <a:t>For POST, can post as part of from body</a:t>
            </a:r>
            <a:endParaRPr sz="1630"/>
          </a:p>
          <a:p>
            <a:pPr indent="0" lvl="0" marL="0" rtl="0" algn="l">
              <a:lnSpc>
                <a:spcPct val="95000"/>
              </a:lnSpc>
              <a:spcBef>
                <a:spcPts val="1200"/>
              </a:spcBef>
              <a:spcAft>
                <a:spcPts val="0"/>
              </a:spcAft>
              <a:buSzPts val="1800"/>
              <a:buNone/>
            </a:pPr>
            <a:r>
              <a:t/>
            </a:r>
            <a:endParaRPr sz="1630"/>
          </a:p>
          <a:p>
            <a:pPr indent="0" lvl="0" marL="457200" rtl="0" algn="l">
              <a:lnSpc>
                <a:spcPct val="95000"/>
              </a:lnSpc>
              <a:spcBef>
                <a:spcPts val="1200"/>
              </a:spcBef>
              <a:spcAft>
                <a:spcPts val="0"/>
              </a:spcAft>
              <a:buSzPts val="1800"/>
              <a:buNone/>
            </a:pPr>
            <a:r>
              <a:t/>
            </a:r>
            <a:endParaRPr sz="1630"/>
          </a:p>
          <a:p>
            <a:pPr indent="0" lvl="0" marL="0" rtl="0" algn="l">
              <a:lnSpc>
                <a:spcPct val="95000"/>
              </a:lnSpc>
              <a:spcBef>
                <a:spcPts val="1200"/>
              </a:spcBef>
              <a:spcAft>
                <a:spcPts val="1200"/>
              </a:spcAft>
              <a:buSzPts val="1800"/>
              <a:buNone/>
            </a:pPr>
            <a:r>
              <a:t/>
            </a:r>
            <a:endParaRPr sz="163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7"/>
          <p:cNvSpPr txBox="1"/>
          <p:nvPr>
            <p:ph idx="1" type="body"/>
          </p:nvPr>
        </p:nvSpPr>
        <p:spPr>
          <a:xfrm>
            <a:off x="311700" y="4042075"/>
            <a:ext cx="8520600" cy="3542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sz="1700"/>
              <a:t>Route = HTTPS method + URI </a:t>
            </a:r>
            <a:endParaRPr sz="1700"/>
          </a:p>
          <a:p>
            <a:pPr indent="-336550" lvl="0" marL="457200" rtl="0" algn="l">
              <a:lnSpc>
                <a:spcPct val="115000"/>
              </a:lnSpc>
              <a:spcBef>
                <a:spcPts val="0"/>
              </a:spcBef>
              <a:spcAft>
                <a:spcPts val="0"/>
              </a:spcAft>
              <a:buSzPts val="1700"/>
              <a:buChar char="●"/>
            </a:pPr>
            <a:r>
              <a:rPr lang="en-US" sz="1700"/>
              <a:t>Methods GET, POST, PUT, PATCH, DELETE, HEAD</a:t>
            </a:r>
            <a:endParaRPr sz="1700"/>
          </a:p>
          <a:p>
            <a:pPr indent="-336550" lvl="0" marL="457200" rtl="0" algn="l">
              <a:lnSpc>
                <a:spcPct val="115000"/>
              </a:lnSpc>
              <a:spcBef>
                <a:spcPts val="0"/>
              </a:spcBef>
              <a:spcAft>
                <a:spcPts val="0"/>
              </a:spcAft>
              <a:buSzPts val="1700"/>
              <a:buChar char="●"/>
            </a:pPr>
            <a:r>
              <a:rPr lang="en-US" sz="1700"/>
              <a:t>URI parts</a:t>
            </a:r>
            <a:endParaRPr sz="1700"/>
          </a:p>
          <a:p>
            <a:pPr indent="-336550" lvl="1" marL="914400" rtl="0" algn="l">
              <a:lnSpc>
                <a:spcPct val="115000"/>
              </a:lnSpc>
              <a:spcBef>
                <a:spcPts val="0"/>
              </a:spcBef>
              <a:spcAft>
                <a:spcPts val="0"/>
              </a:spcAft>
              <a:buSzPts val="1700"/>
              <a:buChar char="○"/>
            </a:pPr>
            <a:r>
              <a:rPr lang="en-US" sz="1700"/>
              <a:t>protocol + server:port (most cases HTTP or HTTPS protocol and most cases the standard web port)</a:t>
            </a:r>
            <a:endParaRPr sz="1700"/>
          </a:p>
          <a:p>
            <a:pPr indent="-336550" lvl="1" marL="914400" rtl="0" algn="l">
              <a:lnSpc>
                <a:spcPct val="115000"/>
              </a:lnSpc>
              <a:spcBef>
                <a:spcPts val="0"/>
              </a:spcBef>
              <a:spcAft>
                <a:spcPts val="0"/>
              </a:spcAft>
              <a:buSzPts val="1700"/>
              <a:buChar char="○"/>
            </a:pPr>
            <a:r>
              <a:rPr lang="en-US" sz="1700"/>
              <a:t>Path to resource for operation to be done</a:t>
            </a:r>
            <a:endParaRPr sz="1700"/>
          </a:p>
          <a:p>
            <a:pPr indent="-336550" lvl="1" marL="914400" rtl="0" algn="l">
              <a:lnSpc>
                <a:spcPct val="115000"/>
              </a:lnSpc>
              <a:spcBef>
                <a:spcPts val="0"/>
              </a:spcBef>
              <a:spcAft>
                <a:spcPts val="0"/>
              </a:spcAft>
              <a:buSzPts val="1700"/>
              <a:buChar char="○"/>
            </a:pPr>
            <a:r>
              <a:rPr lang="en-US" sz="1700"/>
              <a:t>After ? is a set of key value pairs as arguments to the function </a:t>
            </a:r>
            <a:endParaRPr sz="1700"/>
          </a:p>
          <a:p>
            <a:pPr indent="-336550" lvl="2" marL="1371600" rtl="0" algn="l">
              <a:lnSpc>
                <a:spcPct val="115000"/>
              </a:lnSpc>
              <a:spcBef>
                <a:spcPts val="0"/>
              </a:spcBef>
              <a:spcAft>
                <a:spcPts val="0"/>
              </a:spcAft>
              <a:buSzPts val="1700"/>
              <a:buChar char="■"/>
            </a:pPr>
            <a:r>
              <a:rPr lang="en-US" sz="1700"/>
              <a:t>q value is cloud and lang value is en</a:t>
            </a:r>
            <a:endParaRPr sz="1700"/>
          </a:p>
          <a:p>
            <a:pPr indent="0" lvl="0" marL="0" rtl="0" algn="l">
              <a:lnSpc>
                <a:spcPct val="115000"/>
              </a:lnSpc>
              <a:spcBef>
                <a:spcPts val="0"/>
              </a:spcBef>
              <a:spcAft>
                <a:spcPts val="0"/>
              </a:spcAft>
              <a:buSzPts val="1800"/>
              <a:buNone/>
            </a:pPr>
            <a:r>
              <a:t/>
            </a:r>
            <a:endParaRPr sz="1700"/>
          </a:p>
          <a:p>
            <a:pPr indent="0" lvl="0" marL="0" rtl="0" algn="l">
              <a:lnSpc>
                <a:spcPct val="115000"/>
              </a:lnSpc>
              <a:spcBef>
                <a:spcPts val="0"/>
              </a:spcBef>
              <a:spcAft>
                <a:spcPts val="0"/>
              </a:spcAft>
              <a:buSzPts val="1800"/>
              <a:buNone/>
            </a:pPr>
            <a:r>
              <a:t/>
            </a:r>
            <a:endParaRPr sz="1700"/>
          </a:p>
        </p:txBody>
      </p:sp>
      <p:pic>
        <p:nvPicPr>
          <p:cNvPr id="286" name="Google Shape;286;p37"/>
          <p:cNvPicPr preferRelativeResize="0"/>
          <p:nvPr/>
        </p:nvPicPr>
        <p:blipFill rotWithShape="1">
          <a:blip r:embed="rId3">
            <a:alphaModFix/>
          </a:blip>
          <a:srcRect b="0" l="0" r="0" t="0"/>
          <a:stretch/>
        </p:blipFill>
        <p:spPr>
          <a:xfrm>
            <a:off x="394375" y="2655173"/>
            <a:ext cx="5672450" cy="1258950"/>
          </a:xfrm>
          <a:prstGeom prst="rect">
            <a:avLst/>
          </a:prstGeom>
          <a:noFill/>
          <a:ln>
            <a:noFill/>
          </a:ln>
        </p:spPr>
      </p:pic>
      <p:sp>
        <p:nvSpPr>
          <p:cNvPr id="287" name="Google Shape;287;p37"/>
          <p:cNvSpPr txBox="1"/>
          <p:nvPr>
            <p:ph type="title"/>
          </p:nvPr>
        </p:nvSpPr>
        <p:spPr>
          <a:xfrm>
            <a:off x="212100" y="10961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Routes</a:t>
            </a:r>
            <a:endParaRPr/>
          </a:p>
        </p:txBody>
      </p:sp>
      <p:sp>
        <p:nvSpPr>
          <p:cNvPr id="288" name="Google Shape;288;p37"/>
          <p:cNvSpPr/>
          <p:nvPr/>
        </p:nvSpPr>
        <p:spPr>
          <a:xfrm>
            <a:off x="1706350" y="1924821"/>
            <a:ext cx="4673100" cy="6024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chemeClr val="lt1"/>
                </a:solidFill>
                <a:latin typeface="Arial"/>
                <a:ea typeface="Arial"/>
                <a:cs typeface="Arial"/>
                <a:sym typeface="Arial"/>
              </a:rPr>
              <a:t>or https which uses public-key cryptography</a:t>
            </a:r>
            <a:endParaRPr b="0" i="0" sz="1400" u="none" cap="none" strike="noStrike">
              <a:solidFill>
                <a:schemeClr val="lt1"/>
              </a:solidFill>
              <a:latin typeface="Arial"/>
              <a:ea typeface="Arial"/>
              <a:cs typeface="Arial"/>
              <a:sym typeface="Arial"/>
            </a:endParaRPr>
          </a:p>
        </p:txBody>
      </p:sp>
      <p:cxnSp>
        <p:nvCxnSpPr>
          <p:cNvPr id="289" name="Google Shape;289;p37"/>
          <p:cNvCxnSpPr>
            <a:endCxn id="288" idx="1"/>
          </p:cNvCxnSpPr>
          <p:nvPr/>
        </p:nvCxnSpPr>
        <p:spPr>
          <a:xfrm flipH="1" rot="10800000">
            <a:off x="1477450" y="2226021"/>
            <a:ext cx="228900" cy="383700"/>
          </a:xfrm>
          <a:prstGeom prst="straightConnector1">
            <a:avLst/>
          </a:prstGeom>
          <a:noFill/>
          <a:ln cap="flat" cmpd="sng" w="28575">
            <a:solidFill>
              <a:srgbClr val="38761D"/>
            </a:solidFill>
            <a:prstDash val="solid"/>
            <a:round/>
            <a:headEnd len="sm" w="sm" type="none"/>
            <a:tailEnd len="med" w="med" type="triangle"/>
          </a:ln>
        </p:spPr>
      </p:cxnSp>
      <p:sp>
        <p:nvSpPr>
          <p:cNvPr id="290" name="Google Shape;290;p37"/>
          <p:cNvSpPr txBox="1"/>
          <p:nvPr/>
        </p:nvSpPr>
        <p:spPr>
          <a:xfrm>
            <a:off x="118500" y="730975"/>
            <a:ext cx="8907000" cy="106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US" sz="1800" u="sng">
                <a:solidFill>
                  <a:schemeClr val="accent5"/>
                </a:solidFill>
                <a:hlinkClick r:id="rId4">
                  <a:extLst>
                    <a:ext uri="{A12FA001-AC4F-418D-AE19-62706E023703}">
                      <ahyp:hlinkClr val="tx"/>
                    </a:ext>
                  </a:extLst>
                </a:hlinkClick>
              </a:rPr>
              <a:t>URI (Uniform Resource Identifier</a:t>
            </a:r>
            <a:r>
              <a:rPr lang="en-US" sz="1700">
                <a:solidFill>
                  <a:schemeClr val="dk1"/>
                </a:solidFill>
              </a:rPr>
              <a:t>, name a particular resource on the Web and may specify parameters (options) for accessing it. A basic building block of SaaS is an HTTP route, which combines a method such as GET or POST with a URI.</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8"/>
          <p:cNvSpPr txBox="1"/>
          <p:nvPr>
            <p:ph type="title"/>
          </p:nvPr>
        </p:nvSpPr>
        <p:spPr>
          <a:xfrm>
            <a:off x="311700" y="115842"/>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API Framework: REST</a:t>
            </a:r>
            <a:endParaRPr/>
          </a:p>
        </p:txBody>
      </p:sp>
      <p:sp>
        <p:nvSpPr>
          <p:cNvPr id="297" name="Google Shape;297;p38"/>
          <p:cNvSpPr txBox="1"/>
          <p:nvPr>
            <p:ph idx="1" type="body"/>
          </p:nvPr>
        </p:nvSpPr>
        <p:spPr>
          <a:xfrm>
            <a:off x="152525" y="754000"/>
            <a:ext cx="8828100" cy="509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US" sz="1900"/>
              <a:t>Roy Fielding proposed REST in his Ph.D. dissertation as a way of mapping requests to actions that is particularly well suited to a service-oriented architecture.</a:t>
            </a:r>
            <a:endParaRPr sz="1900"/>
          </a:p>
          <a:p>
            <a:pPr indent="0" lvl="0" marL="0" rtl="0" algn="l">
              <a:lnSpc>
                <a:spcPct val="115000"/>
              </a:lnSpc>
              <a:spcBef>
                <a:spcPts val="1200"/>
              </a:spcBef>
              <a:spcAft>
                <a:spcPts val="0"/>
              </a:spcAft>
              <a:buClr>
                <a:schemeClr val="dk1"/>
              </a:buClr>
              <a:buSzPts val="1100"/>
              <a:buFont typeface="Arial"/>
              <a:buNone/>
            </a:pPr>
            <a:r>
              <a:rPr lang="en-US" sz="1900"/>
              <a:t>REST (REpresentational State Transfer) - not a standard, but a design stance regarding how a service should be constructed, and what its API should look like</a:t>
            </a:r>
            <a:endParaRPr sz="1900"/>
          </a:p>
          <a:p>
            <a:pPr indent="0" lvl="0" marL="0" rtl="0" algn="l">
              <a:lnSpc>
                <a:spcPct val="115000"/>
              </a:lnSpc>
              <a:spcBef>
                <a:spcPts val="1200"/>
              </a:spcBef>
              <a:spcAft>
                <a:spcPts val="0"/>
              </a:spcAft>
              <a:buSzPts val="1800"/>
              <a:buNone/>
            </a:pPr>
            <a:r>
              <a:rPr lang="en-US" sz="1900"/>
              <a:t>Instead of thinking about a route as a page or action, think about it as a resource and operation. If an API is RESTful it should state</a:t>
            </a:r>
            <a:endParaRPr sz="1900"/>
          </a:p>
          <a:p>
            <a:pPr indent="-349250" lvl="0" marL="457200" rtl="0" algn="l">
              <a:lnSpc>
                <a:spcPct val="115000"/>
              </a:lnSpc>
              <a:spcBef>
                <a:spcPts val="1200"/>
              </a:spcBef>
              <a:spcAft>
                <a:spcPts val="0"/>
              </a:spcAft>
              <a:buSzPts val="1900"/>
              <a:buAutoNum type="arabicPeriod"/>
            </a:pPr>
            <a:r>
              <a:rPr lang="en-US" sz="1900"/>
              <a:t>What is primary resource affected?</a:t>
            </a:r>
            <a:endParaRPr sz="1900"/>
          </a:p>
          <a:p>
            <a:pPr indent="-349250" lvl="0" marL="457200" rtl="0" algn="l">
              <a:lnSpc>
                <a:spcPct val="115000"/>
              </a:lnSpc>
              <a:spcBef>
                <a:spcPts val="0"/>
              </a:spcBef>
              <a:spcAft>
                <a:spcPts val="0"/>
              </a:spcAft>
              <a:buSzPts val="1900"/>
              <a:buAutoNum type="arabicPeriod"/>
            </a:pPr>
            <a:r>
              <a:rPr lang="en-US" sz="1900"/>
              <a:t>What operation is to be done, and what are possible results and side effects?</a:t>
            </a:r>
            <a:endParaRPr sz="1900"/>
          </a:p>
          <a:p>
            <a:pPr indent="-349250" lvl="0" marL="457200" rtl="0" algn="l">
              <a:lnSpc>
                <a:spcPct val="115000"/>
              </a:lnSpc>
              <a:spcBef>
                <a:spcPts val="0"/>
              </a:spcBef>
              <a:spcAft>
                <a:spcPts val="0"/>
              </a:spcAft>
              <a:buSzPts val="1900"/>
              <a:buAutoNum type="arabicPeriod"/>
            </a:pPr>
            <a:r>
              <a:rPr lang="en-US" sz="1900"/>
              <a:t>What other data needed for operation and how specified?</a:t>
            </a:r>
            <a:endParaRPr sz="19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2" name="Shape 302"/>
        <p:cNvGrpSpPr/>
        <p:nvPr/>
      </p:nvGrpSpPr>
      <p:grpSpPr>
        <a:xfrm>
          <a:off x="0" y="0"/>
          <a:ext cx="0" cy="0"/>
          <a:chOff x="0" y="0"/>
          <a:chExt cx="0" cy="0"/>
        </a:xfrm>
      </p:grpSpPr>
      <p:pic>
        <p:nvPicPr>
          <p:cNvPr id="303" name="Google Shape;303;p39"/>
          <p:cNvPicPr preferRelativeResize="0"/>
          <p:nvPr/>
        </p:nvPicPr>
        <p:blipFill rotWithShape="1">
          <a:blip r:embed="rId3">
            <a:alphaModFix/>
          </a:blip>
          <a:srcRect b="0" l="0" r="0" t="0"/>
          <a:stretch/>
        </p:blipFill>
        <p:spPr>
          <a:xfrm>
            <a:off x="481100" y="923513"/>
            <a:ext cx="7980426" cy="5010976"/>
          </a:xfrm>
          <a:prstGeom prst="rect">
            <a:avLst/>
          </a:prstGeom>
          <a:noFill/>
          <a:ln>
            <a:noFill/>
          </a:ln>
        </p:spPr>
      </p:pic>
      <p:sp>
        <p:nvSpPr>
          <p:cNvPr id="304" name="Google Shape;304;p39"/>
          <p:cNvSpPr txBox="1"/>
          <p:nvPr/>
        </p:nvSpPr>
        <p:spPr>
          <a:xfrm>
            <a:off x="5855400" y="5247850"/>
            <a:ext cx="1788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 HTML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Get returned results</a:t>
            </a:r>
            <a:endParaRPr/>
          </a:p>
        </p:txBody>
      </p:sp>
      <p:sp>
        <p:nvSpPr>
          <p:cNvPr id="311" name="Google Shape;311;p40"/>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2100"/>
              <a:t>A resource may have multiple possible representations </a:t>
            </a:r>
            <a:endParaRPr sz="2100"/>
          </a:p>
          <a:p>
            <a:pPr indent="0" lvl="0" marL="0" rtl="0" algn="l">
              <a:lnSpc>
                <a:spcPct val="115000"/>
              </a:lnSpc>
              <a:spcBef>
                <a:spcPts val="1200"/>
              </a:spcBef>
              <a:spcAft>
                <a:spcPts val="0"/>
              </a:spcAft>
              <a:buClr>
                <a:schemeClr val="dk1"/>
              </a:buClr>
              <a:buSzPts val="1100"/>
              <a:buFont typeface="Arial"/>
              <a:buNone/>
            </a:pPr>
            <a:r>
              <a:rPr lang="en-US" sz="2100"/>
              <a:t>Underlying resources are the same but could be represented differently such as</a:t>
            </a:r>
            <a:endParaRPr sz="2100"/>
          </a:p>
          <a:p>
            <a:pPr indent="-361950" lvl="0" marL="457200" rtl="0" algn="l">
              <a:lnSpc>
                <a:spcPct val="115000"/>
              </a:lnSpc>
              <a:spcBef>
                <a:spcPts val="1200"/>
              </a:spcBef>
              <a:spcAft>
                <a:spcPts val="0"/>
              </a:spcAft>
              <a:buSzPts val="2100"/>
              <a:buChar char="●"/>
            </a:pPr>
            <a:r>
              <a:rPr lang="en-US" sz="2100"/>
              <a:t>JSON (JavaScript Object Notation) objects if accessed through API calls</a:t>
            </a:r>
            <a:endParaRPr sz="2100"/>
          </a:p>
          <a:p>
            <a:pPr indent="-336550" lvl="1" marL="914400" rtl="0" algn="l">
              <a:lnSpc>
                <a:spcPct val="115000"/>
              </a:lnSpc>
              <a:spcBef>
                <a:spcPts val="0"/>
              </a:spcBef>
              <a:spcAft>
                <a:spcPts val="0"/>
              </a:spcAft>
              <a:buSzPts val="1700"/>
              <a:buChar char="○"/>
            </a:pPr>
            <a:r>
              <a:rPr lang="en-US" sz="1700"/>
              <a:t>JSON object = unordered hash in {}</a:t>
            </a:r>
            <a:endParaRPr sz="1700"/>
          </a:p>
          <a:p>
            <a:pPr indent="-336550" lvl="1" marL="914400" rtl="0" algn="l">
              <a:lnSpc>
                <a:spcPct val="115000"/>
              </a:lnSpc>
              <a:spcBef>
                <a:spcPts val="0"/>
              </a:spcBef>
              <a:spcAft>
                <a:spcPts val="0"/>
              </a:spcAft>
              <a:buSzPts val="1700"/>
              <a:buChar char="○"/>
            </a:pPr>
            <a:r>
              <a:rPr lang="en-US" sz="1700"/>
              <a:t>Keys are strings’ values can be string, number, [Array], or {nested hash}</a:t>
            </a:r>
            <a:endParaRPr sz="1700"/>
          </a:p>
          <a:p>
            <a:pPr indent="-336550" lvl="1" marL="914400" rtl="0" algn="l">
              <a:lnSpc>
                <a:spcPct val="115000"/>
              </a:lnSpc>
              <a:spcBef>
                <a:spcPts val="0"/>
              </a:spcBef>
              <a:spcAft>
                <a:spcPts val="0"/>
              </a:spcAft>
              <a:buSzPts val="1700"/>
              <a:buChar char="○"/>
            </a:pPr>
            <a:r>
              <a:rPr lang="en-US" sz="1700"/>
              <a:t>Key/value pairs separated by comma’ whitespace irrelevant</a:t>
            </a:r>
            <a:endParaRPr sz="1700"/>
          </a:p>
          <a:p>
            <a:pPr indent="0" lvl="0" marL="914400" rtl="0" algn="l">
              <a:lnSpc>
                <a:spcPct val="115000"/>
              </a:lnSpc>
              <a:spcBef>
                <a:spcPts val="1200"/>
              </a:spcBef>
              <a:spcAft>
                <a:spcPts val="0"/>
              </a:spcAft>
              <a:buSzPts val="1800"/>
              <a:buNone/>
            </a:pPr>
            <a:r>
              <a:t/>
            </a:r>
            <a:endParaRPr sz="1700"/>
          </a:p>
          <a:p>
            <a:pPr indent="0" lvl="0" marL="914400" rtl="0" algn="l">
              <a:lnSpc>
                <a:spcPct val="115000"/>
              </a:lnSpc>
              <a:spcBef>
                <a:spcPts val="1200"/>
              </a:spcBef>
              <a:spcAft>
                <a:spcPts val="0"/>
              </a:spcAft>
              <a:buSzPts val="1800"/>
              <a:buNone/>
            </a:pPr>
            <a:r>
              <a:t/>
            </a:r>
            <a:endParaRPr sz="1700"/>
          </a:p>
          <a:p>
            <a:pPr indent="0" lvl="0" marL="914400" rtl="0" algn="l">
              <a:lnSpc>
                <a:spcPct val="115000"/>
              </a:lnSpc>
              <a:spcBef>
                <a:spcPts val="1200"/>
              </a:spcBef>
              <a:spcAft>
                <a:spcPts val="0"/>
              </a:spcAft>
              <a:buSzPts val="1800"/>
              <a:buNone/>
            </a:pPr>
            <a:r>
              <a:t/>
            </a:r>
            <a:endParaRPr sz="1700"/>
          </a:p>
          <a:p>
            <a:pPr indent="0" lvl="0" marL="914400" rtl="0" algn="l">
              <a:lnSpc>
                <a:spcPct val="115000"/>
              </a:lnSpc>
              <a:spcBef>
                <a:spcPts val="1200"/>
              </a:spcBef>
              <a:spcAft>
                <a:spcPts val="0"/>
              </a:spcAft>
              <a:buSzPts val="1800"/>
              <a:buNone/>
            </a:pPr>
            <a:r>
              <a:t/>
            </a:r>
            <a:endParaRPr sz="1700"/>
          </a:p>
          <a:p>
            <a:pPr indent="0" lvl="0" marL="914400" rtl="0" algn="l">
              <a:lnSpc>
                <a:spcPct val="115000"/>
              </a:lnSpc>
              <a:spcBef>
                <a:spcPts val="1200"/>
              </a:spcBef>
              <a:spcAft>
                <a:spcPts val="0"/>
              </a:spcAft>
              <a:buSzPts val="1800"/>
              <a:buNone/>
            </a:pPr>
            <a:r>
              <a:t/>
            </a:r>
            <a:endParaRPr sz="1700"/>
          </a:p>
          <a:p>
            <a:pPr indent="-361950" lvl="0" marL="457200" rtl="0" algn="l">
              <a:lnSpc>
                <a:spcPct val="115000"/>
              </a:lnSpc>
              <a:spcBef>
                <a:spcPts val="1200"/>
              </a:spcBef>
              <a:spcAft>
                <a:spcPts val="0"/>
              </a:spcAft>
              <a:buSzPts val="2100"/>
              <a:buChar char="●"/>
            </a:pPr>
            <a:r>
              <a:rPr lang="en-US" sz="2100"/>
              <a:t>Displayable HTML page </a:t>
            </a:r>
            <a:endParaRPr sz="2100"/>
          </a:p>
          <a:p>
            <a:pPr indent="0" lvl="0" marL="0" rtl="0" algn="l">
              <a:lnSpc>
                <a:spcPct val="115000"/>
              </a:lnSpc>
              <a:spcBef>
                <a:spcPts val="1200"/>
              </a:spcBef>
              <a:spcAft>
                <a:spcPts val="0"/>
              </a:spcAft>
              <a:buSzPts val="1800"/>
              <a:buNone/>
            </a:pPr>
            <a:r>
              <a:t/>
            </a:r>
            <a:endParaRPr sz="2100"/>
          </a:p>
          <a:p>
            <a:pPr indent="0" lvl="0" marL="0" rtl="0" algn="l">
              <a:lnSpc>
                <a:spcPct val="115000"/>
              </a:lnSpc>
              <a:spcBef>
                <a:spcPts val="1200"/>
              </a:spcBef>
              <a:spcAft>
                <a:spcPts val="1200"/>
              </a:spcAft>
              <a:buSzPts val="1800"/>
              <a:buNone/>
            </a:pPr>
            <a:r>
              <a:t/>
            </a:r>
            <a:endParaRPr sz="2100"/>
          </a:p>
        </p:txBody>
      </p:sp>
      <p:pic>
        <p:nvPicPr>
          <p:cNvPr id="312" name="Google Shape;312;p40"/>
          <p:cNvPicPr preferRelativeResize="0"/>
          <p:nvPr/>
        </p:nvPicPr>
        <p:blipFill rotWithShape="1">
          <a:blip r:embed="rId3">
            <a:alphaModFix/>
          </a:blip>
          <a:srcRect b="0" l="0" r="0" t="0"/>
          <a:stretch/>
        </p:blipFill>
        <p:spPr>
          <a:xfrm>
            <a:off x="493650" y="4059252"/>
            <a:ext cx="6382201" cy="21226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Search Movie Database: Request</a:t>
            </a:r>
            <a:endParaRPr/>
          </a:p>
        </p:txBody>
      </p:sp>
      <p:sp>
        <p:nvSpPr>
          <p:cNvPr id="319" name="Google Shape;319;p41"/>
          <p:cNvSpPr txBox="1"/>
          <p:nvPr>
            <p:ph idx="1" type="body"/>
          </p:nvPr>
        </p:nvSpPr>
        <p:spPr>
          <a:xfrm>
            <a:off x="311700" y="1536624"/>
            <a:ext cx="8520600" cy="5321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946"/>
              <a:buNone/>
            </a:pPr>
            <a:r>
              <a:rPr lang="en-US"/>
              <a:t>API </a:t>
            </a:r>
            <a:r>
              <a:rPr lang="en-US" u="sng">
                <a:solidFill>
                  <a:schemeClr val="hlink"/>
                </a:solidFill>
                <a:hlinkClick r:id="rId3"/>
              </a:rPr>
              <a:t>3/search/movie</a:t>
            </a:r>
            <a:endParaRPr/>
          </a:p>
          <a:p>
            <a:pPr indent="0" lvl="0" marL="0" rtl="0" algn="l">
              <a:lnSpc>
                <a:spcPct val="115000"/>
              </a:lnSpc>
              <a:spcBef>
                <a:spcPts val="1200"/>
              </a:spcBef>
              <a:spcAft>
                <a:spcPts val="0"/>
              </a:spcAft>
              <a:buSzPts val="1946"/>
              <a:buNone/>
            </a:pPr>
            <a:r>
              <a:t/>
            </a:r>
            <a:endParaRPr/>
          </a:p>
          <a:p>
            <a:pPr indent="0" lvl="0" marL="0" rtl="0" algn="l">
              <a:lnSpc>
                <a:spcPct val="115000"/>
              </a:lnSpc>
              <a:spcBef>
                <a:spcPts val="1200"/>
              </a:spcBef>
              <a:spcAft>
                <a:spcPts val="0"/>
              </a:spcAft>
              <a:buSzPts val="1946"/>
              <a:buNone/>
            </a:pPr>
            <a:r>
              <a:rPr lang="en-US"/>
              <a:t> </a:t>
            </a:r>
            <a:endParaRPr/>
          </a:p>
          <a:p>
            <a:pPr indent="0" lvl="0" marL="0" rtl="0" algn="l">
              <a:lnSpc>
                <a:spcPct val="115000"/>
              </a:lnSpc>
              <a:spcBef>
                <a:spcPts val="1200"/>
              </a:spcBef>
              <a:spcAft>
                <a:spcPts val="0"/>
              </a:spcAft>
              <a:buSzPts val="1946"/>
              <a:buNone/>
            </a:pPr>
            <a:r>
              <a:t/>
            </a:r>
            <a:endParaRPr/>
          </a:p>
          <a:p>
            <a:pPr indent="0" lvl="0" marL="0" rtl="0" algn="l">
              <a:lnSpc>
                <a:spcPct val="115000"/>
              </a:lnSpc>
              <a:spcBef>
                <a:spcPts val="1200"/>
              </a:spcBef>
              <a:spcAft>
                <a:spcPts val="0"/>
              </a:spcAft>
              <a:buSzPts val="1946"/>
              <a:buNone/>
            </a:pPr>
            <a:r>
              <a:rPr lang="en-US"/>
              <a:t>Route:</a:t>
            </a:r>
            <a:endParaRPr/>
          </a:p>
          <a:p>
            <a:pPr indent="0" lvl="0" marL="0" rtl="0" algn="l">
              <a:lnSpc>
                <a:spcPct val="115000"/>
              </a:lnSpc>
              <a:spcBef>
                <a:spcPts val="1200"/>
              </a:spcBef>
              <a:spcAft>
                <a:spcPts val="0"/>
              </a:spcAft>
              <a:buSzPts val="1946"/>
              <a:buNone/>
            </a:pPr>
            <a:r>
              <a:rPr lang="en-US"/>
              <a:t>GET </a:t>
            </a:r>
            <a:r>
              <a:rPr lang="en-US" u="sng">
                <a:solidFill>
                  <a:schemeClr val="hlink"/>
                </a:solidFill>
                <a:hlinkClick r:id="rId4"/>
              </a:rPr>
              <a:t>https://api.themoviedb.org/3/search/movie?api_key=</a:t>
            </a:r>
            <a:r>
              <a:rPr lang="en-US" u="sng">
                <a:solidFill>
                  <a:schemeClr val="hlink"/>
                </a:solidFill>
                <a:highlight>
                  <a:srgbClr val="FFF2CC"/>
                </a:highlight>
                <a:hlinkClick r:id="rId5"/>
              </a:rPr>
              <a:t>{apikey}</a:t>
            </a:r>
            <a:r>
              <a:rPr lang="en-US" u="sng">
                <a:solidFill>
                  <a:schemeClr val="hlink"/>
                </a:solidFill>
                <a:hlinkClick r:id="rId6"/>
              </a:rPr>
              <a:t>&amp;language=en-US&amp;query=coco&amp;page=1&amp;include_adult=false</a:t>
            </a:r>
            <a:r>
              <a:rPr lang="en-US"/>
              <a:t> </a:t>
            </a:r>
            <a:endParaRPr/>
          </a:p>
          <a:p>
            <a:pPr indent="0" lvl="0" marL="0" rtl="0" algn="l">
              <a:lnSpc>
                <a:spcPct val="115000"/>
              </a:lnSpc>
              <a:spcBef>
                <a:spcPts val="1200"/>
              </a:spcBef>
              <a:spcAft>
                <a:spcPts val="0"/>
              </a:spcAft>
              <a:buSzPts val="1946"/>
              <a:buNone/>
            </a:pPr>
            <a:r>
              <a:rPr lang="en-US"/>
              <a:t>Remember the parts of a URI</a:t>
            </a:r>
            <a:endParaRPr/>
          </a:p>
          <a:p>
            <a:pPr indent="0" lvl="0" marL="0" rtl="0" algn="l">
              <a:lnSpc>
                <a:spcPct val="115000"/>
              </a:lnSpc>
              <a:spcBef>
                <a:spcPts val="1200"/>
              </a:spcBef>
              <a:spcAft>
                <a:spcPts val="0"/>
              </a:spcAft>
              <a:buSzPts val="1946"/>
              <a:buNone/>
            </a:pPr>
            <a:r>
              <a:t/>
            </a:r>
            <a:endParaRPr/>
          </a:p>
          <a:p>
            <a:pPr indent="0" lvl="0" marL="0" rtl="0" algn="l">
              <a:lnSpc>
                <a:spcPct val="115000"/>
              </a:lnSpc>
              <a:spcBef>
                <a:spcPts val="1200"/>
              </a:spcBef>
              <a:spcAft>
                <a:spcPts val="1200"/>
              </a:spcAft>
              <a:buSzPts val="1946"/>
              <a:buNone/>
            </a:pPr>
            <a:r>
              <a:rPr lang="en-US" u="sng">
                <a:solidFill>
                  <a:schemeClr val="hlink"/>
                </a:solidFill>
                <a:hlinkClick r:id="rId7"/>
              </a:rPr>
              <a:t>https://www.themoviedb.org/search?query=coco</a:t>
            </a:r>
            <a:r>
              <a:rPr lang="en-US"/>
              <a:t> </a:t>
            </a:r>
            <a:endParaRPr/>
          </a:p>
        </p:txBody>
      </p:sp>
      <p:pic>
        <p:nvPicPr>
          <p:cNvPr id="320" name="Google Shape;320;p41"/>
          <p:cNvPicPr preferRelativeResize="0"/>
          <p:nvPr/>
        </p:nvPicPr>
        <p:blipFill rotWithShape="1">
          <a:blip r:embed="rId8">
            <a:alphaModFix/>
          </a:blip>
          <a:srcRect b="36688" l="0" r="11590" t="33611"/>
          <a:stretch/>
        </p:blipFill>
        <p:spPr>
          <a:xfrm>
            <a:off x="388600" y="5387125"/>
            <a:ext cx="6981025" cy="520475"/>
          </a:xfrm>
          <a:prstGeom prst="rect">
            <a:avLst/>
          </a:prstGeom>
          <a:noFill/>
          <a:ln>
            <a:noFill/>
          </a:ln>
        </p:spPr>
      </p:pic>
      <p:pic>
        <p:nvPicPr>
          <p:cNvPr id="321" name="Google Shape;321;p41"/>
          <p:cNvPicPr preferRelativeResize="0"/>
          <p:nvPr/>
        </p:nvPicPr>
        <p:blipFill rotWithShape="1">
          <a:blip r:embed="rId9">
            <a:alphaModFix/>
          </a:blip>
          <a:srcRect b="25088" l="0" r="0" t="0"/>
          <a:stretch/>
        </p:blipFill>
        <p:spPr>
          <a:xfrm>
            <a:off x="2644825" y="1536625"/>
            <a:ext cx="5262976" cy="20241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2"/>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Search Movie Database: Response</a:t>
            </a:r>
            <a:endParaRPr/>
          </a:p>
        </p:txBody>
      </p:sp>
      <p:sp>
        <p:nvSpPr>
          <p:cNvPr id="328" name="Google Shape;328;p42"/>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US"/>
              <a:t>API </a:t>
            </a:r>
            <a:r>
              <a:rPr lang="en-US" u="sng">
                <a:solidFill>
                  <a:schemeClr val="hlink"/>
                </a:solidFill>
                <a:hlinkClick r:id="rId3"/>
              </a:rPr>
              <a:t>3/search/movie</a:t>
            </a:r>
            <a:endParaRPr/>
          </a:p>
        </p:txBody>
      </p:sp>
      <p:pic>
        <p:nvPicPr>
          <p:cNvPr id="329" name="Google Shape;329;p42"/>
          <p:cNvPicPr preferRelativeResize="0"/>
          <p:nvPr/>
        </p:nvPicPr>
        <p:blipFill rotWithShape="1">
          <a:blip r:embed="rId4">
            <a:alphaModFix/>
          </a:blip>
          <a:srcRect b="0" l="0" r="20262" t="0"/>
          <a:stretch/>
        </p:blipFill>
        <p:spPr>
          <a:xfrm>
            <a:off x="146675" y="1272850"/>
            <a:ext cx="4348450" cy="2434900"/>
          </a:xfrm>
          <a:prstGeom prst="rect">
            <a:avLst/>
          </a:prstGeom>
          <a:noFill/>
          <a:ln>
            <a:noFill/>
          </a:ln>
        </p:spPr>
      </p:pic>
      <p:pic>
        <p:nvPicPr>
          <p:cNvPr id="330" name="Google Shape;330;p42"/>
          <p:cNvPicPr preferRelativeResize="0"/>
          <p:nvPr/>
        </p:nvPicPr>
        <p:blipFill rotWithShape="1">
          <a:blip r:embed="rId5">
            <a:alphaModFix/>
          </a:blip>
          <a:srcRect b="0" l="0" r="0" t="0"/>
          <a:stretch/>
        </p:blipFill>
        <p:spPr>
          <a:xfrm>
            <a:off x="223550" y="3869775"/>
            <a:ext cx="3549425" cy="2286425"/>
          </a:xfrm>
          <a:prstGeom prst="rect">
            <a:avLst/>
          </a:prstGeom>
          <a:noFill/>
          <a:ln>
            <a:noFill/>
          </a:ln>
        </p:spPr>
      </p:pic>
      <p:pic>
        <p:nvPicPr>
          <p:cNvPr id="331" name="Google Shape;331;p42"/>
          <p:cNvPicPr preferRelativeResize="0"/>
          <p:nvPr/>
        </p:nvPicPr>
        <p:blipFill rotWithShape="1">
          <a:blip r:embed="rId6">
            <a:alphaModFix/>
          </a:blip>
          <a:srcRect b="0" l="0" r="0" t="0"/>
          <a:stretch/>
        </p:blipFill>
        <p:spPr>
          <a:xfrm>
            <a:off x="5076601" y="1885864"/>
            <a:ext cx="3549425" cy="2085924"/>
          </a:xfrm>
          <a:prstGeom prst="rect">
            <a:avLst/>
          </a:prstGeom>
          <a:noFill/>
          <a:ln>
            <a:noFill/>
          </a:ln>
        </p:spPr>
      </p:pic>
      <p:pic>
        <p:nvPicPr>
          <p:cNvPr id="332" name="Google Shape;332;p42"/>
          <p:cNvPicPr preferRelativeResize="0"/>
          <p:nvPr/>
        </p:nvPicPr>
        <p:blipFill rotWithShape="1">
          <a:blip r:embed="rId7">
            <a:alphaModFix/>
          </a:blip>
          <a:srcRect b="0" l="0" r="24076" t="0"/>
          <a:stretch/>
        </p:blipFill>
        <p:spPr>
          <a:xfrm>
            <a:off x="4247997" y="4570225"/>
            <a:ext cx="4751201" cy="1590675"/>
          </a:xfrm>
          <a:prstGeom prst="rect">
            <a:avLst/>
          </a:prstGeom>
          <a:noFill/>
          <a:ln>
            <a:noFill/>
          </a:ln>
        </p:spPr>
      </p:pic>
      <p:sp>
        <p:nvSpPr>
          <p:cNvPr id="333" name="Google Shape;333;p42"/>
          <p:cNvSpPr txBox="1"/>
          <p:nvPr/>
        </p:nvSpPr>
        <p:spPr>
          <a:xfrm>
            <a:off x="146675" y="6271575"/>
            <a:ext cx="4101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chemeClr val="hlink"/>
                </a:solidFill>
                <a:latin typeface="Arial"/>
                <a:ea typeface="Arial"/>
                <a:cs typeface="Arial"/>
                <a:sym typeface="Arial"/>
                <a:hlinkClick r:id="rId8"/>
              </a:rPr>
              <a:t>What Is JSON and How Do You Use It?</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Search Movie Database Error: HTTP Status Codes</a:t>
            </a:r>
            <a:endParaRPr/>
          </a:p>
        </p:txBody>
      </p:sp>
      <p:sp>
        <p:nvSpPr>
          <p:cNvPr id="340" name="Google Shape;340;p43"/>
          <p:cNvSpPr txBox="1"/>
          <p:nvPr>
            <p:ph idx="1" type="body"/>
          </p:nvPr>
        </p:nvSpPr>
        <p:spPr>
          <a:xfrm>
            <a:off x="246525" y="1223708"/>
            <a:ext cx="8520600" cy="4555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u="sng">
                <a:solidFill>
                  <a:schemeClr val="hlink"/>
                </a:solidFill>
                <a:hlinkClick r:id="rId3"/>
              </a:rPr>
              <a:t>API Status Codes — The Movie Database (TMDB)</a:t>
            </a:r>
            <a:r>
              <a:rPr lang="en-US"/>
              <a:t> </a:t>
            </a:r>
            <a:endParaRPr/>
          </a:p>
          <a:p>
            <a:pPr indent="0" lvl="0" marL="0" rtl="0" algn="l">
              <a:lnSpc>
                <a:spcPct val="115000"/>
              </a:lnSpc>
              <a:spcBef>
                <a:spcPts val="1200"/>
              </a:spcBef>
              <a:spcAft>
                <a:spcPts val="0"/>
              </a:spcAft>
              <a:buSzPts val="1800"/>
              <a:buNone/>
            </a:pPr>
            <a:r>
              <a:rPr lang="en-US" u="sng">
                <a:solidFill>
                  <a:schemeClr val="accent5"/>
                </a:solidFill>
                <a:hlinkClick r:id="rId4">
                  <a:extLst>
                    <a:ext uri="{A12FA001-AC4F-418D-AE19-62706E023703}">
                      <ahyp:hlinkClr val="tx"/>
                    </a:ext>
                  </a:extLst>
                </a:hlinkClick>
              </a:rPr>
              <a:t>https://api.themoviedb.org/3/search/movie?api_key=</a:t>
            </a:r>
            <a:r>
              <a:rPr lang="en-US" u="sng">
                <a:solidFill>
                  <a:schemeClr val="accent5"/>
                </a:solidFill>
                <a:highlight>
                  <a:srgbClr val="FFF2CC"/>
                </a:highlight>
                <a:hlinkClick r:id="rId5">
                  <a:extLst>
                    <a:ext uri="{A12FA001-AC4F-418D-AE19-62706E023703}">
                      <ahyp:hlinkClr val="tx"/>
                    </a:ext>
                  </a:extLst>
                </a:hlinkClick>
              </a:rPr>
              <a:t>1</a:t>
            </a:r>
            <a:r>
              <a:rPr lang="en-US" u="sng">
                <a:solidFill>
                  <a:schemeClr val="accent5"/>
                </a:solidFill>
                <a:hlinkClick r:id="rId6">
                  <a:extLst>
                    <a:ext uri="{A12FA001-AC4F-418D-AE19-62706E023703}">
                      <ahyp:hlinkClr val="tx"/>
                    </a:ext>
                  </a:extLst>
                </a:hlinkClick>
              </a:rPr>
              <a:t>&amp;language=en-US&amp;query=coco&amp;page=1&amp;include_adult=false</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n-US"/>
              <a:t>curl -v 'https://api.themoviedb.org/3/search/movie?api_key=1&amp;language=en-US&amp;query=coco&amp;page=1&amp;include_adult=false'</a:t>
            </a:r>
            <a:endParaRPr/>
          </a:p>
        </p:txBody>
      </p:sp>
      <p:pic>
        <p:nvPicPr>
          <p:cNvPr id="341" name="Google Shape;341;p43"/>
          <p:cNvPicPr preferRelativeResize="0"/>
          <p:nvPr/>
        </p:nvPicPr>
        <p:blipFill rotWithShape="1">
          <a:blip r:embed="rId7">
            <a:alphaModFix/>
          </a:blip>
          <a:srcRect b="0" l="0" r="0" t="0"/>
          <a:stretch/>
        </p:blipFill>
        <p:spPr>
          <a:xfrm>
            <a:off x="4068463" y="2245600"/>
            <a:ext cx="3831475" cy="1545675"/>
          </a:xfrm>
          <a:prstGeom prst="rect">
            <a:avLst/>
          </a:prstGeom>
          <a:noFill/>
          <a:ln>
            <a:noFill/>
          </a:ln>
        </p:spPr>
      </p:pic>
      <p:pic>
        <p:nvPicPr>
          <p:cNvPr id="342" name="Google Shape;342;p43"/>
          <p:cNvPicPr preferRelativeResize="0"/>
          <p:nvPr/>
        </p:nvPicPr>
        <p:blipFill rotWithShape="1">
          <a:blip r:embed="rId8">
            <a:alphaModFix/>
          </a:blip>
          <a:srcRect b="0" l="0" r="0" t="0"/>
          <a:stretch/>
        </p:blipFill>
        <p:spPr>
          <a:xfrm>
            <a:off x="4316898" y="4797023"/>
            <a:ext cx="3673550" cy="18086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The Movie Database APIs</a:t>
            </a:r>
            <a:endParaRPr/>
          </a:p>
        </p:txBody>
      </p:sp>
      <p:sp>
        <p:nvSpPr>
          <p:cNvPr id="349" name="Google Shape;349;p4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a:t>Explore APIs for </a:t>
            </a:r>
            <a:r>
              <a:rPr lang="en-US" u="sng">
                <a:solidFill>
                  <a:schemeClr val="accent5"/>
                </a:solidFill>
                <a:hlinkClick r:id="rId3">
                  <a:extLst>
                    <a:ext uri="{A12FA001-AC4F-418D-AE19-62706E023703}">
                      <ahyp:hlinkClr val="tx"/>
                    </a:ext>
                  </a:extLst>
                </a:hlinkClick>
              </a:rPr>
              <a:t>https://www.themoviedb.org/</a:t>
            </a:r>
            <a:endParaRPr sz="1900"/>
          </a:p>
          <a:p>
            <a:pPr indent="-349250" lvl="0" marL="457200" rtl="0" algn="l">
              <a:lnSpc>
                <a:spcPct val="115000"/>
              </a:lnSpc>
              <a:spcBef>
                <a:spcPts val="1200"/>
              </a:spcBef>
              <a:spcAft>
                <a:spcPts val="0"/>
              </a:spcAft>
              <a:buSzPts val="1900"/>
              <a:buChar char="●"/>
            </a:pPr>
            <a:r>
              <a:rPr lang="en-US" sz="1900" u="sng">
                <a:solidFill>
                  <a:schemeClr val="hlink"/>
                </a:solidFill>
                <a:hlinkClick r:id="rId4"/>
              </a:rPr>
              <a:t>API Overview — The Movie Database (TMDB)</a:t>
            </a:r>
            <a:endParaRPr sz="1900"/>
          </a:p>
          <a:p>
            <a:pPr indent="-349250" lvl="0" marL="457200" rtl="0" algn="l">
              <a:lnSpc>
                <a:spcPct val="115000"/>
              </a:lnSpc>
              <a:spcBef>
                <a:spcPts val="0"/>
              </a:spcBef>
              <a:spcAft>
                <a:spcPts val="0"/>
              </a:spcAft>
              <a:buSzPts val="1900"/>
              <a:buChar char="●"/>
            </a:pPr>
            <a:r>
              <a:rPr lang="en-US" sz="1900" u="sng">
                <a:solidFill>
                  <a:schemeClr val="hlink"/>
                </a:solidFill>
                <a:hlinkClick r:id="rId5"/>
              </a:rPr>
              <a:t>account</a:t>
            </a:r>
            <a:endParaRPr sz="1900"/>
          </a:p>
          <a:p>
            <a:pPr indent="-349250" lvl="0" marL="457200" rtl="0" algn="l">
              <a:lnSpc>
                <a:spcPct val="115000"/>
              </a:lnSpc>
              <a:spcBef>
                <a:spcPts val="0"/>
              </a:spcBef>
              <a:spcAft>
                <a:spcPts val="0"/>
              </a:spcAft>
              <a:buSzPts val="1900"/>
              <a:buChar char="●"/>
            </a:pPr>
            <a:r>
              <a:rPr lang="en-US" sz="1900" u="sng">
                <a:solidFill>
                  <a:schemeClr val="hlink"/>
                </a:solidFill>
                <a:hlinkClick r:id="rId6"/>
              </a:rPr>
              <a:t>Introduction to APIs</a:t>
            </a:r>
            <a:endParaRPr sz="1900"/>
          </a:p>
          <a:p>
            <a:pPr indent="-349250" lvl="0" marL="457200" rtl="0" algn="l">
              <a:lnSpc>
                <a:spcPct val="115000"/>
              </a:lnSpc>
              <a:spcBef>
                <a:spcPts val="0"/>
              </a:spcBef>
              <a:spcAft>
                <a:spcPts val="0"/>
              </a:spcAft>
              <a:buSzPts val="1900"/>
              <a:buChar char="●"/>
            </a:pPr>
            <a:r>
              <a:rPr lang="en-US" sz="1900" u="sng">
                <a:solidFill>
                  <a:schemeClr val="hlink"/>
                </a:solidFill>
                <a:hlinkClick r:id="rId7"/>
              </a:rPr>
              <a:t>curl.1 the man page</a:t>
            </a:r>
            <a:r>
              <a:rPr lang="en-US" sz="1900"/>
              <a:t> (standard in Linux, MacOs; https://curl.se/windows/ for windows) </a:t>
            </a:r>
            <a:endParaRPr sz="1900"/>
          </a:p>
          <a:p>
            <a:pPr indent="-349250" lvl="0" marL="457200" rtl="0" algn="l">
              <a:lnSpc>
                <a:spcPct val="115000"/>
              </a:lnSpc>
              <a:spcBef>
                <a:spcPts val="0"/>
              </a:spcBef>
              <a:spcAft>
                <a:spcPts val="0"/>
              </a:spcAft>
              <a:buSzPts val="1900"/>
              <a:buChar char="●"/>
            </a:pPr>
            <a:r>
              <a:rPr lang="en-US" sz="1900" u="sng">
                <a:solidFill>
                  <a:schemeClr val="hlink"/>
                </a:solidFill>
                <a:hlinkClick r:id="rId8"/>
              </a:rPr>
              <a:t>JSON Viewer - Chrome Web Store</a:t>
            </a:r>
            <a:r>
              <a:rPr lang="en-US" sz="1900"/>
              <a:t> </a:t>
            </a:r>
            <a:endParaRPr sz="1900"/>
          </a:p>
        </p:txBody>
      </p:sp>
      <p:pic>
        <p:nvPicPr>
          <p:cNvPr id="350" name="Google Shape;350;p44"/>
          <p:cNvPicPr preferRelativeResize="0"/>
          <p:nvPr/>
        </p:nvPicPr>
        <p:blipFill rotWithShape="1">
          <a:blip r:embed="rId9">
            <a:alphaModFix/>
          </a:blip>
          <a:srcRect b="71706" l="0" r="0" t="0"/>
          <a:stretch/>
        </p:blipFill>
        <p:spPr>
          <a:xfrm>
            <a:off x="5447658" y="3860025"/>
            <a:ext cx="1620541" cy="1107175"/>
          </a:xfrm>
          <a:prstGeom prst="rect">
            <a:avLst/>
          </a:prstGeom>
          <a:noFill/>
          <a:ln>
            <a:noFill/>
          </a:ln>
        </p:spPr>
      </p:pic>
      <p:pic>
        <p:nvPicPr>
          <p:cNvPr id="351" name="Google Shape;351;p44"/>
          <p:cNvPicPr preferRelativeResize="0"/>
          <p:nvPr/>
        </p:nvPicPr>
        <p:blipFill rotWithShape="1">
          <a:blip r:embed="rId10">
            <a:alphaModFix/>
          </a:blip>
          <a:srcRect b="0" l="0" r="18414" t="0"/>
          <a:stretch/>
        </p:blipFill>
        <p:spPr>
          <a:xfrm>
            <a:off x="7220800" y="3542600"/>
            <a:ext cx="1620550" cy="3194800"/>
          </a:xfrm>
          <a:prstGeom prst="rect">
            <a:avLst/>
          </a:prstGeom>
          <a:noFill/>
          <a:ln>
            <a:noFill/>
          </a:ln>
        </p:spPr>
      </p:pic>
      <p:pic>
        <p:nvPicPr>
          <p:cNvPr id="352" name="Google Shape;352;p44"/>
          <p:cNvPicPr preferRelativeResize="0"/>
          <p:nvPr/>
        </p:nvPicPr>
        <p:blipFill rotWithShape="1">
          <a:blip r:embed="rId9">
            <a:alphaModFix/>
          </a:blip>
          <a:srcRect b="0" l="0" r="16923" t="84702"/>
          <a:stretch/>
        </p:blipFill>
        <p:spPr>
          <a:xfrm>
            <a:off x="5399338" y="5292275"/>
            <a:ext cx="1717175" cy="7634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5"/>
          <p:cNvSpPr txBox="1"/>
          <p:nvPr>
            <p:ph type="title"/>
          </p:nvPr>
        </p:nvSpPr>
        <p:spPr>
          <a:xfrm>
            <a:off x="311700" y="137042"/>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CRUDI: Basic Operations</a:t>
            </a:r>
            <a:endParaRPr/>
          </a:p>
        </p:txBody>
      </p:sp>
      <p:sp>
        <p:nvSpPr>
          <p:cNvPr id="359" name="Google Shape;359;p45"/>
          <p:cNvSpPr txBox="1"/>
          <p:nvPr>
            <p:ph idx="1" type="body"/>
          </p:nvPr>
        </p:nvSpPr>
        <p:spPr>
          <a:xfrm>
            <a:off x="194375" y="900558"/>
            <a:ext cx="8520600" cy="4555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US"/>
              <a:t>RESTful API defines up to five operations on a resource, captured by the acronym CRUDI: </a:t>
            </a:r>
            <a:endParaRPr/>
          </a:p>
        </p:txBody>
      </p:sp>
      <p:pic>
        <p:nvPicPr>
          <p:cNvPr id="360" name="Google Shape;360;p45"/>
          <p:cNvPicPr preferRelativeResize="0"/>
          <p:nvPr/>
        </p:nvPicPr>
        <p:blipFill rotWithShape="1">
          <a:blip r:embed="rId3">
            <a:alphaModFix/>
          </a:blip>
          <a:srcRect b="0" l="0" r="0" t="0"/>
          <a:stretch/>
        </p:blipFill>
        <p:spPr>
          <a:xfrm>
            <a:off x="1300775" y="1367025"/>
            <a:ext cx="7713774" cy="2022350"/>
          </a:xfrm>
          <a:prstGeom prst="rect">
            <a:avLst/>
          </a:prstGeom>
          <a:noFill/>
          <a:ln>
            <a:noFill/>
          </a:ln>
        </p:spPr>
      </p:pic>
      <p:pic>
        <p:nvPicPr>
          <p:cNvPr id="361" name="Google Shape;361;p45"/>
          <p:cNvPicPr preferRelativeResize="0"/>
          <p:nvPr/>
        </p:nvPicPr>
        <p:blipFill rotWithShape="1">
          <a:blip r:embed="rId4">
            <a:alphaModFix/>
          </a:blip>
          <a:srcRect b="0" l="0" r="0" t="0"/>
          <a:stretch/>
        </p:blipFill>
        <p:spPr>
          <a:xfrm>
            <a:off x="298450" y="4848350"/>
            <a:ext cx="6669676" cy="1426800"/>
          </a:xfrm>
          <a:prstGeom prst="rect">
            <a:avLst/>
          </a:prstGeom>
          <a:noFill/>
          <a:ln>
            <a:noFill/>
          </a:ln>
        </p:spPr>
      </p:pic>
      <p:sp>
        <p:nvSpPr>
          <p:cNvPr id="362" name="Google Shape;362;p45"/>
          <p:cNvSpPr txBox="1"/>
          <p:nvPr/>
        </p:nvSpPr>
        <p:spPr>
          <a:xfrm>
            <a:off x="298438" y="3855850"/>
            <a:ext cx="7713900" cy="78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0" i="0" lang="en-US" sz="1800" u="none" cap="none" strike="noStrike">
                <a:solidFill>
                  <a:schemeClr val="dk2"/>
                </a:solidFill>
                <a:latin typeface="Arial"/>
                <a:ea typeface="Arial"/>
                <a:cs typeface="Arial"/>
                <a:sym typeface="Arial"/>
              </a:rPr>
              <a:t>RESTful : What is resource, what is operation, and any other necessary data?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6"/>
          <p:cNvSpPr txBox="1"/>
          <p:nvPr>
            <p:ph type="title"/>
          </p:nvPr>
        </p:nvSpPr>
        <p:spPr>
          <a:xfrm>
            <a:off x="393950" y="65075"/>
            <a:ext cx="7924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D2D8A"/>
              </a:buClr>
              <a:buSzPts val="4400"/>
              <a:buFont typeface="Helvetica Neue"/>
              <a:buNone/>
            </a:pPr>
            <a:r>
              <a:rPr b="0" i="0" lang="en-US" sz="4400" u="none">
                <a:latin typeface="Helvetica Neue"/>
                <a:ea typeface="Helvetica Neue"/>
                <a:cs typeface="Helvetica Neue"/>
                <a:sym typeface="Helvetica Neue"/>
              </a:rPr>
              <a:t>CRUD on a RESTful resource:</a:t>
            </a:r>
            <a:br>
              <a:rPr b="0" i="0" lang="en-US" sz="4400" u="none">
                <a:latin typeface="Helvetica Neue"/>
                <a:ea typeface="Helvetica Neue"/>
                <a:cs typeface="Helvetica Neue"/>
                <a:sym typeface="Helvetica Neue"/>
              </a:rPr>
            </a:br>
            <a:r>
              <a:rPr b="0" i="0" lang="en-US" sz="4000" u="none">
                <a:latin typeface="Lucida Sans"/>
                <a:ea typeface="Lucida Sans"/>
                <a:cs typeface="Lucida Sans"/>
                <a:sym typeface="Lucida Sans"/>
              </a:rPr>
              <a:t>resources :movies</a:t>
            </a:r>
            <a:endParaRPr/>
          </a:p>
        </p:txBody>
      </p:sp>
      <p:sp>
        <p:nvSpPr>
          <p:cNvPr id="369" name="Google Shape;369;p46"/>
          <p:cNvSpPr txBox="1"/>
          <p:nvPr>
            <p:ph idx="1" type="body"/>
          </p:nvPr>
        </p:nvSpPr>
        <p:spPr>
          <a:xfrm>
            <a:off x="304800" y="1371600"/>
            <a:ext cx="8839200" cy="4754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360"/>
              </a:spcBef>
              <a:spcAft>
                <a:spcPts val="0"/>
              </a:spcAft>
              <a:buClr>
                <a:schemeClr val="dk1"/>
              </a:buClr>
              <a:buSzPts val="1800"/>
              <a:buFont typeface="Lucida Sans"/>
              <a:buNone/>
            </a:pPr>
            <a:r>
              <a:rPr lang="en-US"/>
              <a:t>get '/</a:t>
            </a:r>
            <a:r>
              <a:rPr lang="en-US">
                <a:solidFill>
                  <a:srgbClr val="FFD966"/>
                </a:solidFill>
              </a:rPr>
              <a:t>movies'</a:t>
            </a:r>
            <a:r>
              <a:rPr lang="en-US"/>
              <a:t> =&gt; 'movies#index', :as =&gt; 'movies'</a:t>
            </a:r>
            <a:endParaRPr/>
          </a:p>
          <a:p>
            <a:pPr indent="0" lvl="0" marL="0" rtl="0" algn="l">
              <a:lnSpc>
                <a:spcPct val="115000"/>
              </a:lnSpc>
              <a:spcBef>
                <a:spcPts val="360"/>
              </a:spcBef>
              <a:spcAft>
                <a:spcPts val="0"/>
              </a:spcAft>
              <a:buClr>
                <a:schemeClr val="dk1"/>
              </a:buClr>
              <a:buSzPts val="1800"/>
              <a:buFont typeface="Lucida Sans"/>
              <a:buNone/>
            </a:pPr>
            <a:r>
              <a:rPr lang="en-US"/>
              <a:t>get '/movies/:id/new'=&gt;'movies#new', :as=&gt;'new_movie'</a:t>
            </a:r>
            <a:endParaRPr/>
          </a:p>
          <a:p>
            <a:pPr indent="0" lvl="0" marL="0" rtl="0" algn="l">
              <a:lnSpc>
                <a:spcPct val="115000"/>
              </a:lnSpc>
              <a:spcBef>
                <a:spcPts val="360"/>
              </a:spcBef>
              <a:spcAft>
                <a:spcPts val="0"/>
              </a:spcAft>
              <a:buClr>
                <a:schemeClr val="dk1"/>
              </a:buClr>
              <a:buSzPts val="1800"/>
              <a:buFont typeface="Lucida Sans"/>
              <a:buNone/>
            </a:pPr>
            <a:r>
              <a:rPr lang="en-US"/>
              <a:t>post '/movies' =&gt; 'movies#create', :as =&gt; 'movie'</a:t>
            </a:r>
            <a:endParaRPr/>
          </a:p>
          <a:p>
            <a:pPr indent="0" lvl="0" marL="0" rtl="0" algn="l">
              <a:lnSpc>
                <a:spcPct val="115000"/>
              </a:lnSpc>
              <a:spcBef>
                <a:spcPts val="360"/>
              </a:spcBef>
              <a:spcAft>
                <a:spcPts val="0"/>
              </a:spcAft>
              <a:buClr>
                <a:schemeClr val="dk1"/>
              </a:buClr>
              <a:buSzPts val="1800"/>
              <a:buFont typeface="Lucida Sans"/>
              <a:buNone/>
            </a:pPr>
            <a:r>
              <a:rPr lang="en-US"/>
              <a:t>get '/movies/:id' =&gt; 'movies#show', :as =&gt; 'movie'</a:t>
            </a:r>
            <a:endParaRPr/>
          </a:p>
          <a:p>
            <a:pPr indent="0" lvl="0" marL="0" rtl="0" algn="l">
              <a:lnSpc>
                <a:spcPct val="115000"/>
              </a:lnSpc>
              <a:spcBef>
                <a:spcPts val="360"/>
              </a:spcBef>
              <a:spcAft>
                <a:spcPts val="0"/>
              </a:spcAft>
              <a:buClr>
                <a:schemeClr val="dk1"/>
              </a:buClr>
              <a:buSzPts val="1800"/>
              <a:buFont typeface="Lucida Sans"/>
              <a:buNone/>
            </a:pPr>
            <a:r>
              <a:rPr lang="en-US"/>
              <a:t>get '/movies/:id/edit' =&gt; 'movies#edit', :as =&gt; 'edit_movie'</a:t>
            </a:r>
            <a:endParaRPr/>
          </a:p>
          <a:p>
            <a:pPr indent="0" lvl="0" marL="0" rtl="0" algn="l">
              <a:lnSpc>
                <a:spcPct val="115000"/>
              </a:lnSpc>
              <a:spcBef>
                <a:spcPts val="360"/>
              </a:spcBef>
              <a:spcAft>
                <a:spcPts val="0"/>
              </a:spcAft>
              <a:buClr>
                <a:schemeClr val="dk1"/>
              </a:buClr>
              <a:buSzPts val="1800"/>
              <a:buFont typeface="Lucida Sans"/>
              <a:buNone/>
            </a:pPr>
            <a:r>
              <a:rPr lang="en-US"/>
              <a:t>put '/movies/:id'=&gt;'movies#update', :as=&gt;'movie'</a:t>
            </a:r>
            <a:endParaRPr/>
          </a:p>
          <a:p>
            <a:pPr indent="0" lvl="0" marL="0" rtl="0" algn="l">
              <a:lnSpc>
                <a:spcPct val="115000"/>
              </a:lnSpc>
              <a:spcBef>
                <a:spcPts val="360"/>
              </a:spcBef>
              <a:spcAft>
                <a:spcPts val="0"/>
              </a:spcAft>
              <a:buClr>
                <a:schemeClr val="dk1"/>
              </a:buClr>
              <a:buSzPts val="1800"/>
              <a:buFont typeface="Lucida Sans"/>
              <a:buNone/>
            </a:pPr>
            <a:r>
              <a:rPr lang="en-US"/>
              <a:t>delete '/movies/:id' =&gt; 'movies#destroy', :as=&gt;'movie'</a:t>
            </a:r>
            <a:endParaRPr/>
          </a:p>
        </p:txBody>
      </p:sp>
      <p:sp>
        <p:nvSpPr>
          <p:cNvPr id="370" name="Google Shape;370;p46"/>
          <p:cNvSpPr txBox="1"/>
          <p:nvPr/>
        </p:nvSpPr>
        <p:spPr>
          <a:xfrm>
            <a:off x="7010400" y="6400800"/>
            <a:ext cx="21336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Helvetica Neue"/>
              <a:buNone/>
            </a:pPr>
            <a:fld id="{00000000-1234-1234-1234-123412341234}" type="slidenum">
              <a:rPr b="0" i="0" lang="en-US" sz="1400" u="none" cap="none" strike="noStrike">
                <a:solidFill>
                  <a:schemeClr val="dk1"/>
                </a:solidFill>
                <a:latin typeface="Helvetica Neue"/>
                <a:ea typeface="Helvetica Neue"/>
                <a:cs typeface="Helvetica Neue"/>
                <a:sym typeface="Helvetica Neue"/>
              </a:rPr>
              <a:t>‹#›</a:t>
            </a:fld>
            <a:endParaRPr b="0" i="0" sz="1400" u="none" cap="none" strike="noStrike">
              <a:solidFill>
                <a:srgbClr val="000000"/>
              </a:solidFill>
              <a:latin typeface="Arial"/>
              <a:ea typeface="Arial"/>
              <a:cs typeface="Arial"/>
              <a:sym typeface="Arial"/>
            </a:endParaRPr>
          </a:p>
        </p:txBody>
      </p:sp>
      <p:graphicFrame>
        <p:nvGraphicFramePr>
          <p:cNvPr id="371" name="Google Shape;371;p46"/>
          <p:cNvGraphicFramePr/>
          <p:nvPr/>
        </p:nvGraphicFramePr>
        <p:xfrm>
          <a:off x="228600" y="4211450"/>
          <a:ext cx="3000000" cy="3000000"/>
        </p:xfrm>
        <a:graphic>
          <a:graphicData uri="http://schemas.openxmlformats.org/drawingml/2006/table">
            <a:tbl>
              <a:tblPr>
                <a:noFill/>
                <a:tableStyleId>{B4A1D3F5-58A1-443D-978F-836DC81D758F}</a:tableStyleId>
              </a:tblPr>
              <a:tblGrid>
                <a:gridCol w="2971800"/>
                <a:gridCol w="5486400"/>
              </a:tblGrid>
              <a:tr h="476250">
                <a:tc>
                  <a:txBody>
                    <a:bodyPr/>
                    <a:lstStyle/>
                    <a:p>
                      <a:pPr indent="0" lvl="0" marL="0" marR="0" rtl="0" algn="l">
                        <a:lnSpc>
                          <a:spcPct val="100000"/>
                        </a:lnSpc>
                        <a:spcBef>
                          <a:spcPts val="0"/>
                        </a:spcBef>
                        <a:spcAft>
                          <a:spcPts val="0"/>
                        </a:spcAft>
                        <a:buClr>
                          <a:srgbClr val="333399"/>
                        </a:buClr>
                        <a:buSzPts val="1800"/>
                        <a:buFont typeface="Helvetica Neue"/>
                        <a:buNone/>
                      </a:pPr>
                      <a:r>
                        <a:rPr b="1" i="0" lang="en-US" sz="1800" u="none" cap="none" strike="noStrike">
                          <a:solidFill>
                            <a:srgbClr val="333399"/>
                          </a:solidFill>
                          <a:latin typeface="Helvetica Neue"/>
                          <a:ea typeface="Helvetica Neue"/>
                          <a:cs typeface="Helvetica Neue"/>
                          <a:sym typeface="Helvetica Neue"/>
                        </a:rPr>
                        <a:t>Route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333399"/>
                        </a:buClr>
                        <a:buSzPts val="1800"/>
                        <a:buFont typeface="Helvetica Neue"/>
                        <a:buNone/>
                      </a:pPr>
                      <a:r>
                        <a:rPr b="1" i="0" lang="en-US" sz="1800" u="none" cap="none" strike="noStrike">
                          <a:solidFill>
                            <a:srgbClr val="333399"/>
                          </a:solidFill>
                          <a:latin typeface="Helvetica Neue"/>
                          <a:ea typeface="Helvetica Neue"/>
                          <a:cs typeface="Helvetica Neue"/>
                          <a:sym typeface="Helvetica Neue"/>
                        </a:rPr>
                        <a:t>Action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476250">
                <a:tc>
                  <a:txBody>
                    <a:bodyPr/>
                    <a:lstStyle/>
                    <a:p>
                      <a:pPr indent="0" lvl="0" marL="0" marR="0" rtl="0" algn="l">
                        <a:lnSpc>
                          <a:spcPct val="100000"/>
                        </a:lnSpc>
                        <a:spcBef>
                          <a:spcPts val="0"/>
                        </a:spcBef>
                        <a:spcAft>
                          <a:spcPts val="0"/>
                        </a:spcAft>
                        <a:buClr>
                          <a:srgbClr val="333399"/>
                        </a:buClr>
                        <a:buSzPts val="1800"/>
                        <a:buFont typeface="Lucida Sans"/>
                        <a:buNone/>
                      </a:pPr>
                      <a:r>
                        <a:rPr b="0" i="0" lang="en-US" sz="1800" u="none" cap="none" strike="noStrike">
                          <a:solidFill>
                            <a:srgbClr val="333399"/>
                          </a:solidFill>
                          <a:latin typeface="Lucida Sans"/>
                          <a:ea typeface="Lucida Sans"/>
                          <a:cs typeface="Lucida Sans"/>
                          <a:sym typeface="Lucida Sans"/>
                        </a:rPr>
                        <a:t>GET /movies/3</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800"/>
                        <a:buFont typeface="Helvetica Neue"/>
                        <a:buNone/>
                      </a:pPr>
                      <a:r>
                        <a:rPr b="0" i="0" lang="en-US" sz="1800" u="none" cap="none" strike="noStrike">
                          <a:solidFill>
                            <a:srgbClr val="000000"/>
                          </a:solidFill>
                          <a:latin typeface="Helvetica Neue"/>
                          <a:ea typeface="Helvetica Neue"/>
                          <a:cs typeface="Helvetica Neue"/>
                          <a:sym typeface="Helvetica Neue"/>
                        </a:rPr>
                        <a:t>Show info about movie whose ID=3</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476250">
                <a:tc>
                  <a:txBody>
                    <a:bodyPr/>
                    <a:lstStyle/>
                    <a:p>
                      <a:pPr indent="0" lvl="0" marL="0" marR="0" rtl="0" algn="l">
                        <a:lnSpc>
                          <a:spcPct val="100000"/>
                        </a:lnSpc>
                        <a:spcBef>
                          <a:spcPts val="0"/>
                        </a:spcBef>
                        <a:spcAft>
                          <a:spcPts val="0"/>
                        </a:spcAft>
                        <a:buClr>
                          <a:srgbClr val="333399"/>
                        </a:buClr>
                        <a:buSzPts val="1800"/>
                        <a:buFont typeface="Lucida Sans"/>
                        <a:buNone/>
                      </a:pPr>
                      <a:r>
                        <a:rPr b="0" i="0" lang="en-US" sz="1800" u="none" cap="none" strike="noStrike">
                          <a:solidFill>
                            <a:srgbClr val="333399"/>
                          </a:solidFill>
                          <a:latin typeface="Lucida Sans"/>
                          <a:ea typeface="Lucida Sans"/>
                          <a:cs typeface="Lucida Sans"/>
                          <a:sym typeface="Lucida Sans"/>
                        </a:rPr>
                        <a:t>POST /movies</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800"/>
                        <a:buFont typeface="Helvetica Neue"/>
                        <a:buNone/>
                      </a:pPr>
                      <a:r>
                        <a:rPr b="0" i="0" lang="en-US" sz="1800" u="none" cap="none" strike="noStrike">
                          <a:solidFill>
                            <a:srgbClr val="000000"/>
                          </a:solidFill>
                          <a:latin typeface="Helvetica Neue"/>
                          <a:ea typeface="Helvetica Neue"/>
                          <a:cs typeface="Helvetica Neue"/>
                          <a:sym typeface="Helvetica Neue"/>
                        </a:rPr>
                        <a:t>Create new movie from attached form data</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r h="476250">
                <a:tc>
                  <a:txBody>
                    <a:bodyPr/>
                    <a:lstStyle/>
                    <a:p>
                      <a:pPr indent="0" lvl="0" marL="0" marR="0" rtl="0" algn="l">
                        <a:lnSpc>
                          <a:spcPct val="100000"/>
                        </a:lnSpc>
                        <a:spcBef>
                          <a:spcPts val="0"/>
                        </a:spcBef>
                        <a:spcAft>
                          <a:spcPts val="0"/>
                        </a:spcAft>
                        <a:buClr>
                          <a:srgbClr val="333399"/>
                        </a:buClr>
                        <a:buSzPts val="1800"/>
                        <a:buFont typeface="Lucida Sans"/>
                        <a:buNone/>
                      </a:pPr>
                      <a:r>
                        <a:rPr b="0" i="0" lang="en-US" sz="1800" u="none" cap="none" strike="noStrike">
                          <a:solidFill>
                            <a:srgbClr val="333399"/>
                          </a:solidFill>
                          <a:latin typeface="Lucida Sans"/>
                          <a:ea typeface="Lucida Sans"/>
                          <a:cs typeface="Lucida Sans"/>
                          <a:sym typeface="Lucida Sans"/>
                        </a:rPr>
                        <a:t>PUT /movies/5</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c>
                  <a:txBody>
                    <a:bodyPr/>
                    <a:lstStyle/>
                    <a:p>
                      <a:pPr indent="0" lvl="0" marL="0" marR="0" rtl="0" algn="l">
                        <a:lnSpc>
                          <a:spcPct val="100000"/>
                        </a:lnSpc>
                        <a:spcBef>
                          <a:spcPts val="0"/>
                        </a:spcBef>
                        <a:spcAft>
                          <a:spcPts val="0"/>
                        </a:spcAft>
                        <a:buClr>
                          <a:srgbClr val="000000"/>
                        </a:buClr>
                        <a:buSzPts val="1800"/>
                        <a:buFont typeface="Helvetica Neue"/>
                        <a:buNone/>
                      </a:pPr>
                      <a:r>
                        <a:rPr b="0" i="0" lang="en-US" sz="1800" u="none" cap="none" strike="noStrike">
                          <a:solidFill>
                            <a:srgbClr val="000000"/>
                          </a:solidFill>
                          <a:latin typeface="Helvetica Neue"/>
                          <a:ea typeface="Helvetica Neue"/>
                          <a:cs typeface="Helvetica Neue"/>
                          <a:sym typeface="Helvetica Neue"/>
                        </a:rPr>
                        <a:t>Update movie ID 5 from attached form data</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3F4"/>
                    </a:solidFill>
                  </a:tcPr>
                </a:tc>
              </a:tr>
              <a:tr h="476250">
                <a:tc>
                  <a:txBody>
                    <a:bodyPr/>
                    <a:lstStyle/>
                    <a:p>
                      <a:pPr indent="0" lvl="0" marL="0" marR="0" rtl="0" algn="l">
                        <a:lnSpc>
                          <a:spcPct val="100000"/>
                        </a:lnSpc>
                        <a:spcBef>
                          <a:spcPts val="0"/>
                        </a:spcBef>
                        <a:spcAft>
                          <a:spcPts val="0"/>
                        </a:spcAft>
                        <a:buClr>
                          <a:srgbClr val="333399"/>
                        </a:buClr>
                        <a:buSzPts val="1800"/>
                        <a:buFont typeface="Lucida Sans"/>
                        <a:buNone/>
                      </a:pPr>
                      <a:r>
                        <a:rPr b="0" i="0" lang="en-US" sz="1800" u="none" cap="none" strike="noStrike">
                          <a:solidFill>
                            <a:srgbClr val="333399"/>
                          </a:solidFill>
                          <a:latin typeface="Lucida Sans"/>
                          <a:ea typeface="Lucida Sans"/>
                          <a:cs typeface="Lucida Sans"/>
                          <a:sym typeface="Lucida Sans"/>
                        </a:rPr>
                        <a:t>DELETE /movies/5</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c>
                  <a:txBody>
                    <a:bodyPr/>
                    <a:lstStyle/>
                    <a:p>
                      <a:pPr indent="0" lvl="0" marL="0" marR="0" rtl="0" algn="l">
                        <a:lnSpc>
                          <a:spcPct val="100000"/>
                        </a:lnSpc>
                        <a:spcBef>
                          <a:spcPts val="0"/>
                        </a:spcBef>
                        <a:spcAft>
                          <a:spcPts val="0"/>
                        </a:spcAft>
                        <a:buClr>
                          <a:srgbClr val="000000"/>
                        </a:buClr>
                        <a:buSzPts val="1800"/>
                        <a:buFont typeface="Helvetica Neue"/>
                        <a:buNone/>
                      </a:pPr>
                      <a:r>
                        <a:rPr b="0" i="0" lang="en-US" sz="1800" u="none" cap="none" strike="noStrike">
                          <a:solidFill>
                            <a:srgbClr val="000000"/>
                          </a:solidFill>
                          <a:latin typeface="Helvetica Neue"/>
                          <a:ea typeface="Helvetica Neue"/>
                          <a:cs typeface="Helvetica Neue"/>
                          <a:sym typeface="Helvetica Neue"/>
                        </a:rPr>
                        <a:t>Delete movie whose ID=5</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9FA"/>
                    </a:solidFill>
                  </a:tcPr>
                </a:tc>
              </a:tr>
            </a:tbl>
          </a:graphicData>
        </a:graphic>
      </p:graphicFrame>
      <p:sp>
        <p:nvSpPr>
          <p:cNvPr id="372" name="Google Shape;372;p46"/>
          <p:cNvSpPr txBox="1"/>
          <p:nvPr/>
        </p:nvSpPr>
        <p:spPr>
          <a:xfrm>
            <a:off x="6737525" y="1370725"/>
            <a:ext cx="533400" cy="2678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400"/>
              <a:buFont typeface="Helvetica Neue"/>
              <a:buNone/>
            </a:pPr>
            <a:r>
              <a:rPr b="1" i="0" lang="en-US" sz="2400" u="none" cap="none" strike="noStrike">
                <a:solidFill>
                  <a:schemeClr val="dk1"/>
                </a:solidFill>
                <a:latin typeface="Helvetica Neue"/>
                <a:ea typeface="Helvetica Neue"/>
                <a:cs typeface="Helvetica Neue"/>
                <a:sym typeface="Helvetica Neue"/>
              </a:rPr>
              <a:t>I</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F0000"/>
              </a:buClr>
              <a:buSzPts val="2400"/>
              <a:buFont typeface="Helvetica Neue"/>
              <a:buNone/>
            </a:pPr>
            <a:r>
              <a:rPr b="1" i="0" lang="en-US" sz="2400" u="none" cap="none" strike="noStrike">
                <a:solidFill>
                  <a:schemeClr val="dk1"/>
                </a:solidFill>
                <a:latin typeface="Helvetica Neue"/>
                <a:ea typeface="Helvetica Neue"/>
                <a:cs typeface="Helvetica Neue"/>
                <a:sym typeface="Helvetica Neue"/>
              </a:rPr>
              <a:t>C</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FF0000"/>
              </a:buClr>
              <a:buSzPts val="2400"/>
              <a:buFont typeface="Helvetica Neue"/>
              <a:buNone/>
            </a:pPr>
            <a:r>
              <a:rPr b="1" i="0" lang="en-US" sz="2400" u="none" cap="none" strike="noStrike">
                <a:solidFill>
                  <a:schemeClr val="dk1"/>
                </a:solidFill>
                <a:latin typeface="Helvetica Neue"/>
                <a:ea typeface="Helvetica Neue"/>
                <a:cs typeface="Helvetica Neue"/>
                <a:sym typeface="Helvetica Neue"/>
              </a:rPr>
              <a:t>R</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F0000"/>
              </a:buClr>
              <a:buSzPts val="2400"/>
              <a:buFont typeface="Helvetica Neue"/>
              <a:buNone/>
            </a:pPr>
            <a:r>
              <a:rPr b="1" i="0" lang="en-US" sz="2400" u="none" cap="none" strike="noStrike">
                <a:solidFill>
                  <a:schemeClr val="dk1"/>
                </a:solidFill>
                <a:latin typeface="Helvetica Neue"/>
                <a:ea typeface="Helvetica Neue"/>
                <a:cs typeface="Helvetica Neue"/>
                <a:sym typeface="Helvetica Neue"/>
              </a:rPr>
              <a:t>U</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FF0000"/>
              </a:buClr>
              <a:buSzPts val="2400"/>
              <a:buFont typeface="Helvetica Neue"/>
              <a:buNone/>
            </a:pPr>
            <a:r>
              <a:rPr b="1" i="0" lang="en-US" sz="2400" u="none" cap="none" strike="noStrike">
                <a:solidFill>
                  <a:schemeClr val="dk1"/>
                </a:solidFill>
                <a:latin typeface="Helvetica Neue"/>
                <a:ea typeface="Helvetica Neue"/>
                <a:cs typeface="Helvetica Neue"/>
                <a:sym typeface="Helvetica Neue"/>
              </a:rPr>
              <a:t>D</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7"/>
          <p:cNvSpPr txBox="1"/>
          <p:nvPr>
            <p:ph type="title"/>
          </p:nvPr>
        </p:nvSpPr>
        <p:spPr>
          <a:xfrm>
            <a:off x="158000" y="0"/>
            <a:ext cx="7924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800"/>
              <a:buNone/>
            </a:pPr>
            <a:r>
              <a:rPr lang="en-US"/>
              <a:t>Summary: Web Apps as RESTful Services</a:t>
            </a:r>
            <a:endParaRPr/>
          </a:p>
        </p:txBody>
      </p:sp>
      <p:sp>
        <p:nvSpPr>
          <p:cNvPr id="379" name="Google Shape;379;p47"/>
          <p:cNvSpPr txBox="1"/>
          <p:nvPr>
            <p:ph idx="1" type="body"/>
          </p:nvPr>
        </p:nvSpPr>
        <p:spPr>
          <a:xfrm>
            <a:off x="158000" y="840975"/>
            <a:ext cx="8534400" cy="5937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360"/>
              </a:spcBef>
              <a:spcAft>
                <a:spcPts val="0"/>
              </a:spcAft>
              <a:buSzPts val="1800"/>
              <a:buNone/>
            </a:pPr>
            <a:r>
              <a:rPr lang="en-US"/>
              <a:t>REpresentational State Transfer</a:t>
            </a:r>
            <a:endParaRPr/>
          </a:p>
          <a:p>
            <a:pPr indent="-342900" lvl="0" marL="457200" rtl="0" algn="l">
              <a:lnSpc>
                <a:spcPct val="115000"/>
              </a:lnSpc>
              <a:spcBef>
                <a:spcPts val="360"/>
              </a:spcBef>
              <a:spcAft>
                <a:spcPts val="0"/>
              </a:spcAft>
              <a:buSzPts val="1800"/>
              <a:buChar char="●"/>
            </a:pPr>
            <a:r>
              <a:rPr lang="en-US"/>
              <a:t>Everything is a resource</a:t>
            </a:r>
            <a:endParaRPr/>
          </a:p>
          <a:p>
            <a:pPr indent="-342900" lvl="1" marL="914400" rtl="0" algn="l">
              <a:lnSpc>
                <a:spcPct val="115000"/>
              </a:lnSpc>
              <a:spcBef>
                <a:spcPts val="0"/>
              </a:spcBef>
              <a:spcAft>
                <a:spcPts val="0"/>
              </a:spcAft>
              <a:buSzPts val="1800"/>
              <a:buChar char="○"/>
            </a:pPr>
            <a:r>
              <a:rPr lang="en-US"/>
              <a:t>Basic ops: create, read., update, delete, list</a:t>
            </a:r>
            <a:endParaRPr/>
          </a:p>
          <a:p>
            <a:pPr indent="-342900" lvl="1" marL="914400" rtl="0" algn="l">
              <a:lnSpc>
                <a:spcPct val="115000"/>
              </a:lnSpc>
              <a:spcBef>
                <a:spcPts val="0"/>
              </a:spcBef>
              <a:spcAft>
                <a:spcPts val="0"/>
              </a:spcAft>
              <a:buSzPts val="1800"/>
              <a:buChar char="○"/>
            </a:pPr>
            <a:r>
              <a:rPr lang="en-US"/>
              <a:t>If can’t express desired operation may need new resource</a:t>
            </a:r>
            <a:endParaRPr/>
          </a:p>
          <a:p>
            <a:pPr indent="-342900" lvl="0" marL="457200" rtl="0" algn="l">
              <a:lnSpc>
                <a:spcPct val="115000"/>
              </a:lnSpc>
              <a:spcBef>
                <a:spcPts val="0"/>
              </a:spcBef>
              <a:spcAft>
                <a:spcPts val="0"/>
              </a:spcAft>
              <a:buSzPts val="1800"/>
              <a:buChar char="●"/>
            </a:pPr>
            <a:r>
              <a:rPr lang="en-US"/>
              <a:t>RESTful operations identifies resource, operation to be done, and any other data needed to complete operations</a:t>
            </a:r>
            <a:endParaRPr/>
          </a:p>
          <a:p>
            <a:pPr indent="-342900" lvl="0" marL="457200" rtl="0" algn="l">
              <a:lnSpc>
                <a:spcPct val="115000"/>
              </a:lnSpc>
              <a:spcBef>
                <a:spcPts val="0"/>
              </a:spcBef>
              <a:spcAft>
                <a:spcPts val="0"/>
              </a:spcAft>
              <a:buSzPts val="1800"/>
              <a:buChar char="●"/>
            </a:pPr>
            <a:r>
              <a:rPr lang="en-US"/>
              <a:t>Resource can have different representations</a:t>
            </a:r>
            <a:endParaRPr/>
          </a:p>
          <a:p>
            <a:pPr indent="-342900" lvl="1" marL="914400" rtl="0" algn="l">
              <a:lnSpc>
                <a:spcPct val="115000"/>
              </a:lnSpc>
              <a:spcBef>
                <a:spcPts val="0"/>
              </a:spcBef>
              <a:spcAft>
                <a:spcPts val="0"/>
              </a:spcAft>
              <a:buSzPts val="1800"/>
              <a:buChar char="○"/>
            </a:pPr>
            <a:r>
              <a:rPr lang="en-US"/>
              <a:t>HTML page</a:t>
            </a:r>
            <a:endParaRPr/>
          </a:p>
          <a:p>
            <a:pPr indent="-342900" lvl="1" marL="914400" rtl="0" algn="l">
              <a:lnSpc>
                <a:spcPct val="115000"/>
              </a:lnSpc>
              <a:spcBef>
                <a:spcPts val="0"/>
              </a:spcBef>
              <a:spcAft>
                <a:spcPts val="0"/>
              </a:spcAft>
              <a:buSzPts val="1800"/>
              <a:buChar char="○"/>
            </a:pPr>
            <a:r>
              <a:rPr lang="en-US"/>
              <a:t>JSON or XML (rarely)  data structure</a:t>
            </a:r>
            <a:endParaRPr/>
          </a:p>
          <a:p>
            <a:pPr indent="0" lvl="0" marL="0" rtl="0" algn="l">
              <a:lnSpc>
                <a:spcPct val="115000"/>
              </a:lnSpc>
              <a:spcBef>
                <a:spcPts val="360"/>
              </a:spcBef>
              <a:spcAft>
                <a:spcPts val="0"/>
              </a:spcAft>
              <a:buSzPts val="1800"/>
              <a:buNone/>
            </a:pPr>
            <a:r>
              <a:t/>
            </a:r>
            <a:endParaRPr/>
          </a:p>
          <a:p>
            <a:pPr indent="0" lvl="0" marL="0" rtl="0" algn="l">
              <a:lnSpc>
                <a:spcPct val="115000"/>
              </a:lnSpc>
              <a:spcBef>
                <a:spcPts val="360"/>
              </a:spcBef>
              <a:spcAft>
                <a:spcPts val="0"/>
              </a:spcAft>
              <a:buSzPts val="1800"/>
              <a:buNone/>
            </a:pPr>
            <a:r>
              <a:t/>
            </a:r>
            <a:endParaRPr sz="1400"/>
          </a:p>
          <a:p>
            <a:pPr indent="0" lvl="0" marL="0" rtl="0" algn="l">
              <a:lnSpc>
                <a:spcPct val="115000"/>
              </a:lnSpc>
              <a:spcBef>
                <a:spcPts val="360"/>
              </a:spcBef>
              <a:spcAft>
                <a:spcPts val="0"/>
              </a:spcAft>
              <a:buSzPts val="1800"/>
              <a:buNone/>
            </a:pPr>
            <a:r>
              <a:rPr lang="en-US"/>
              <a:t>Many frameworks exist to implement a web app more efficiently. We will look at the Django framework next.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8"/>
          <p:cNvSpPr txBox="1"/>
          <p:nvPr>
            <p:ph idx="1" type="subTitle"/>
          </p:nvPr>
        </p:nvSpPr>
        <p:spPr>
          <a:xfrm>
            <a:off x="311700" y="3086100"/>
            <a:ext cx="8520600" cy="30972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n-US" sz="3200"/>
              <a:t>Chapter 1 </a:t>
            </a:r>
            <a:endParaRPr sz="3200"/>
          </a:p>
          <a:p>
            <a:pPr indent="0" lvl="0" marL="0" rtl="0" algn="ctr">
              <a:lnSpc>
                <a:spcPct val="100000"/>
              </a:lnSpc>
              <a:spcBef>
                <a:spcPts val="0"/>
              </a:spcBef>
              <a:spcAft>
                <a:spcPts val="0"/>
              </a:spcAft>
              <a:buSzPts val="2800"/>
              <a:buNone/>
            </a:pPr>
            <a:r>
              <a:rPr lang="en-US" sz="3200"/>
              <a:t>Django Design Patterns and Best Practices</a:t>
            </a:r>
            <a:endParaRPr sz="3200"/>
          </a:p>
          <a:p>
            <a:pPr indent="0" lvl="0" marL="0" rtl="0" algn="ctr">
              <a:lnSpc>
                <a:spcPct val="100000"/>
              </a:lnSpc>
              <a:spcBef>
                <a:spcPts val="0"/>
              </a:spcBef>
              <a:spcAft>
                <a:spcPts val="0"/>
              </a:spcAft>
              <a:buSzPts val="2800"/>
              <a:buNone/>
            </a:pPr>
            <a:r>
              <a:rPr lang="en-US" sz="3200"/>
              <a:t>Arun Ravindran</a:t>
            </a:r>
            <a:endParaRPr sz="3200"/>
          </a:p>
          <a:p>
            <a:pPr indent="0" lvl="0" marL="0" rtl="0" algn="ctr">
              <a:lnSpc>
                <a:spcPct val="100000"/>
              </a:lnSpc>
              <a:spcBef>
                <a:spcPts val="0"/>
              </a:spcBef>
              <a:spcAft>
                <a:spcPts val="0"/>
              </a:spcAft>
              <a:buSzPts val="2400"/>
              <a:buNone/>
            </a:pPr>
            <a:r>
              <a:t/>
            </a:r>
            <a:endParaRPr sz="3200"/>
          </a:p>
        </p:txBody>
      </p:sp>
      <p:pic>
        <p:nvPicPr>
          <p:cNvPr id="385" name="Google Shape;385;p48"/>
          <p:cNvPicPr preferRelativeResize="0"/>
          <p:nvPr/>
        </p:nvPicPr>
        <p:blipFill rotWithShape="1">
          <a:blip r:embed="rId3">
            <a:alphaModFix/>
          </a:blip>
          <a:srcRect b="0" l="0" r="0" t="0"/>
          <a:stretch/>
        </p:blipFill>
        <p:spPr>
          <a:xfrm>
            <a:off x="2781338" y="129467"/>
            <a:ext cx="3581328" cy="20097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9"/>
          <p:cNvSpPr txBox="1"/>
          <p:nvPr>
            <p:ph type="title"/>
          </p:nvPr>
        </p:nvSpPr>
        <p:spPr>
          <a:xfrm>
            <a:off x="311700" y="113192"/>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Django Overview</a:t>
            </a:r>
            <a:endParaRPr/>
          </a:p>
        </p:txBody>
      </p:sp>
      <p:sp>
        <p:nvSpPr>
          <p:cNvPr id="392" name="Google Shape;392;p49"/>
          <p:cNvSpPr txBox="1"/>
          <p:nvPr>
            <p:ph idx="1" type="body"/>
          </p:nvPr>
        </p:nvSpPr>
        <p:spPr>
          <a:xfrm>
            <a:off x="248175" y="878267"/>
            <a:ext cx="8050500" cy="4319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360"/>
              </a:spcBef>
              <a:spcAft>
                <a:spcPts val="0"/>
              </a:spcAft>
              <a:buSzPts val="1946"/>
              <a:buNone/>
            </a:pPr>
            <a:r>
              <a:rPr lang="en-US"/>
              <a:t>Chapter 1: </a:t>
            </a:r>
            <a:r>
              <a:rPr lang="en-US" u="sng">
                <a:solidFill>
                  <a:schemeClr val="hlink"/>
                </a:solidFill>
                <a:hlinkClick r:id="rId3"/>
              </a:rPr>
              <a:t>What is a Pattern? - Django Design Patterns and Best Practices  by Arun Ravindran</a:t>
            </a:r>
            <a:r>
              <a:rPr lang="en-US"/>
              <a:t>   </a:t>
            </a:r>
            <a:endParaRPr/>
          </a:p>
          <a:p>
            <a:pPr indent="-342900" lvl="0" marL="457200" rtl="0" algn="l">
              <a:lnSpc>
                <a:spcPct val="115000"/>
              </a:lnSpc>
              <a:spcBef>
                <a:spcPts val="360"/>
              </a:spcBef>
              <a:spcAft>
                <a:spcPts val="0"/>
              </a:spcAft>
              <a:buSzPts val="1800"/>
              <a:buChar char="●"/>
            </a:pPr>
            <a:r>
              <a:rPr lang="en-US"/>
              <a:t>Sign in with UCCS email and </a:t>
            </a:r>
            <a:endParaRPr/>
          </a:p>
          <a:p>
            <a:pPr indent="0" lvl="0" marL="457200" rtl="0" algn="l">
              <a:lnSpc>
                <a:spcPct val="115000"/>
              </a:lnSpc>
              <a:spcBef>
                <a:spcPts val="360"/>
              </a:spcBef>
              <a:spcAft>
                <a:spcPts val="0"/>
              </a:spcAft>
              <a:buSzPts val="1946"/>
              <a:buNone/>
            </a:pPr>
            <a:r>
              <a:t/>
            </a:r>
            <a:endParaRPr/>
          </a:p>
          <a:p>
            <a:pPr indent="0" lvl="0" marL="457200" rtl="0" algn="l">
              <a:lnSpc>
                <a:spcPct val="115000"/>
              </a:lnSpc>
              <a:spcBef>
                <a:spcPts val="360"/>
              </a:spcBef>
              <a:spcAft>
                <a:spcPts val="0"/>
              </a:spcAft>
              <a:buSzPts val="1946"/>
              <a:buNone/>
            </a:pPr>
            <a:r>
              <a:t/>
            </a:r>
            <a:endParaRPr/>
          </a:p>
          <a:p>
            <a:pPr indent="0" lvl="0" marL="457200" rtl="0" algn="l">
              <a:lnSpc>
                <a:spcPct val="115000"/>
              </a:lnSpc>
              <a:spcBef>
                <a:spcPts val="360"/>
              </a:spcBef>
              <a:spcAft>
                <a:spcPts val="0"/>
              </a:spcAft>
              <a:buSzPts val="1946"/>
              <a:buNone/>
            </a:pPr>
            <a:r>
              <a:t/>
            </a:r>
            <a:endParaRPr/>
          </a:p>
          <a:p>
            <a:pPr indent="0" lvl="0" marL="0" rtl="0" algn="l">
              <a:lnSpc>
                <a:spcPct val="115000"/>
              </a:lnSpc>
              <a:spcBef>
                <a:spcPts val="360"/>
              </a:spcBef>
              <a:spcAft>
                <a:spcPts val="0"/>
              </a:spcAft>
              <a:buSzPts val="1946"/>
              <a:buNone/>
            </a:pPr>
            <a:r>
              <a:t/>
            </a:r>
            <a:endParaRPr/>
          </a:p>
          <a:p>
            <a:pPr indent="0" lvl="0" marL="0" rtl="0" algn="l">
              <a:lnSpc>
                <a:spcPct val="115000"/>
              </a:lnSpc>
              <a:spcBef>
                <a:spcPts val="360"/>
              </a:spcBef>
              <a:spcAft>
                <a:spcPts val="0"/>
              </a:spcAft>
              <a:buSzPts val="1946"/>
              <a:buNone/>
            </a:pPr>
            <a:r>
              <a:rPr lang="en-US"/>
              <a:t>Goals:</a:t>
            </a:r>
            <a:endParaRPr/>
          </a:p>
          <a:p>
            <a:pPr indent="-342900" lvl="0" marL="457200" rtl="0" algn="l">
              <a:lnSpc>
                <a:spcPct val="115000"/>
              </a:lnSpc>
              <a:spcBef>
                <a:spcPts val="0"/>
              </a:spcBef>
              <a:spcAft>
                <a:spcPts val="0"/>
              </a:spcAft>
              <a:buSzPts val="1800"/>
              <a:buChar char="●"/>
            </a:pPr>
            <a:r>
              <a:rPr lang="en-US"/>
              <a:t>Architectural Framework</a:t>
            </a:r>
            <a:endParaRPr/>
          </a:p>
          <a:p>
            <a:pPr indent="-342900" lvl="0" marL="457200" rtl="0" algn="l">
              <a:lnSpc>
                <a:spcPct val="115000"/>
              </a:lnSpc>
              <a:spcBef>
                <a:spcPts val="0"/>
              </a:spcBef>
              <a:spcAft>
                <a:spcPts val="0"/>
              </a:spcAft>
              <a:buSzPts val="1800"/>
              <a:buChar char="●"/>
            </a:pPr>
            <a:r>
              <a:rPr lang="en-US"/>
              <a:t>Model View Template Overview</a:t>
            </a:r>
            <a:endParaRPr/>
          </a:p>
          <a:p>
            <a:pPr indent="-342900" lvl="0" marL="457200" rtl="0" algn="l">
              <a:lnSpc>
                <a:spcPct val="115000"/>
              </a:lnSpc>
              <a:spcBef>
                <a:spcPts val="0"/>
              </a:spcBef>
              <a:spcAft>
                <a:spcPts val="0"/>
              </a:spcAft>
              <a:buSzPts val="1800"/>
              <a:buChar char="●"/>
            </a:pPr>
            <a:r>
              <a:rPr lang="en-US"/>
              <a:t>Design Patterns in Django</a:t>
            </a:r>
            <a:endParaRPr/>
          </a:p>
        </p:txBody>
      </p:sp>
      <p:sp>
        <p:nvSpPr>
          <p:cNvPr id="393" name="Google Shape;393;p49"/>
          <p:cNvSpPr txBox="1"/>
          <p:nvPr>
            <p:ph idx="12" type="sldNum"/>
          </p:nvPr>
        </p:nvSpPr>
        <p:spPr>
          <a:xfrm>
            <a:off x="8395933" y="62694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pic>
        <p:nvPicPr>
          <p:cNvPr id="394" name="Google Shape;394;p49"/>
          <p:cNvPicPr preferRelativeResize="0"/>
          <p:nvPr/>
        </p:nvPicPr>
        <p:blipFill rotWithShape="1">
          <a:blip r:embed="rId4">
            <a:alphaModFix/>
          </a:blip>
          <a:srcRect b="0" l="0" r="0" t="0"/>
          <a:stretch/>
        </p:blipFill>
        <p:spPr>
          <a:xfrm>
            <a:off x="1" y="5242233"/>
            <a:ext cx="1247400" cy="979475"/>
          </a:xfrm>
          <a:prstGeom prst="rect">
            <a:avLst/>
          </a:prstGeom>
          <a:noFill/>
          <a:ln>
            <a:noFill/>
          </a:ln>
        </p:spPr>
      </p:pic>
      <p:sp>
        <p:nvSpPr>
          <p:cNvPr id="395" name="Google Shape;395;p49"/>
          <p:cNvSpPr txBox="1"/>
          <p:nvPr/>
        </p:nvSpPr>
        <p:spPr>
          <a:xfrm>
            <a:off x="1136550" y="5197417"/>
            <a:ext cx="79053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Remember this class is about learning how to learn architectures and framework as technologies are always changing. The skill is not to be an expert in Django and Python but to learn how to approach new technologies.</a:t>
            </a:r>
            <a:endParaRPr b="0" i="0" sz="1400" u="none" cap="none" strike="noStrike">
              <a:solidFill>
                <a:schemeClr val="dk1"/>
              </a:solidFill>
              <a:latin typeface="Arial"/>
              <a:ea typeface="Arial"/>
              <a:cs typeface="Arial"/>
              <a:sym typeface="Arial"/>
            </a:endParaRPr>
          </a:p>
        </p:txBody>
      </p:sp>
      <p:pic>
        <p:nvPicPr>
          <p:cNvPr id="396" name="Google Shape;396;p49"/>
          <p:cNvPicPr preferRelativeResize="0"/>
          <p:nvPr/>
        </p:nvPicPr>
        <p:blipFill rotWithShape="1">
          <a:blip r:embed="rId5">
            <a:alphaModFix/>
          </a:blip>
          <a:srcRect b="0" l="0" r="0" t="0"/>
          <a:stretch/>
        </p:blipFill>
        <p:spPr>
          <a:xfrm>
            <a:off x="3498975" y="1470500"/>
            <a:ext cx="2419300" cy="831300"/>
          </a:xfrm>
          <a:prstGeom prst="rect">
            <a:avLst/>
          </a:prstGeom>
          <a:noFill/>
          <a:ln>
            <a:noFill/>
          </a:ln>
        </p:spPr>
      </p:pic>
      <p:pic>
        <p:nvPicPr>
          <p:cNvPr id="397" name="Google Shape;397;p49"/>
          <p:cNvPicPr preferRelativeResize="0"/>
          <p:nvPr/>
        </p:nvPicPr>
        <p:blipFill rotWithShape="1">
          <a:blip r:embed="rId6">
            <a:alphaModFix/>
          </a:blip>
          <a:srcRect b="0" l="0" r="0" t="0"/>
          <a:stretch/>
        </p:blipFill>
        <p:spPr>
          <a:xfrm>
            <a:off x="311700" y="2343700"/>
            <a:ext cx="1338800" cy="7513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0"/>
          <p:cNvSpPr txBox="1"/>
          <p:nvPr>
            <p:ph type="title"/>
          </p:nvPr>
        </p:nvSpPr>
        <p:spPr>
          <a:xfrm>
            <a:off x="311700" y="791156"/>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Framework</a:t>
            </a:r>
            <a:endParaRPr/>
          </a:p>
        </p:txBody>
      </p:sp>
      <p:sp>
        <p:nvSpPr>
          <p:cNvPr id="403" name="Google Shape;403;p50"/>
          <p:cNvSpPr txBox="1"/>
          <p:nvPr>
            <p:ph idx="1" type="body"/>
          </p:nvPr>
        </p:nvSpPr>
        <p:spPr>
          <a:xfrm>
            <a:off x="311700" y="1481167"/>
            <a:ext cx="8520600" cy="4943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t>Identify architectural pattern, an arrangement of subsystems in a larger app, and construct frameworks that facilitate building framework around that pattern</a:t>
            </a:r>
            <a:endParaRPr/>
          </a:p>
          <a:p>
            <a:pPr indent="-342900" lvl="0" marL="457200" rtl="0" algn="l">
              <a:lnSpc>
                <a:spcPct val="115000"/>
              </a:lnSpc>
              <a:spcBef>
                <a:spcPts val="0"/>
              </a:spcBef>
              <a:spcAft>
                <a:spcPts val="0"/>
              </a:spcAft>
              <a:buSzPts val="1800"/>
              <a:buChar char="●"/>
            </a:pPr>
            <a:r>
              <a:rPr lang="en-US"/>
              <a:t>Framework take care of connections among elements and can hide or abstract the mechanics of tasks that aren’t central to the app itself like dealing with HTTP directly.</a:t>
            </a:r>
            <a:endParaRPr/>
          </a:p>
          <a:p>
            <a:pPr indent="-342900" lvl="0" marL="457200" rtl="0" algn="l">
              <a:lnSpc>
                <a:spcPct val="115000"/>
              </a:lnSpc>
              <a:spcBef>
                <a:spcPts val="0"/>
              </a:spcBef>
              <a:spcAft>
                <a:spcPts val="0"/>
              </a:spcAft>
              <a:buSzPts val="1800"/>
              <a:buChar char="●"/>
            </a:pPr>
            <a:r>
              <a:rPr lang="en-US"/>
              <a:t>Think about your app as a collection of resources and operations on them. Think of each resource having its own model, view and template. You can see how a resource based app maps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51"/>
          <p:cNvSpPr txBox="1"/>
          <p:nvPr>
            <p:ph type="title"/>
          </p:nvPr>
        </p:nvSpPr>
        <p:spPr>
          <a:xfrm>
            <a:off x="311700" y="791156"/>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Learning an Architecture Framework</a:t>
            </a:r>
            <a:endParaRPr/>
          </a:p>
        </p:txBody>
      </p:sp>
      <p:sp>
        <p:nvSpPr>
          <p:cNvPr id="409" name="Google Shape;409;p51"/>
          <p:cNvSpPr txBox="1"/>
          <p:nvPr>
            <p:ph idx="1" type="body"/>
          </p:nvPr>
        </p:nvSpPr>
        <p:spPr>
          <a:xfrm>
            <a:off x="311700" y="1536633"/>
            <a:ext cx="8520600" cy="4878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a:t>Learning a language and learning a framework often go together: learning Python and Django.  This means you must understand three things: </a:t>
            </a:r>
            <a:endParaRPr/>
          </a:p>
          <a:p>
            <a:pPr indent="-342900" lvl="0" marL="457200" rtl="0" algn="l">
              <a:lnSpc>
                <a:spcPct val="115000"/>
              </a:lnSpc>
              <a:spcBef>
                <a:spcPts val="0"/>
              </a:spcBef>
              <a:spcAft>
                <a:spcPts val="0"/>
              </a:spcAft>
              <a:buSzPts val="1800"/>
              <a:buChar char="●"/>
            </a:pPr>
            <a:r>
              <a:rPr lang="en-US"/>
              <a:t>The language</a:t>
            </a:r>
            <a:endParaRPr/>
          </a:p>
          <a:p>
            <a:pPr indent="-342900" lvl="0" marL="457200" rtl="0" algn="l">
              <a:lnSpc>
                <a:spcPct val="115000"/>
              </a:lnSpc>
              <a:spcBef>
                <a:spcPts val="0"/>
              </a:spcBef>
              <a:spcAft>
                <a:spcPts val="0"/>
              </a:spcAft>
              <a:buSzPts val="1800"/>
              <a:buChar char="●"/>
            </a:pPr>
            <a:r>
              <a:rPr lang="en-US"/>
              <a:t>the structure or architectural model for the  framework </a:t>
            </a:r>
            <a:endParaRPr/>
          </a:p>
          <a:p>
            <a:pPr indent="-342900" lvl="0" marL="457200" rtl="0" algn="l">
              <a:lnSpc>
                <a:spcPct val="115000"/>
              </a:lnSpc>
              <a:spcBef>
                <a:spcPts val="0"/>
              </a:spcBef>
              <a:spcAft>
                <a:spcPts val="0"/>
              </a:spcAft>
              <a:buSzPts val="1800"/>
              <a:buChar char="●"/>
            </a:pPr>
            <a:r>
              <a:rPr lang="en-US"/>
              <a:t>How the language features are used to expose that structure.</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0"/>
              </a:spcAft>
              <a:buSzPts val="1800"/>
              <a:buNone/>
            </a:pPr>
            <a:r>
              <a:rPr lang="en-US"/>
              <a:t>Understand the app architecture implied by the framework: </a:t>
            </a:r>
            <a:endParaRPr/>
          </a:p>
          <a:p>
            <a:pPr indent="-342900" lvl="0" marL="457200" rtl="0" algn="l">
              <a:lnSpc>
                <a:spcPct val="115000"/>
              </a:lnSpc>
              <a:spcBef>
                <a:spcPts val="0"/>
              </a:spcBef>
              <a:spcAft>
                <a:spcPts val="0"/>
              </a:spcAft>
              <a:buSzPts val="1800"/>
              <a:buChar char="●"/>
            </a:pPr>
            <a:r>
              <a:rPr lang="en-US"/>
              <a:t>What is the application structure or set of patterns in the framework? </a:t>
            </a:r>
            <a:endParaRPr/>
          </a:p>
          <a:p>
            <a:pPr indent="-342900" lvl="0" marL="457200" rtl="0" algn="l">
              <a:lnSpc>
                <a:spcPct val="115000"/>
              </a:lnSpc>
              <a:spcBef>
                <a:spcPts val="0"/>
              </a:spcBef>
              <a:spcAft>
                <a:spcPts val="0"/>
              </a:spcAft>
              <a:buSzPts val="1800"/>
              <a:buChar char="●"/>
            </a:pPr>
            <a:r>
              <a:rPr lang="en-US"/>
              <a:t>What are the major “moving parts” of an application built using that framework, and how does their arrangement influence the way we formulate an application’s functionality in terms of that framework?</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2"/>
          <p:cNvSpPr txBox="1"/>
          <p:nvPr>
            <p:ph type="title"/>
          </p:nvPr>
        </p:nvSpPr>
        <p:spPr>
          <a:xfrm>
            <a:off x="189725" y="164733"/>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Django Model View Template</a:t>
            </a:r>
            <a:endParaRPr/>
          </a:p>
        </p:txBody>
      </p:sp>
      <p:sp>
        <p:nvSpPr>
          <p:cNvPr id="415" name="Google Shape;415;p52"/>
          <p:cNvSpPr txBox="1"/>
          <p:nvPr>
            <p:ph idx="1" type="body"/>
          </p:nvPr>
        </p:nvSpPr>
        <p:spPr>
          <a:xfrm>
            <a:off x="120600" y="967333"/>
            <a:ext cx="5274600" cy="580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US" sz="1500" u="sng">
                <a:solidFill>
                  <a:schemeClr val="hlink"/>
                </a:solidFill>
                <a:hlinkClick r:id="rId3"/>
              </a:rPr>
              <a:t>How does Django work?</a:t>
            </a:r>
            <a:r>
              <a:rPr lang="en-US" sz="1500">
                <a:solidFill>
                  <a:srgbClr val="EEEEEE"/>
                </a:solidFill>
              </a:rPr>
              <a:t> </a:t>
            </a:r>
            <a:endParaRPr sz="1500">
              <a:solidFill>
                <a:srgbClr val="EEEEEE"/>
              </a:solidFill>
              <a:highlight>
                <a:srgbClr val="222222"/>
              </a:highlight>
              <a:latin typeface="Arial"/>
              <a:ea typeface="Arial"/>
              <a:cs typeface="Arial"/>
              <a:sym typeface="Arial"/>
            </a:endParaRPr>
          </a:p>
          <a:p>
            <a:pPr indent="0" lvl="0" marL="0" rtl="0" algn="l">
              <a:lnSpc>
                <a:spcPct val="115000"/>
              </a:lnSpc>
              <a:spcBef>
                <a:spcPts val="0"/>
              </a:spcBef>
              <a:spcAft>
                <a:spcPts val="0"/>
              </a:spcAft>
              <a:buSzPts val="1800"/>
              <a:buNone/>
            </a:pPr>
            <a:r>
              <a:t/>
            </a:r>
            <a:endParaRPr sz="1500">
              <a:solidFill>
                <a:srgbClr val="EEEEEE"/>
              </a:solidFill>
              <a:highlight>
                <a:srgbClr val="222222"/>
              </a:highlight>
              <a:latin typeface="Arial"/>
              <a:ea typeface="Arial"/>
              <a:cs typeface="Arial"/>
              <a:sym typeface="Arial"/>
            </a:endParaRPr>
          </a:p>
          <a:p>
            <a:pPr indent="0" lvl="0" marL="0" rtl="0" algn="l">
              <a:lnSpc>
                <a:spcPct val="115000"/>
              </a:lnSpc>
              <a:spcBef>
                <a:spcPts val="0"/>
              </a:spcBef>
              <a:spcAft>
                <a:spcPts val="0"/>
              </a:spcAft>
              <a:buSzPts val="1800"/>
              <a:buNone/>
            </a:pPr>
            <a:r>
              <a:rPr b="1" lang="en-US" sz="1500">
                <a:solidFill>
                  <a:srgbClr val="EEEEEE"/>
                </a:solidFill>
                <a:highlight>
                  <a:srgbClr val="222222"/>
                </a:highlight>
                <a:latin typeface="Arial"/>
                <a:ea typeface="Arial"/>
                <a:cs typeface="Arial"/>
                <a:sym typeface="Arial"/>
              </a:rPr>
              <a:t>Model</a:t>
            </a:r>
            <a:r>
              <a:rPr lang="en-US" sz="1500">
                <a:solidFill>
                  <a:srgbClr val="EEEEEE"/>
                </a:solidFill>
                <a:highlight>
                  <a:srgbClr val="222222"/>
                </a:highlight>
                <a:latin typeface="Arial"/>
                <a:ea typeface="Arial"/>
                <a:cs typeface="Arial"/>
                <a:sym typeface="Arial"/>
              </a:rPr>
              <a:t> - Data access layer. </a:t>
            </a:r>
            <a:endParaRPr sz="1500">
              <a:solidFill>
                <a:srgbClr val="EEEEEE"/>
              </a:solidFill>
              <a:highlight>
                <a:srgbClr val="222222"/>
              </a:highlight>
              <a:latin typeface="Arial"/>
              <a:ea typeface="Arial"/>
              <a:cs typeface="Arial"/>
              <a:sym typeface="Arial"/>
            </a:endParaRPr>
          </a:p>
          <a:p>
            <a:pPr indent="0" lvl="0" marL="0" rtl="0" algn="l">
              <a:lnSpc>
                <a:spcPct val="115000"/>
              </a:lnSpc>
              <a:spcBef>
                <a:spcPts val="400"/>
              </a:spcBef>
              <a:spcAft>
                <a:spcPts val="0"/>
              </a:spcAft>
              <a:buSzPts val="1800"/>
              <a:buNone/>
            </a:pPr>
            <a:r>
              <a:t/>
            </a:r>
            <a:endParaRPr sz="1500">
              <a:solidFill>
                <a:srgbClr val="EEEEEE"/>
              </a:solidFill>
              <a:highlight>
                <a:srgbClr val="222222"/>
              </a:highlight>
              <a:latin typeface="Arial"/>
              <a:ea typeface="Arial"/>
              <a:cs typeface="Arial"/>
              <a:sym typeface="Arial"/>
            </a:endParaRPr>
          </a:p>
          <a:p>
            <a:pPr indent="0" lvl="0" marL="0" rtl="0" algn="l">
              <a:lnSpc>
                <a:spcPct val="115000"/>
              </a:lnSpc>
              <a:spcBef>
                <a:spcPts val="400"/>
              </a:spcBef>
              <a:spcAft>
                <a:spcPts val="0"/>
              </a:spcAft>
              <a:buSzPts val="1800"/>
              <a:buNone/>
            </a:pPr>
            <a:r>
              <a:rPr b="1" lang="en-US" sz="1500">
                <a:solidFill>
                  <a:srgbClr val="EEEEEE"/>
                </a:solidFill>
                <a:highlight>
                  <a:srgbClr val="222222"/>
                </a:highlight>
                <a:latin typeface="Arial"/>
                <a:ea typeface="Arial"/>
                <a:cs typeface="Arial"/>
                <a:sym typeface="Arial"/>
              </a:rPr>
              <a:t>Template</a:t>
            </a:r>
            <a:r>
              <a:rPr lang="en-US" sz="1500">
                <a:solidFill>
                  <a:srgbClr val="EEEEEE"/>
                </a:solidFill>
                <a:highlight>
                  <a:srgbClr val="222222"/>
                </a:highlight>
                <a:latin typeface="Arial"/>
                <a:ea typeface="Arial"/>
                <a:cs typeface="Arial"/>
                <a:sym typeface="Arial"/>
              </a:rPr>
              <a:t> - Presentation layer. This deals with how data is displayed to the client.</a:t>
            </a:r>
            <a:endParaRPr sz="1500">
              <a:solidFill>
                <a:srgbClr val="EEEEEE"/>
              </a:solidFill>
              <a:highlight>
                <a:srgbClr val="222222"/>
              </a:highlight>
              <a:latin typeface="Arial"/>
              <a:ea typeface="Arial"/>
              <a:cs typeface="Arial"/>
              <a:sym typeface="Arial"/>
            </a:endParaRPr>
          </a:p>
          <a:p>
            <a:pPr indent="0" lvl="0" marL="0" rtl="0" algn="l">
              <a:lnSpc>
                <a:spcPct val="115000"/>
              </a:lnSpc>
              <a:spcBef>
                <a:spcPts val="400"/>
              </a:spcBef>
              <a:spcAft>
                <a:spcPts val="0"/>
              </a:spcAft>
              <a:buSzPts val="1800"/>
              <a:buNone/>
            </a:pPr>
            <a:r>
              <a:t/>
            </a:r>
            <a:endParaRPr sz="1500">
              <a:solidFill>
                <a:srgbClr val="EEEEEE"/>
              </a:solidFill>
              <a:highlight>
                <a:srgbClr val="222222"/>
              </a:highlight>
              <a:latin typeface="Arial"/>
              <a:ea typeface="Arial"/>
              <a:cs typeface="Arial"/>
              <a:sym typeface="Arial"/>
            </a:endParaRPr>
          </a:p>
          <a:p>
            <a:pPr indent="0" lvl="0" marL="0" rtl="0" algn="l">
              <a:lnSpc>
                <a:spcPct val="115000"/>
              </a:lnSpc>
              <a:spcBef>
                <a:spcPts val="400"/>
              </a:spcBef>
              <a:spcAft>
                <a:spcPts val="0"/>
              </a:spcAft>
              <a:buSzPts val="1800"/>
              <a:buNone/>
            </a:pPr>
            <a:r>
              <a:rPr b="1" lang="en-US" sz="1500">
                <a:solidFill>
                  <a:srgbClr val="EEEEEE"/>
                </a:solidFill>
                <a:highlight>
                  <a:srgbClr val="222222"/>
                </a:highlight>
                <a:latin typeface="Arial"/>
                <a:ea typeface="Arial"/>
                <a:cs typeface="Arial"/>
                <a:sym typeface="Arial"/>
              </a:rPr>
              <a:t>View</a:t>
            </a:r>
            <a:r>
              <a:rPr lang="en-US" sz="1500">
                <a:solidFill>
                  <a:srgbClr val="EEEEEE"/>
                </a:solidFill>
                <a:highlight>
                  <a:srgbClr val="222222"/>
                </a:highlight>
                <a:latin typeface="Arial"/>
                <a:ea typeface="Arial"/>
                <a:cs typeface="Arial"/>
                <a:sym typeface="Arial"/>
              </a:rPr>
              <a:t> - Business logic layer. This is a bridge between models and templates. </a:t>
            </a:r>
            <a:endParaRPr sz="1500">
              <a:solidFill>
                <a:srgbClr val="EEEEEE"/>
              </a:solidFill>
              <a:highlight>
                <a:srgbClr val="222222"/>
              </a:highlight>
              <a:latin typeface="Arial"/>
              <a:ea typeface="Arial"/>
              <a:cs typeface="Arial"/>
              <a:sym typeface="Arial"/>
            </a:endParaRPr>
          </a:p>
          <a:p>
            <a:pPr indent="0" lvl="0" marL="0" rtl="0" algn="l">
              <a:lnSpc>
                <a:spcPct val="115000"/>
              </a:lnSpc>
              <a:spcBef>
                <a:spcPts val="400"/>
              </a:spcBef>
              <a:spcAft>
                <a:spcPts val="0"/>
              </a:spcAft>
              <a:buSzPts val="1800"/>
              <a:buNone/>
            </a:pPr>
            <a:r>
              <a:t/>
            </a:r>
            <a:endParaRPr sz="1500">
              <a:solidFill>
                <a:srgbClr val="EEEEEE"/>
              </a:solidFill>
              <a:highlight>
                <a:srgbClr val="222222"/>
              </a:highlight>
              <a:latin typeface="Arial"/>
              <a:ea typeface="Arial"/>
              <a:cs typeface="Arial"/>
              <a:sym typeface="Arial"/>
            </a:endParaRPr>
          </a:p>
          <a:p>
            <a:pPr indent="0" lvl="0" marL="0" rtl="0" algn="l">
              <a:lnSpc>
                <a:spcPct val="115000"/>
              </a:lnSpc>
              <a:spcBef>
                <a:spcPts val="400"/>
              </a:spcBef>
              <a:spcAft>
                <a:spcPts val="0"/>
              </a:spcAft>
              <a:buSzPts val="1800"/>
              <a:buNone/>
            </a:pPr>
            <a:r>
              <a:t/>
            </a:r>
            <a:endParaRPr sz="1500"/>
          </a:p>
        </p:txBody>
      </p:sp>
      <p:grpSp>
        <p:nvGrpSpPr>
          <p:cNvPr id="416" name="Google Shape;416;p52"/>
          <p:cNvGrpSpPr/>
          <p:nvPr/>
        </p:nvGrpSpPr>
        <p:grpSpPr>
          <a:xfrm>
            <a:off x="5478085" y="967369"/>
            <a:ext cx="3596354" cy="4054482"/>
            <a:chOff x="3714725" y="576238"/>
            <a:chExt cx="5331881" cy="3991025"/>
          </a:xfrm>
        </p:grpSpPr>
        <p:pic>
          <p:nvPicPr>
            <p:cNvPr id="417" name="Google Shape;417;p52"/>
            <p:cNvPicPr preferRelativeResize="0"/>
            <p:nvPr/>
          </p:nvPicPr>
          <p:blipFill rotWithShape="1">
            <a:blip r:embed="rId4">
              <a:alphaModFix/>
            </a:blip>
            <a:srcRect b="0" l="0" r="0" t="0"/>
            <a:stretch/>
          </p:blipFill>
          <p:spPr>
            <a:xfrm>
              <a:off x="3714725" y="576238"/>
              <a:ext cx="5331881" cy="3991025"/>
            </a:xfrm>
            <a:prstGeom prst="rect">
              <a:avLst/>
            </a:prstGeom>
            <a:noFill/>
            <a:ln>
              <a:noFill/>
            </a:ln>
          </p:spPr>
        </p:pic>
        <p:sp>
          <p:nvSpPr>
            <p:cNvPr id="418" name="Google Shape;418;p52"/>
            <p:cNvSpPr txBox="1"/>
            <p:nvPr/>
          </p:nvSpPr>
          <p:spPr>
            <a:xfrm>
              <a:off x="3952050" y="2267860"/>
              <a:ext cx="1239900" cy="46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Browser</a:t>
              </a:r>
              <a:endParaRPr b="0" i="0" sz="1300" u="none" cap="none" strike="noStrike">
                <a:solidFill>
                  <a:srgbClr val="000000"/>
                </a:solidFill>
                <a:latin typeface="Arial"/>
                <a:ea typeface="Arial"/>
                <a:cs typeface="Arial"/>
                <a:sym typeface="Arial"/>
              </a:endParaRPr>
            </a:p>
          </p:txBody>
        </p:sp>
      </p:grpSp>
      <p:sp>
        <p:nvSpPr>
          <p:cNvPr id="419" name="Google Shape;419;p52"/>
          <p:cNvSpPr txBox="1"/>
          <p:nvPr/>
        </p:nvSpPr>
        <p:spPr>
          <a:xfrm>
            <a:off x="5585525" y="5208551"/>
            <a:ext cx="3000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From </a:t>
            </a:r>
            <a:r>
              <a:rPr b="0" i="0" lang="en-US" sz="1600" u="sng" cap="none" strike="noStrike">
                <a:solidFill>
                  <a:schemeClr val="hlink"/>
                </a:solidFill>
                <a:latin typeface="Arial"/>
                <a:ea typeface="Arial"/>
                <a:cs typeface="Arial"/>
                <a:sym typeface="Arial"/>
                <a:hlinkClick r:id="rId5"/>
              </a:rPr>
              <a:t>https://devopedia.org/django</a:t>
            </a:r>
            <a:r>
              <a:rPr b="0" i="0" lang="en-US" sz="1600" u="none" cap="none" strike="noStrike">
                <a:solidFill>
                  <a:schemeClr val="dk1"/>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p:txBody>
      </p:sp>
      <p:pic>
        <p:nvPicPr>
          <p:cNvPr id="420" name="Google Shape;420;p52"/>
          <p:cNvPicPr preferRelativeResize="0"/>
          <p:nvPr/>
        </p:nvPicPr>
        <p:blipFill rotWithShape="1">
          <a:blip r:embed="rId6">
            <a:alphaModFix/>
          </a:blip>
          <a:srcRect b="0" l="0" r="0" t="0"/>
          <a:stretch/>
        </p:blipFill>
        <p:spPr>
          <a:xfrm>
            <a:off x="5657475" y="6111367"/>
            <a:ext cx="1143428" cy="4002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3"/>
          <p:cNvSpPr txBox="1"/>
          <p:nvPr>
            <p:ph type="title"/>
          </p:nvPr>
        </p:nvSpPr>
        <p:spPr>
          <a:xfrm>
            <a:off x="189725" y="164733"/>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Patterns</a:t>
            </a:r>
            <a:endParaRPr/>
          </a:p>
        </p:txBody>
      </p:sp>
      <p:sp>
        <p:nvSpPr>
          <p:cNvPr id="426" name="Google Shape;426;p53"/>
          <p:cNvSpPr txBox="1"/>
          <p:nvPr>
            <p:ph idx="1" type="body"/>
          </p:nvPr>
        </p:nvSpPr>
        <p:spPr>
          <a:xfrm>
            <a:off x="229625" y="1104933"/>
            <a:ext cx="8440800" cy="5226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u="sng">
                <a:solidFill>
                  <a:schemeClr val="hlink"/>
                </a:solidFill>
                <a:hlinkClick r:id="rId3"/>
              </a:rPr>
              <a:t>What is a Pattern? </a:t>
            </a:r>
            <a:r>
              <a:rPr lang="en-US"/>
              <a:t>Christopher Alexander states that "Each pattern describes a problem, which occurs over and over again in our environment, and then describes the core of the solution to that problem in such a way that you can use this solution a million times over, without ever doing it the same way twice."</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US"/>
              <a:t>Explore different Design Patterns </a:t>
            </a:r>
            <a:endParaRPr/>
          </a:p>
          <a:p>
            <a:pPr indent="-342900" lvl="0" marL="457200" rtl="0" algn="l">
              <a:lnSpc>
                <a:spcPct val="115000"/>
              </a:lnSpc>
              <a:spcBef>
                <a:spcPts val="0"/>
              </a:spcBef>
              <a:spcAft>
                <a:spcPts val="0"/>
              </a:spcAft>
              <a:buSzPts val="1800"/>
              <a:buChar char="●"/>
            </a:pPr>
            <a:r>
              <a:rPr lang="en-US" u="sng">
                <a:solidFill>
                  <a:schemeClr val="hlink"/>
                </a:solidFill>
                <a:hlinkClick r:id="rId4"/>
              </a:rPr>
              <a:t>Creational patterns</a:t>
            </a:r>
            <a:r>
              <a:rPr lang="en-US"/>
              <a:t> </a:t>
            </a:r>
            <a:endParaRPr/>
          </a:p>
          <a:p>
            <a:pPr indent="-342900" lvl="0" marL="457200" rtl="0" algn="l">
              <a:lnSpc>
                <a:spcPct val="115000"/>
              </a:lnSpc>
              <a:spcBef>
                <a:spcPts val="0"/>
              </a:spcBef>
              <a:spcAft>
                <a:spcPts val="0"/>
              </a:spcAft>
              <a:buSzPts val="1800"/>
              <a:buChar char="●"/>
            </a:pPr>
            <a:r>
              <a:rPr lang="en-US" u="sng">
                <a:solidFill>
                  <a:schemeClr val="hlink"/>
                </a:solidFill>
                <a:hlinkClick r:id="rId5"/>
              </a:rPr>
              <a:t>Structural patterns </a:t>
            </a:r>
            <a:endParaRPr/>
          </a:p>
          <a:p>
            <a:pPr indent="-342900" lvl="0" marL="457200" rtl="0" algn="l">
              <a:lnSpc>
                <a:spcPct val="115000"/>
              </a:lnSpc>
              <a:spcBef>
                <a:spcPts val="0"/>
              </a:spcBef>
              <a:spcAft>
                <a:spcPts val="0"/>
              </a:spcAft>
              <a:buSzPts val="1800"/>
              <a:buChar char="●"/>
            </a:pPr>
            <a:r>
              <a:rPr lang="en-US" u="sng">
                <a:solidFill>
                  <a:schemeClr val="hlink"/>
                </a:solidFill>
                <a:hlinkClick r:id="rId6"/>
              </a:rPr>
              <a:t>Behavioral patterns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4"/>
          <p:cNvSpPr txBox="1"/>
          <p:nvPr>
            <p:ph type="title"/>
          </p:nvPr>
        </p:nvSpPr>
        <p:spPr>
          <a:xfrm>
            <a:off x="311700" y="2259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Django Design Philosophies</a:t>
            </a:r>
            <a:endParaRPr/>
          </a:p>
        </p:txBody>
      </p:sp>
      <p:sp>
        <p:nvSpPr>
          <p:cNvPr id="432" name="Google Shape;432;p54"/>
          <p:cNvSpPr txBox="1"/>
          <p:nvPr>
            <p:ph idx="1" type="body"/>
          </p:nvPr>
        </p:nvSpPr>
        <p:spPr>
          <a:xfrm>
            <a:off x="311700" y="989478"/>
            <a:ext cx="5281800" cy="76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u="sng">
                <a:solidFill>
                  <a:schemeClr val="accent5"/>
                </a:solidFill>
                <a:hlinkClick r:id="rId3">
                  <a:extLst>
                    <a:ext uri="{A12FA001-AC4F-418D-AE19-62706E023703}">
                      <ahyp:hlinkClr val="tx"/>
                    </a:ext>
                  </a:extLst>
                </a:hlinkClick>
              </a:rPr>
              <a:t>Django design philosophies </a:t>
            </a:r>
            <a:endParaRPr/>
          </a:p>
        </p:txBody>
      </p:sp>
      <p:pic>
        <p:nvPicPr>
          <p:cNvPr id="433" name="Google Shape;433;p54"/>
          <p:cNvPicPr preferRelativeResize="0"/>
          <p:nvPr/>
        </p:nvPicPr>
        <p:blipFill rotWithShape="1">
          <a:blip r:embed="rId4">
            <a:alphaModFix/>
          </a:blip>
          <a:srcRect b="24881" l="6264" r="6255" t="25417"/>
          <a:stretch/>
        </p:blipFill>
        <p:spPr>
          <a:xfrm>
            <a:off x="4496775" y="2687267"/>
            <a:ext cx="4509349" cy="2979468"/>
          </a:xfrm>
          <a:prstGeom prst="rect">
            <a:avLst/>
          </a:prstGeom>
          <a:noFill/>
          <a:ln>
            <a:noFill/>
          </a:ln>
        </p:spPr>
      </p:pic>
      <p:sp>
        <p:nvSpPr>
          <p:cNvPr id="434" name="Google Shape;434;p54"/>
          <p:cNvSpPr txBox="1"/>
          <p:nvPr/>
        </p:nvSpPr>
        <p:spPr>
          <a:xfrm>
            <a:off x="455805" y="5959700"/>
            <a:ext cx="6965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sng" cap="none" strike="noStrike">
                <a:solidFill>
                  <a:schemeClr val="accent5"/>
                </a:solidFill>
                <a:latin typeface="Lato"/>
                <a:ea typeface="Lato"/>
                <a:cs typeface="Lato"/>
                <a:sym typeface="Lato"/>
                <a:hlinkClick r:id="rId5">
                  <a:extLst>
                    <a:ext uri="{A12FA001-AC4F-418D-AE19-62706E023703}">
                      <ahyp:hlinkClr val="tx"/>
                    </a:ext>
                  </a:extLst>
                </a:hlinkClick>
              </a:rPr>
              <a:t>10 Popular Django Websites That You Probably Know</a:t>
            </a:r>
            <a:r>
              <a:rPr b="0" i="0" lang="en-US" sz="1800" u="none" cap="none" strike="noStrike">
                <a:solidFill>
                  <a:srgbClr val="F3F3F3"/>
                </a:solidFill>
                <a:latin typeface="Lato"/>
                <a:ea typeface="Lato"/>
                <a:cs typeface="Lato"/>
                <a:sym typeface="Lato"/>
              </a:rPr>
              <a:t> </a:t>
            </a:r>
            <a:endParaRPr b="0" i="0" sz="1400" u="none" cap="none" strike="noStrike">
              <a:solidFill>
                <a:srgbClr val="000000"/>
              </a:solidFill>
              <a:latin typeface="Arial"/>
              <a:ea typeface="Arial"/>
              <a:cs typeface="Arial"/>
              <a:sym typeface="Arial"/>
            </a:endParaRPr>
          </a:p>
        </p:txBody>
      </p:sp>
      <p:sp>
        <p:nvSpPr>
          <p:cNvPr id="435" name="Google Shape;435;p54"/>
          <p:cNvSpPr txBox="1"/>
          <p:nvPr/>
        </p:nvSpPr>
        <p:spPr>
          <a:xfrm>
            <a:off x="311700" y="1706300"/>
            <a:ext cx="8520600" cy="78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F3F3F3"/>
                </a:solidFill>
                <a:latin typeface="Lato"/>
                <a:ea typeface="Lato"/>
                <a:cs typeface="Lato"/>
                <a:sym typeface="Lato"/>
              </a:rPr>
              <a:t>Remember from Ch01 and L01 : The goal is to allow software developers to write complex software more productively. </a:t>
            </a:r>
            <a:endParaRPr b="0" i="0" sz="1400" u="none" cap="none" strike="noStrike">
              <a:solidFill>
                <a:srgbClr val="000000"/>
              </a:solidFill>
              <a:latin typeface="Arial"/>
              <a:ea typeface="Arial"/>
              <a:cs typeface="Arial"/>
              <a:sym typeface="Arial"/>
            </a:endParaRPr>
          </a:p>
        </p:txBody>
      </p:sp>
      <p:sp>
        <p:nvSpPr>
          <p:cNvPr id="436" name="Google Shape;436;p54"/>
          <p:cNvSpPr txBox="1"/>
          <p:nvPr/>
        </p:nvSpPr>
        <p:spPr>
          <a:xfrm>
            <a:off x="311700" y="2822400"/>
            <a:ext cx="4110600" cy="184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4 techniques</a:t>
            </a:r>
            <a:endParaRPr b="0" i="0" sz="1800" u="none" cap="none" strike="noStrike">
              <a:solidFill>
                <a:schemeClr val="dk1"/>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 Code that writes code (Synthesis, generators)</a:t>
            </a:r>
            <a:endParaRPr b="0" i="0" sz="1800" u="none" cap="none" strike="noStrike">
              <a:solidFill>
                <a:schemeClr val="dk1"/>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 Clarity via conciseness</a:t>
            </a:r>
            <a:endParaRPr b="0" i="0" sz="1800" u="none" cap="none" strike="noStrike">
              <a:solidFill>
                <a:schemeClr val="dk1"/>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 Reuse</a:t>
            </a:r>
            <a:endParaRPr b="0" i="0" sz="1800" u="none" cap="none" strike="noStrike">
              <a:solidFill>
                <a:schemeClr val="dk1"/>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 Automation and Tools</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5"/>
          <p:cNvSpPr txBox="1"/>
          <p:nvPr>
            <p:ph type="title"/>
          </p:nvPr>
        </p:nvSpPr>
        <p:spPr>
          <a:xfrm>
            <a:off x="189725" y="164733"/>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Django MVT Design Pattern</a:t>
            </a:r>
            <a:endParaRPr/>
          </a:p>
        </p:txBody>
      </p:sp>
      <p:sp>
        <p:nvSpPr>
          <p:cNvPr id="442" name="Google Shape;442;p55"/>
          <p:cNvSpPr txBox="1"/>
          <p:nvPr>
            <p:ph idx="1" type="body"/>
          </p:nvPr>
        </p:nvSpPr>
        <p:spPr>
          <a:xfrm>
            <a:off x="229625" y="735267"/>
            <a:ext cx="8440800" cy="853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a:t>Some Django Patterns we will be using. </a:t>
            </a:r>
            <a:r>
              <a:rPr lang="en-US" u="sng">
                <a:solidFill>
                  <a:schemeClr val="accent5"/>
                </a:solidFill>
                <a:hlinkClick r:id="rId3">
                  <a:extLst>
                    <a:ext uri="{A12FA001-AC4F-418D-AE19-62706E023703}">
                      <ahyp:hlinkClr val="tx"/>
                    </a:ext>
                  </a:extLst>
                </a:hlinkClick>
              </a:rPr>
              <a:t>Design Patterns Cheat Sheet</a:t>
            </a:r>
            <a:r>
              <a:rPr lang="en-US"/>
              <a:t>  </a:t>
            </a:r>
            <a:endParaRPr/>
          </a:p>
        </p:txBody>
      </p:sp>
      <p:graphicFrame>
        <p:nvGraphicFramePr>
          <p:cNvPr id="443" name="Google Shape;443;p55"/>
          <p:cNvGraphicFramePr/>
          <p:nvPr/>
        </p:nvGraphicFramePr>
        <p:xfrm>
          <a:off x="201588" y="1287275"/>
          <a:ext cx="3000000" cy="3000000"/>
        </p:xfrm>
        <a:graphic>
          <a:graphicData uri="http://schemas.openxmlformats.org/drawingml/2006/table">
            <a:tbl>
              <a:tblPr>
                <a:solidFill>
                  <a:srgbClr val="FFFFFF"/>
                </a:solidFill>
                <a:tableStyleId>{232C1606-2CB2-444E-9CAF-5D1FB21A1956}</a:tableStyleId>
              </a:tblPr>
              <a:tblGrid>
                <a:gridCol w="1556800"/>
                <a:gridCol w="2205525"/>
                <a:gridCol w="4978500"/>
              </a:tblGrid>
              <a:tr h="508000">
                <a:tc>
                  <a:txBody>
                    <a:bodyPr/>
                    <a:lstStyle/>
                    <a:p>
                      <a:pPr indent="0" lvl="0" marL="0" marR="0" rtl="0" algn="l">
                        <a:lnSpc>
                          <a:spcPct val="100000"/>
                        </a:lnSpc>
                        <a:spcBef>
                          <a:spcPts val="0"/>
                        </a:spcBef>
                        <a:spcAft>
                          <a:spcPts val="0"/>
                        </a:spcAft>
                        <a:buClr>
                          <a:srgbClr val="000000"/>
                        </a:buClr>
                        <a:buSzPts val="1700"/>
                        <a:buFont typeface="Arial"/>
                        <a:buNone/>
                      </a:pPr>
                      <a:r>
                        <a:rPr b="1" lang="en-US" sz="1500" u="none" cap="none" strike="noStrike"/>
                        <a:t>GoF Pattern</a:t>
                      </a:r>
                      <a:endParaRPr b="1" sz="15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b="1" lang="en-US" sz="1500" u="none" cap="none" strike="noStrike"/>
                        <a:t>Django Component</a:t>
                      </a:r>
                      <a:endParaRPr b="1" sz="15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b="1" lang="en-US" sz="1500" u="none" cap="none" strike="noStrike"/>
                        <a:t>Explanation</a:t>
                      </a:r>
                      <a:endParaRPr b="1" sz="1500" u="none" cap="none" strike="noStrike"/>
                    </a:p>
                  </a:txBody>
                  <a:tcPr marT="121900" marB="121900" marR="91425" marL="91425"/>
                </a:tc>
              </a:tr>
              <a:tr h="508000">
                <a:tc>
                  <a:txBody>
                    <a:bodyPr/>
                    <a:lstStyle/>
                    <a:p>
                      <a:pPr indent="0" lvl="0" marL="0" marR="0" rtl="0" algn="l">
                        <a:lnSpc>
                          <a:spcPct val="100000"/>
                        </a:lnSpc>
                        <a:spcBef>
                          <a:spcPts val="0"/>
                        </a:spcBef>
                        <a:spcAft>
                          <a:spcPts val="0"/>
                        </a:spcAft>
                        <a:buClr>
                          <a:srgbClr val="000000"/>
                        </a:buClr>
                        <a:buSzPts val="1700"/>
                        <a:buFont typeface="Arial"/>
                        <a:buNone/>
                      </a:pPr>
                      <a:r>
                        <a:rPr lang="en-US" sz="1500" u="none" cap="none" strike="noStrike"/>
                        <a:t>Command Pattern</a:t>
                      </a:r>
                      <a:endParaRPr sz="1500" u="none" cap="none" strike="noStrike"/>
                    </a:p>
                  </a:txBody>
                  <a:tcPr marT="121900" marB="121900"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700"/>
                        <a:buFont typeface="Arial"/>
                        <a:buNone/>
                      </a:pPr>
                      <a:r>
                        <a:rPr lang="en-US" sz="1500" u="sng" cap="none" strike="noStrike">
                          <a:solidFill>
                            <a:srgbClr val="0000FF"/>
                          </a:solidFill>
                          <a:hlinkClick r:id="rId4">
                            <a:extLst>
                              <a:ext uri="{A12FA001-AC4F-418D-AE19-62706E023703}">
                                <ahyp:hlinkClr val="tx"/>
                              </a:ext>
                            </a:extLst>
                          </a:hlinkClick>
                        </a:rPr>
                        <a:t>Http Request</a:t>
                      </a:r>
                      <a:endParaRPr sz="1500" u="none" cap="none" strike="noStrike">
                        <a:solidFill>
                          <a:srgbClr val="0000FF"/>
                        </a:solidFill>
                      </a:endParaRPr>
                    </a:p>
                  </a:txBody>
                  <a:tcPr marT="121900" marB="121900"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700"/>
                        <a:buFont typeface="Arial"/>
                        <a:buNone/>
                      </a:pPr>
                      <a:r>
                        <a:rPr lang="en-US" sz="1500" u="none" cap="none" strike="noStrike"/>
                        <a:t>This encapsulates a request in an object</a:t>
                      </a:r>
                      <a:endParaRPr sz="1500" u="none" cap="none" strike="noStrike"/>
                    </a:p>
                  </a:txBody>
                  <a:tcPr marT="121900" marB="121900" marR="91425" marL="91425">
                    <a:solidFill>
                      <a:srgbClr val="D9EAD3"/>
                    </a:solidFill>
                  </a:tcPr>
                </a:tc>
              </a:tr>
              <a:tr h="508000">
                <a:tc>
                  <a:txBody>
                    <a:bodyPr/>
                    <a:lstStyle/>
                    <a:p>
                      <a:pPr indent="0" lvl="0" marL="0" marR="0" rtl="0" algn="l">
                        <a:lnSpc>
                          <a:spcPct val="100000"/>
                        </a:lnSpc>
                        <a:spcBef>
                          <a:spcPts val="0"/>
                        </a:spcBef>
                        <a:spcAft>
                          <a:spcPts val="0"/>
                        </a:spcAft>
                        <a:buClr>
                          <a:srgbClr val="000000"/>
                        </a:buClr>
                        <a:buSzPts val="1700"/>
                        <a:buFont typeface="Arial"/>
                        <a:buNone/>
                      </a:pPr>
                      <a:r>
                        <a:rPr lang="en-US" sz="1500" u="none" cap="none" strike="noStrike"/>
                        <a:t>Observer pattern</a:t>
                      </a:r>
                      <a:endParaRPr sz="15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500" u="sng" cap="none" strike="noStrike">
                          <a:solidFill>
                            <a:srgbClr val="0000FF"/>
                          </a:solidFill>
                          <a:hlinkClick r:id="rId5">
                            <a:extLst>
                              <a:ext uri="{A12FA001-AC4F-418D-AE19-62706E023703}">
                                <ahyp:hlinkClr val="tx"/>
                              </a:ext>
                            </a:extLst>
                          </a:hlinkClick>
                        </a:rPr>
                        <a:t>Signals</a:t>
                      </a:r>
                      <a:endParaRPr sz="1500" u="none" cap="none" strike="noStrike">
                        <a:solidFill>
                          <a:srgbClr val="0000FF"/>
                        </a:solidFill>
                      </a:endParaRPr>
                    </a:p>
                  </a:txBody>
                  <a:tcPr marT="121900" marB="121900"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500" u="none" cap="none" strike="noStrike"/>
                        <a:t>When one object changes state, all its listeners are notified and updated automatically</a:t>
                      </a:r>
                      <a:endParaRPr sz="1500" u="none" cap="none" strike="noStrike"/>
                    </a:p>
                  </a:txBody>
                  <a:tcPr marT="121900" marB="121900" marR="91425" marL="91425"/>
                </a:tc>
              </a:tr>
              <a:tr h="508000">
                <a:tc>
                  <a:txBody>
                    <a:bodyPr/>
                    <a:lstStyle/>
                    <a:p>
                      <a:pPr indent="0" lvl="0" marL="0" marR="0" rtl="0" algn="l">
                        <a:lnSpc>
                          <a:spcPct val="100000"/>
                        </a:lnSpc>
                        <a:spcBef>
                          <a:spcPts val="0"/>
                        </a:spcBef>
                        <a:spcAft>
                          <a:spcPts val="0"/>
                        </a:spcAft>
                        <a:buClr>
                          <a:srgbClr val="000000"/>
                        </a:buClr>
                        <a:buSzPts val="1700"/>
                        <a:buFont typeface="Arial"/>
                        <a:buNone/>
                      </a:pPr>
                      <a:r>
                        <a:rPr lang="en-US" sz="1500" u="none" cap="none" strike="noStrike"/>
                        <a:t>Template Method</a:t>
                      </a:r>
                      <a:endParaRPr sz="15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500" u="sng" cap="none" strike="noStrike">
                          <a:solidFill>
                            <a:srgbClr val="0000FF"/>
                          </a:solidFill>
                          <a:hlinkClick r:id="rId6">
                            <a:extLst>
                              <a:ext uri="{A12FA001-AC4F-418D-AE19-62706E023703}">
                                <ahyp:hlinkClr val="tx"/>
                              </a:ext>
                            </a:extLst>
                          </a:hlinkClick>
                        </a:rPr>
                        <a:t>Class-based generic views</a:t>
                      </a:r>
                      <a:endParaRPr sz="1500" u="none" cap="none" strike="noStrike">
                        <a:solidFill>
                          <a:srgbClr val="0000FF"/>
                        </a:solidFill>
                      </a:endParaRPr>
                    </a:p>
                  </a:txBody>
                  <a:tcPr marT="121900" marB="121900"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500" u="none" cap="none" strike="noStrike"/>
                        <a:t>Steps of an algorithm can be redefined by subclassing without changing the algorithm's structure</a:t>
                      </a:r>
                      <a:endParaRPr sz="1500" u="none" cap="none" strike="noStrike"/>
                    </a:p>
                  </a:txBody>
                  <a:tcPr marT="121900" marB="121900" marR="91425" marL="91425"/>
                </a:tc>
              </a:tr>
              <a:tr h="508000">
                <a:tc>
                  <a:txBody>
                    <a:bodyPr/>
                    <a:lstStyle/>
                    <a:p>
                      <a:pPr indent="0" lvl="0" marL="0" marR="0" rtl="0" algn="l">
                        <a:lnSpc>
                          <a:spcPct val="100000"/>
                        </a:lnSpc>
                        <a:spcBef>
                          <a:spcPts val="0"/>
                        </a:spcBef>
                        <a:spcAft>
                          <a:spcPts val="0"/>
                        </a:spcAft>
                        <a:buClr>
                          <a:srgbClr val="000000"/>
                        </a:buClr>
                        <a:buSzPts val="1700"/>
                        <a:buFont typeface="Arial"/>
                        <a:buNone/>
                      </a:pPr>
                      <a:r>
                        <a:rPr lang="en-US" sz="1500" u="none" cap="none" strike="noStrike"/>
                        <a:t>Active Record</a:t>
                      </a:r>
                      <a:endParaRPr sz="15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500" u="sng" cap="none" strike="noStrike">
                          <a:solidFill>
                            <a:srgbClr val="0000FF"/>
                          </a:solidFill>
                          <a:hlinkClick r:id="rId7">
                            <a:extLst>
                              <a:ext uri="{A12FA001-AC4F-418D-AE19-62706E023703}">
                                <ahyp:hlinkClr val="tx"/>
                              </a:ext>
                            </a:extLst>
                          </a:hlinkClick>
                        </a:rPr>
                        <a:t>Django Models</a:t>
                      </a:r>
                      <a:endParaRPr sz="1500" u="none" cap="none" strike="noStrike">
                        <a:solidFill>
                          <a:srgbClr val="0000FF"/>
                        </a:solidFill>
                      </a:endParaRPr>
                    </a:p>
                  </a:txBody>
                  <a:tcPr marT="121900" marB="121900"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500"/>
                        <a:t>Django models and ORM use Active Record concept</a:t>
                      </a:r>
                      <a:endParaRPr sz="1500" u="none" cap="none" strike="noStrike"/>
                    </a:p>
                  </a:txBody>
                  <a:tcPr marT="121900" marB="121900" marR="91425" marL="91425"/>
                </a:tc>
              </a:tr>
              <a:tr h="508000">
                <a:tc>
                  <a:txBody>
                    <a:bodyPr/>
                    <a:lstStyle/>
                    <a:p>
                      <a:pPr indent="0" lvl="0" marL="0" marR="0" rtl="0" algn="l">
                        <a:lnSpc>
                          <a:spcPct val="100000"/>
                        </a:lnSpc>
                        <a:spcBef>
                          <a:spcPts val="0"/>
                        </a:spcBef>
                        <a:spcAft>
                          <a:spcPts val="0"/>
                        </a:spcAft>
                        <a:buClr>
                          <a:srgbClr val="000000"/>
                        </a:buClr>
                        <a:buSzPts val="1700"/>
                        <a:buFont typeface="Arial"/>
                        <a:buNone/>
                      </a:pPr>
                      <a:r>
                        <a:rPr lang="en-US" sz="1500" u="none" cap="none" strike="noStrike"/>
                        <a:t>Class Table Inheritance</a:t>
                      </a:r>
                      <a:endParaRPr sz="15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500" u="sng" cap="none" strike="noStrike">
                          <a:solidFill>
                            <a:srgbClr val="0000FF"/>
                          </a:solidFill>
                          <a:hlinkClick r:id="rId8">
                            <a:extLst>
                              <a:ext uri="{A12FA001-AC4F-418D-AE19-62706E023703}">
                                <ahyp:hlinkClr val="tx"/>
                              </a:ext>
                            </a:extLst>
                          </a:hlinkClick>
                        </a:rPr>
                        <a:t>Model Inheritance</a:t>
                      </a:r>
                      <a:endParaRPr sz="1500" u="none" cap="none" strike="noStrike">
                        <a:solidFill>
                          <a:srgbClr val="0000FF"/>
                        </a:solidFill>
                      </a:endParaRPr>
                    </a:p>
                  </a:txBody>
                  <a:tcPr marT="121900" marB="121900"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500" u="none" cap="none" strike="noStrike"/>
                        <a:t>Each entity in the hierarchy is mapped to a separate table</a:t>
                      </a:r>
                      <a:endParaRPr sz="1500" u="none" cap="none" strike="noStrike"/>
                    </a:p>
                  </a:txBody>
                  <a:tcPr marT="121900" marB="121900" marR="91425" marL="91425"/>
                </a:tc>
              </a:tr>
              <a:tr h="508000">
                <a:tc>
                  <a:txBody>
                    <a:bodyPr/>
                    <a:lstStyle/>
                    <a:p>
                      <a:pPr indent="0" lvl="0" marL="0" marR="0" rtl="0" algn="l">
                        <a:lnSpc>
                          <a:spcPct val="100000"/>
                        </a:lnSpc>
                        <a:spcBef>
                          <a:spcPts val="0"/>
                        </a:spcBef>
                        <a:spcAft>
                          <a:spcPts val="0"/>
                        </a:spcAft>
                        <a:buClr>
                          <a:srgbClr val="000000"/>
                        </a:buClr>
                        <a:buSzPts val="1700"/>
                        <a:buFont typeface="Arial"/>
                        <a:buNone/>
                      </a:pPr>
                      <a:r>
                        <a:rPr lang="en-US" sz="1500" u="none" cap="none" strike="noStrike"/>
                        <a:t>Identity Field</a:t>
                      </a:r>
                      <a:endParaRPr sz="15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500" u="sng" cap="none" strike="noStrike">
                          <a:solidFill>
                            <a:srgbClr val="0000FF"/>
                          </a:solidFill>
                          <a:hlinkClick r:id="rId9">
                            <a:extLst>
                              <a:ext uri="{A12FA001-AC4F-418D-AE19-62706E023703}">
                                <ahyp:hlinkClr val="tx"/>
                              </a:ext>
                            </a:extLst>
                          </a:hlinkClick>
                        </a:rPr>
                        <a:t>Model Id Field</a:t>
                      </a:r>
                      <a:endParaRPr sz="1500" u="none" cap="none" strike="noStrike">
                        <a:solidFill>
                          <a:srgbClr val="0000FF"/>
                        </a:solidFill>
                      </a:endParaRPr>
                    </a:p>
                  </a:txBody>
                  <a:tcPr marT="121900" marB="121900"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500" u="none" cap="none" strike="noStrike"/>
                        <a:t>Id Field</a:t>
                      </a:r>
                      <a:endParaRPr sz="1500" u="none" cap="none" strike="noStrike"/>
                    </a:p>
                  </a:txBody>
                  <a:tcPr marT="121900" marB="121900" marR="91425" marL="91425"/>
                </a:tc>
              </a:tr>
              <a:tr h="508000">
                <a:tc>
                  <a:txBody>
                    <a:bodyPr/>
                    <a:lstStyle/>
                    <a:p>
                      <a:pPr indent="0" lvl="0" marL="0" marR="0" rtl="0" algn="l">
                        <a:lnSpc>
                          <a:spcPct val="100000"/>
                        </a:lnSpc>
                        <a:spcBef>
                          <a:spcPts val="0"/>
                        </a:spcBef>
                        <a:spcAft>
                          <a:spcPts val="0"/>
                        </a:spcAft>
                        <a:buClr>
                          <a:srgbClr val="000000"/>
                        </a:buClr>
                        <a:buSzPts val="1700"/>
                        <a:buFont typeface="Arial"/>
                        <a:buNone/>
                      </a:pPr>
                      <a:r>
                        <a:rPr lang="en-US" sz="1500" u="none" cap="none" strike="noStrike"/>
                        <a:t>Template View</a:t>
                      </a:r>
                      <a:endParaRPr sz="15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500" u="sng" cap="none" strike="noStrike">
                          <a:solidFill>
                            <a:srgbClr val="0000FF"/>
                          </a:solidFill>
                          <a:hlinkClick r:id="rId10">
                            <a:extLst>
                              <a:ext uri="{A12FA001-AC4F-418D-AE19-62706E023703}">
                                <ahyp:hlinkClr val="tx"/>
                              </a:ext>
                            </a:extLst>
                          </a:hlinkClick>
                        </a:rPr>
                        <a:t>Django Templates</a:t>
                      </a:r>
                      <a:endParaRPr sz="1500" u="none" cap="none" strike="noStrike">
                        <a:solidFill>
                          <a:srgbClr val="0000FF"/>
                        </a:solidFill>
                      </a:endParaRPr>
                    </a:p>
                  </a:txBody>
                  <a:tcPr marT="121900" marB="121900"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500" u="none" cap="none" strike="noStrike"/>
                        <a:t>Renders into HTML by embedding markers in HTML</a:t>
                      </a:r>
                      <a:endParaRPr sz="1500" u="none" cap="none" strike="noStrike"/>
                    </a:p>
                  </a:txBody>
                  <a:tcPr marT="121900" marB="121900" marR="91425" marL="91425"/>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6"/>
          <p:cNvSpPr txBox="1"/>
          <p:nvPr>
            <p:ph type="title"/>
          </p:nvPr>
        </p:nvSpPr>
        <p:spPr>
          <a:xfrm>
            <a:off x="311700" y="243100"/>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Technology Versions</a:t>
            </a:r>
            <a:endParaRPr/>
          </a:p>
        </p:txBody>
      </p:sp>
      <p:sp>
        <p:nvSpPr>
          <p:cNvPr id="449" name="Google Shape;449;p56"/>
          <p:cNvSpPr txBox="1"/>
          <p:nvPr>
            <p:ph idx="1" type="body"/>
          </p:nvPr>
        </p:nvSpPr>
        <p:spPr>
          <a:xfrm>
            <a:off x="311700" y="1151400"/>
            <a:ext cx="8520600" cy="4555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a:t>Version Compatibility </a:t>
            </a:r>
            <a:r>
              <a:rPr lang="en-US" u="sng">
                <a:solidFill>
                  <a:schemeClr val="hlink"/>
                </a:solidFill>
                <a:hlinkClick r:id="rId3"/>
              </a:rPr>
              <a:t>FAQ: Installation | Django documentation</a:t>
            </a:r>
            <a:r>
              <a:rPr lang="en-US"/>
              <a:t>  It is important to keep versions given in the GE documentation and let me know if somethings is not working due to versions.</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