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Lato"/>
      <p:regular r:id="rId25"/>
      <p:bold r:id="rId26"/>
      <p:italic r:id="rId27"/>
      <p:boldItalic r:id="rId28"/>
    </p:embeddedFont>
    <p:embeddedFont>
      <p:font typeface="Lexen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pmQEPES/xx9nyxhmY8+LTtIwL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395507-89B8-4AF4-900D-B90AE77F9A72}">
  <a:tblStyle styleId="{A6395507-89B8-4AF4-900D-B90AE77F9A7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173581A-89AC-4835-B50F-266F8EEED04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Lexen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5fc274259841ee85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5fc274259841ee85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5fc274259841ee85_2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h5fc274259841ee85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5fc274259841ee85_2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5fc274259841ee85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5fc274259841ee85_2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5fc274259841ee85_2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5fc274259841ee85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5fc274259841ee85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5fc274259841ee85_2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h5fc274259841ee85_2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h5fc274259841ee85_2_2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5fc274259841ee85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5fc274259841ee85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5fc274259841ee85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5fc274259841ee85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5fc274259841ee85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5fc274259841ee85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5fc274259841ee85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5fc274259841ee85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5fc274259841ee85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5fc274259841ee85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5fc274259841ee85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5fc274259841ee85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5fc274259841ee85_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h5fc274259841ee85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5fc274259841ee85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5fc274259841ee85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5fc274259841ee85_2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h5fc274259841ee85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64579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8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3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6" name="Google Shape;4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</a:lstStyle>
          <a:p/>
        </p:txBody>
      </p:sp>
      <p:sp>
        <p:nvSpPr>
          <p:cNvPr id="49" name="Google Shape;4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2"/>
          <p:cNvSpPr txBox="1"/>
          <p:nvPr>
            <p:ph type="title"/>
          </p:nvPr>
        </p:nvSpPr>
        <p:spPr>
          <a:xfrm>
            <a:off x="457200" y="161528"/>
            <a:ext cx="8229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400"/>
              <a:buFont typeface="Times New Roman"/>
              <a:buNone/>
              <a:defRPr b="1" i="0" sz="3400" u="none" cap="none" strike="noStrik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" name="Google Shape;58;p42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Lato"/>
              <a:buChar char="•"/>
              <a:defRPr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Lato"/>
              <a:buChar char="–"/>
              <a:defRPr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Lato"/>
              <a:buChar char="▪"/>
              <a:defRPr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Lato"/>
              <a:buChar char="–"/>
              <a:defRPr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Lato"/>
              <a:buChar char="•"/>
              <a:defRPr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Lato"/>
              <a:buChar char="•"/>
              <a:defRPr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Lato"/>
              <a:buChar char="•"/>
              <a:defRPr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Lato"/>
              <a:buChar char="•"/>
              <a:defRPr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Lato"/>
              <a:buChar char="•"/>
              <a:defRPr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>
  <p:cSld name="Title and Two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3"/>
          <p:cNvSpPr txBox="1"/>
          <p:nvPr>
            <p:ph type="title"/>
          </p:nvPr>
        </p:nvSpPr>
        <p:spPr>
          <a:xfrm>
            <a:off x="457200" y="161528"/>
            <a:ext cx="82296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400"/>
              <a:buFont typeface="Times New Roman"/>
              <a:buNone/>
              <a:defRPr b="1" i="0" sz="3400" u="none" cap="none" strike="noStrik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" name="Google Shape;61;p43"/>
          <p:cNvSpPr txBox="1"/>
          <p:nvPr>
            <p:ph idx="1" type="body"/>
          </p:nvPr>
        </p:nvSpPr>
        <p:spPr>
          <a:xfrm>
            <a:off x="457200" y="1200150"/>
            <a:ext cx="82296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43"/>
          <p:cNvSpPr txBox="1"/>
          <p:nvPr>
            <p:ph idx="2" type="body"/>
          </p:nvPr>
        </p:nvSpPr>
        <p:spPr>
          <a:xfrm>
            <a:off x="457200" y="2971800"/>
            <a:ext cx="8229600" cy="16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43"/>
          <p:cNvSpPr txBox="1"/>
          <p:nvPr>
            <p:ph idx="11" type="ftr"/>
          </p:nvPr>
        </p:nvSpPr>
        <p:spPr>
          <a:xfrm>
            <a:off x="93969" y="4629150"/>
            <a:ext cx="85953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3"/>
          <p:cNvSpPr txBox="1"/>
          <p:nvPr>
            <p:ph idx="10" type="dt"/>
          </p:nvPr>
        </p:nvSpPr>
        <p:spPr>
          <a:xfrm>
            <a:off x="6335712" y="84803"/>
            <a:ext cx="21336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3"/>
          <p:cNvSpPr txBox="1"/>
          <p:nvPr>
            <p:ph idx="12" type="sldNum"/>
          </p:nvPr>
        </p:nvSpPr>
        <p:spPr>
          <a:xfrm>
            <a:off x="8469311" y="84803"/>
            <a:ext cx="551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Lato"/>
              <a:buNone/>
              <a:defRPr b="0" i="0" sz="2800" u="none" cap="none" strike="noStrike">
                <a:solidFill>
                  <a:srgbClr val="F3F3F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earning.oreilly.com/library/view/django-design-patterns/9781783986644/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docs.djangoproject.com/en/6.1/topics/db/models/" TargetMode="External"/><Relationship Id="rId5" Type="http://schemas.openxmlformats.org/officeDocument/2006/relationships/hyperlink" Target="https://docs.djangoproject.com/en/6.1/topics/db/model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tutorialsteacher.com/sqlserver/tables-relations" TargetMode="External"/><Relationship Id="rId4" Type="http://schemas.openxmlformats.org/officeDocument/2006/relationships/hyperlink" Target="https://unwiredlearning.com/blog/django-model-relationships" TargetMode="External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djangoproject.com/en/6.1/topics/db/examples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idx="1" type="subTitle"/>
          </p:nvPr>
        </p:nvSpPr>
        <p:spPr>
          <a:xfrm>
            <a:off x="311700" y="2627700"/>
            <a:ext cx="8520600" cy="20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3200" u="sng">
              <a:solidFill>
                <a:schemeClr val="hlink"/>
              </a:solidFill>
              <a:hlinkClick r:id="rId3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200"/>
              <a:t>Models and Database Relationships</a:t>
            </a:r>
            <a:endParaRPr sz="3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3200"/>
          </a:p>
        </p:txBody>
      </p:sp>
      <p:pic>
        <p:nvPicPr>
          <p:cNvPr id="71" name="Google Shape;71;p1" title="Screenshot 2026-10-05 at 9.49.4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6349" y="304800"/>
            <a:ext cx="2227150" cy="259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5fc274259841ee85_2_140"/>
          <p:cNvSpPr txBox="1"/>
          <p:nvPr>
            <p:ph type="title"/>
          </p:nvPr>
        </p:nvSpPr>
        <p:spPr>
          <a:xfrm>
            <a:off x="303475" y="231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77" name="Google Shape;77;h5fc274259841ee85_2_140"/>
          <p:cNvSpPr txBox="1"/>
          <p:nvPr>
            <p:ph idx="1" type="body"/>
          </p:nvPr>
        </p:nvSpPr>
        <p:spPr>
          <a:xfrm>
            <a:off x="303475" y="803850"/>
            <a:ext cx="874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Branching with Git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Identify one-to-one and one-to-many relationships in a data model.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Explain how primary and foreign keys connect related database records.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Design relationships between Student, Portfolio, and Project based on portfolio requirements.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Implement model relationships using Django OneToOneField and ForeignKey.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Apply migrations after changing Django models and inspect the resulting database tables.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Create and test related records using Django Admin.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 Django ORM queries to retrieve data and navigate relationships between model objects.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Verify that the models, database tables, and stored relationships match the intended design.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8" name="Google Shape;78;h5fc274259841ee85_2_140"/>
          <p:cNvSpPr/>
          <p:nvPr/>
        </p:nvSpPr>
        <p:spPr>
          <a:xfrm>
            <a:off x="682400" y="4186100"/>
            <a:ext cx="6793500" cy="651900"/>
          </a:xfrm>
          <a:prstGeom prst="wedgeRectCallout">
            <a:avLst>
              <a:gd fmla="val -44603" name="adj1"/>
              <a:gd fmla="val -85933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open a link that is not using </a:t>
            </a:r>
            <a:r>
              <a:rPr lang="en">
                <a:highlight>
                  <a:srgbClr val="FFF2CC"/>
                </a:highlight>
              </a:rPr>
              <a:t>6.1 </a:t>
            </a:r>
            <a:r>
              <a:rPr lang="en"/>
              <a:t>just change the old version number https://docs.djangoproject.com/en/</a:t>
            </a:r>
            <a:r>
              <a:rPr lang="en">
                <a:highlight>
                  <a:srgbClr val="FFF2CC"/>
                </a:highlight>
              </a:rPr>
              <a:t>6.1</a:t>
            </a:r>
            <a:r>
              <a:rPr lang="en"/>
              <a:t>/topics/db/models/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5fc274259841ee85_2_146"/>
          <p:cNvSpPr txBox="1"/>
          <p:nvPr>
            <p:ph type="title"/>
          </p:nvPr>
        </p:nvSpPr>
        <p:spPr>
          <a:xfrm>
            <a:off x="189725" y="123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Django Model View Template</a:t>
            </a:r>
            <a:endParaRPr/>
          </a:p>
        </p:txBody>
      </p:sp>
      <p:sp>
        <p:nvSpPr>
          <p:cNvPr id="84" name="Google Shape;84;h5fc274259841ee85_2_146"/>
          <p:cNvSpPr txBox="1"/>
          <p:nvPr>
            <p:ph idx="1" type="body"/>
          </p:nvPr>
        </p:nvSpPr>
        <p:spPr>
          <a:xfrm>
            <a:off x="120600" y="725500"/>
            <a:ext cx="52746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rgbClr val="B6D7A8"/>
                </a:solidFill>
                <a:highlight>
                  <a:srgbClr val="222222"/>
                </a:highlight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lang="en">
                <a:solidFill>
                  <a:srgbClr val="B6D7A8"/>
                </a:solidFill>
                <a:highlight>
                  <a:srgbClr val="222222"/>
                </a:highlight>
                <a:latin typeface="Arial"/>
                <a:ea typeface="Arial"/>
                <a:cs typeface="Arial"/>
                <a:sym typeface="Arial"/>
              </a:rPr>
              <a:t> - Data access layer is the focus of this module.</a:t>
            </a:r>
            <a:endParaRPr>
              <a:solidFill>
                <a:srgbClr val="B6D7A8"/>
              </a:solidFill>
              <a:highlight>
                <a:srgbClr val="22222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EEEEEE"/>
              </a:solidFill>
              <a:highlight>
                <a:srgbClr val="22222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1" lang="en" sz="1500">
                <a:solidFill>
                  <a:srgbClr val="EEEEEE"/>
                </a:solidFill>
                <a:highlight>
                  <a:srgbClr val="222222"/>
                </a:highlight>
                <a:latin typeface="Arial"/>
                <a:ea typeface="Arial"/>
                <a:cs typeface="Arial"/>
                <a:sym typeface="Arial"/>
              </a:rPr>
              <a:t>We will focus on the model and database.</a:t>
            </a:r>
            <a:endParaRPr sz="1500">
              <a:solidFill>
                <a:srgbClr val="EEEEEE"/>
              </a:solidFill>
              <a:highlight>
                <a:srgbClr val="22222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rgbClr val="EEEEEE"/>
              </a:solidFill>
              <a:highlight>
                <a:srgbClr val="22222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</p:txBody>
      </p:sp>
      <p:grpSp>
        <p:nvGrpSpPr>
          <p:cNvPr id="85" name="Google Shape;85;h5fc274259841ee85_2_146"/>
          <p:cNvGrpSpPr/>
          <p:nvPr/>
        </p:nvGrpSpPr>
        <p:grpSpPr>
          <a:xfrm>
            <a:off x="5395210" y="185762"/>
            <a:ext cx="3596354" cy="3040762"/>
            <a:chOff x="3714725" y="576238"/>
            <a:chExt cx="5331881" cy="3991025"/>
          </a:xfrm>
        </p:grpSpPr>
        <p:pic>
          <p:nvPicPr>
            <p:cNvPr id="86" name="Google Shape;86;h5fc274259841ee85_2_1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14725" y="576238"/>
              <a:ext cx="5331881" cy="3991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h5fc274259841ee85_2_146"/>
            <p:cNvSpPr txBox="1"/>
            <p:nvPr/>
          </p:nvSpPr>
          <p:spPr>
            <a:xfrm>
              <a:off x="3952050" y="2267860"/>
              <a:ext cx="1239900" cy="4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Browser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8" name="Google Shape;88;h5fc274259841ee85_2_146"/>
          <p:cNvGraphicFramePr/>
          <p:nvPr/>
        </p:nvGraphicFramePr>
        <p:xfrm>
          <a:off x="120600" y="34607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{A6395507-89B8-4AF4-900D-B90AE77F9A72}</a:tableStyleId>
              </a:tblPr>
              <a:tblGrid>
                <a:gridCol w="1505925"/>
                <a:gridCol w="1830400"/>
                <a:gridCol w="51188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300"/>
                        <a:t>Data to ORM</a:t>
                      </a:r>
                      <a:endParaRPr b="1" sz="1300" u="none" cap="none" strike="noStrike"/>
                    </a:p>
                  </a:txBody>
                  <a:tcPr marT="121900" marB="1219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Django Component</a:t>
                      </a:r>
                      <a:endParaRPr b="1" sz="1300" u="none" cap="none" strike="noStrike"/>
                    </a:p>
                  </a:txBody>
                  <a:tcPr marT="121900" marB="1219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Explanation</a:t>
                      </a:r>
                      <a:endParaRPr b="1" sz="1300" u="none" cap="none" strike="noStrike"/>
                    </a:p>
                  </a:txBody>
                  <a:tcPr marT="121900" marB="1219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300" u="none" cap="none" strike="noStrike"/>
                        <a:t>Active Record</a:t>
                      </a:r>
                      <a:endParaRPr sz="1300" u="none" cap="none" strike="noStrike"/>
                    </a:p>
                  </a:txBody>
                  <a:tcPr marT="121900" marB="1219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300" u="sng" cap="none" strike="noStrike">
                          <a:solidFill>
                            <a:srgbClr val="0000FF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Django Models</a:t>
                      </a:r>
                      <a:endParaRPr sz="13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121900" marB="1219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300"/>
                        <a:t>Django models and ORM use Active Record concept</a:t>
                      </a:r>
                      <a:endParaRPr sz="1300" u="none" cap="none" strike="noStrike"/>
                    </a:p>
                  </a:txBody>
                  <a:tcPr marT="121900" marB="1219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300" u="none" cap="none" strike="noStrike"/>
                        <a:t>Identity Field</a:t>
                      </a:r>
                      <a:endParaRPr sz="1300" u="none" cap="none" strike="noStrike"/>
                    </a:p>
                  </a:txBody>
                  <a:tcPr marT="121900" marB="1219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300" u="sng" cap="none" strike="noStrike">
                          <a:solidFill>
                            <a:srgbClr val="0000FF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Model Id Field</a:t>
                      </a:r>
                      <a:endParaRPr sz="13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121900" marB="1219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300"/>
                        <a:t>Django’s automatic primary key</a:t>
                      </a:r>
                      <a:endParaRPr sz="1300" u="none" cap="none" strike="noStrike"/>
                    </a:p>
                  </a:txBody>
                  <a:tcPr marT="121900" marB="1219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89" name="Google Shape;89;h5fc274259841ee85_2_146"/>
          <p:cNvSpPr/>
          <p:nvPr/>
        </p:nvSpPr>
        <p:spPr>
          <a:xfrm>
            <a:off x="7197125" y="2223200"/>
            <a:ext cx="1789800" cy="9891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5fc274259841ee85_2_229"/>
          <p:cNvSpPr txBox="1"/>
          <p:nvPr>
            <p:ph type="title"/>
          </p:nvPr>
        </p:nvSpPr>
        <p:spPr>
          <a:xfrm>
            <a:off x="311700" y="190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Workflow</a:t>
            </a:r>
            <a:endParaRPr/>
          </a:p>
        </p:txBody>
      </p:sp>
      <p:sp>
        <p:nvSpPr>
          <p:cNvPr id="95" name="Google Shape;95;h5fc274259841ee85_2_229"/>
          <p:cNvSpPr txBox="1"/>
          <p:nvPr>
            <p:ph idx="1" type="body"/>
          </p:nvPr>
        </p:nvSpPr>
        <p:spPr>
          <a:xfrm>
            <a:off x="217325" y="691375"/>
            <a:ext cx="8520600" cy="42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Discuss the following git commands: status,  branch, log, add . , commit -m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 branch gives us a place to build and test an iteration before integrating it into the working application.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Why use a branch? A branch gives us a separate place to develop and test a new feature without immediately changing the working version on main.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Branch Workflow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1. Start with a working main. Make sure previous work is committed and pushed.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2. Create a new branch from main called model_setup. Switch to the new branch before changing your models.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3. Develop and test on this development branch. Add Portfolio and Project, create migrations, test relationships, and run ORM queries. Commit meaningful working increments.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4. When project sprint is done and tested you will merge to main.</a:t>
            </a:r>
            <a:br>
              <a:rPr lang="en" sz="1400"/>
            </a:b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Don't wait until the entire project is finished to commit. After something is implemented and tested commit and push or if you need to stop working on the project.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5fc274259841ee85_2_2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Database</a:t>
            </a:r>
            <a:endParaRPr/>
          </a:p>
        </p:txBody>
      </p:sp>
      <p:sp>
        <p:nvSpPr>
          <p:cNvPr id="101" name="Google Shape;101;h5fc274259841ee85_2_2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Git branch contains your model code and migration files—not your local db.sqlite3.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were working on a team you would each have your own data in your local development database.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each developer migrates after a change in the schema.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311700" y="135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Portfolio App Relationships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394725" y="708175"/>
            <a:ext cx="8437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Read about the</a:t>
            </a:r>
            <a:r>
              <a:rPr lang="en">
                <a:solidFill>
                  <a:srgbClr val="F3F3F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" sz="1400" u="sng" cap="none" strike="noStrike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Tables Relations in SQL Server: One-to-One, One-to-Many, Many-to-Many</a:t>
            </a:r>
            <a:r>
              <a:rPr b="0" i="0" lang="en" sz="1400" u="none" cap="none" strike="noStrike">
                <a:solidFill>
                  <a:srgbClr val="F3F3F3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b="0" i="0" sz="1400" u="none" cap="none" strike="noStrike">
              <a:solidFill>
                <a:srgbClr val="F3F3F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3F3F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F3F3F3"/>
                </a:solidFill>
                <a:latin typeface="Lato"/>
                <a:ea typeface="Lato"/>
                <a:cs typeface="Lato"/>
                <a:sym typeface="Lato"/>
              </a:rPr>
              <a:t>Then explore </a:t>
            </a: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https://unwiredlearning.com/blog/django-model-relationships</a:t>
            </a:r>
            <a:r>
              <a:rPr lang="en">
                <a:solidFill>
                  <a:srgbClr val="F3F3F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400" u="none" cap="none" strike="noStrike">
              <a:solidFill>
                <a:srgbClr val="F3F3F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8" name="Google Shape;10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725" y="2031125"/>
            <a:ext cx="5266100" cy="293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5fc274259841ee85_2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r>
              <a:rPr lang="en"/>
              <a:t> Questions</a:t>
            </a:r>
            <a:endParaRPr/>
          </a:p>
        </p:txBody>
      </p:sp>
      <p:sp>
        <p:nvSpPr>
          <p:cNvPr id="114" name="Google Shape;114;h5fc274259841ee85_2_5"/>
          <p:cNvSpPr txBox="1"/>
          <p:nvPr>
            <p:ph idx="1" type="body"/>
          </p:nvPr>
        </p:nvSpPr>
        <p:spPr>
          <a:xfrm>
            <a:off x="311700" y="1152475"/>
            <a:ext cx="8520600" cy="8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the models (classes) and database </a:t>
            </a:r>
            <a:r>
              <a:rPr lang="en"/>
              <a:t>relationships.</a:t>
            </a:r>
            <a:endParaRPr/>
          </a:p>
        </p:txBody>
      </p:sp>
      <p:graphicFrame>
        <p:nvGraphicFramePr>
          <p:cNvPr id="115" name="Google Shape;115;h5fc274259841ee85_2_5"/>
          <p:cNvGraphicFramePr/>
          <p:nvPr/>
        </p:nvGraphicFramePr>
        <p:xfrm>
          <a:off x="167038" y="208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{6173581A-89AC-4835-B50F-266F8EEED045}</a:tableStyleId>
              </a:tblPr>
              <a:tblGrid>
                <a:gridCol w="1200425"/>
                <a:gridCol w="1451575"/>
                <a:gridCol w="5916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Relationship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Database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 to Ask About the Portfolio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91425" marL="91425" anchor="b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One-to-One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OneToOneField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Should each student have only one of these, and should each of these belong to only one student? Example: Can each Student have only one Portfolio?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91425" marL="91425" anchor="b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One-to-Many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ForeignKey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one Portfolio have several Projects, while each Project belongs to only one Portfolio?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91425" marL="91425" anchor="b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Many-to-Many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ManyToManyField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Could several students/projects share several of these? Example: Could one Project use several Skills, and could the same Skill be used in several Projects? For now, identify this relationship only—you will not implement it.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91425" marL="91425" anchor="b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fc274259841ee85_2_22"/>
          <p:cNvSpPr txBox="1"/>
          <p:nvPr>
            <p:ph type="title"/>
          </p:nvPr>
        </p:nvSpPr>
        <p:spPr>
          <a:xfrm>
            <a:off x="311700" y="84894"/>
            <a:ext cx="852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Portfolio Design</a:t>
            </a:r>
            <a:endParaRPr/>
          </a:p>
        </p:txBody>
      </p:sp>
      <p:sp>
        <p:nvSpPr>
          <p:cNvPr id="122" name="Google Shape;122;h5fc274259841ee85_2_22"/>
          <p:cNvSpPr txBox="1"/>
          <p:nvPr>
            <p:ph idx="1" type="body"/>
          </p:nvPr>
        </p:nvSpPr>
        <p:spPr>
          <a:xfrm>
            <a:off x="248175" y="658700"/>
            <a:ext cx="3316800" cy="4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3" name="Google Shape;123;h5fc274259841ee85_2_22"/>
          <p:cNvSpPr txBox="1"/>
          <p:nvPr>
            <p:ph idx="12" type="sldNum"/>
          </p:nvPr>
        </p:nvSpPr>
        <p:spPr>
          <a:xfrm>
            <a:off x="8395933" y="4702063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h5fc274259841ee85_2_22"/>
          <p:cNvSpPr txBox="1"/>
          <p:nvPr/>
        </p:nvSpPr>
        <p:spPr>
          <a:xfrm>
            <a:off x="5679800" y="1667025"/>
            <a:ext cx="33168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Lexend"/>
                <a:ea typeface="Lexend"/>
                <a:cs typeface="Lexend"/>
                <a:sym typeface="Lexend"/>
              </a:rPr>
              <a:t>One Student can have one Portfolio.</a:t>
            </a:r>
            <a:endParaRPr>
              <a:solidFill>
                <a:srgbClr val="F3F3F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Lexend"/>
                <a:ea typeface="Lexend"/>
                <a:cs typeface="Lexend"/>
                <a:sym typeface="Lexend"/>
              </a:rPr>
              <a:t>One Portfolio can have many  project.</a:t>
            </a:r>
            <a:endParaRPr>
              <a:solidFill>
                <a:srgbClr val="F3F3F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Lexend"/>
                <a:ea typeface="Lexend"/>
                <a:cs typeface="Lexend"/>
                <a:sym typeface="Lexend"/>
              </a:rPr>
              <a:t>How do we implement these relationships in Django?</a:t>
            </a:r>
            <a:endParaRPr>
              <a:solidFill>
                <a:srgbClr val="F3F3F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" name="Google Shape;125;h5fc274259841ee85_2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74" y="896300"/>
            <a:ext cx="5380375" cy="356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5fc274259841ee85_2_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Django Portfolio Model </a:t>
            </a:r>
            <a:endParaRPr/>
          </a:p>
        </p:txBody>
      </p:sp>
      <p:sp>
        <p:nvSpPr>
          <p:cNvPr id="131" name="Google Shape;131;h5fc274259841ee85_2_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Our design says each Student can have only ONE Portfolio. How can the database enforce that?</a:t>
            </a:r>
            <a:br>
              <a:rPr lang="en" sz="1700"/>
            </a:b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Read about setting up the one to one relationship..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Examples of model relationship API usage | Django documentation</a:t>
            </a:r>
            <a:r>
              <a:rPr lang="en" sz="1700"/>
              <a:t> 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5fc274259841ee85_2_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Key</a:t>
            </a:r>
            <a:endParaRPr/>
          </a:p>
        </p:txBody>
      </p:sp>
      <p:sp>
        <p:nvSpPr>
          <p:cNvPr id="137" name="Google Shape;137;h5fc274259841ee85_2_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Primary Key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 primary key (PK) is a field in a database table that uniquely identifies each record.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Think of it as the record's unique identity.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</a:t>
            </a:r>
            <a:r>
              <a:rPr lang="en" sz="1600"/>
              <a:t>n Django: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class Student(models.Model):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Django automatically adds the id primary key.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8" name="Google Shape;138;h5fc274259841ee85_2_37"/>
          <p:cNvSpPr/>
          <p:nvPr/>
        </p:nvSpPr>
        <p:spPr>
          <a:xfrm>
            <a:off x="6314800" y="3008325"/>
            <a:ext cx="2609100" cy="1293600"/>
          </a:xfrm>
          <a:prstGeom prst="wedgeRectCallout">
            <a:avLst>
              <a:gd fmla="val -76155" name="adj1"/>
              <a:gd fmla="val -3046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can't we just use the student's name to identify the </a:t>
            </a:r>
            <a:endParaRPr/>
          </a:p>
        </p:txBody>
      </p:sp>
      <p:graphicFrame>
        <p:nvGraphicFramePr>
          <p:cNvPr id="139" name="Google Shape;139;h5fc274259841ee85_2_37"/>
          <p:cNvGraphicFramePr/>
          <p:nvPr/>
        </p:nvGraphicFramePr>
        <p:xfrm>
          <a:off x="311700" y="349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{6173581A-89AC-4835-B50F-266F8EEED045}</a:tableStyleId>
              </a:tblPr>
              <a:tblGrid>
                <a:gridCol w="1313225"/>
                <a:gridCol w="1313225"/>
                <a:gridCol w="1313225"/>
                <a:gridCol w="131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Id (PK)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email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major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Student 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...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CSCI-BS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Student 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...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BICS-BI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5fc274259841ee85_2_48"/>
          <p:cNvSpPr txBox="1"/>
          <p:nvPr>
            <p:ph type="title"/>
          </p:nvPr>
        </p:nvSpPr>
        <p:spPr>
          <a:xfrm>
            <a:off x="311700" y="151925"/>
            <a:ext cx="408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and Foreign Key</a:t>
            </a:r>
            <a:endParaRPr/>
          </a:p>
        </p:txBody>
      </p:sp>
      <p:sp>
        <p:nvSpPr>
          <p:cNvPr id="145" name="Google Shape;145;h5fc274259841ee85_2_48"/>
          <p:cNvSpPr txBox="1"/>
          <p:nvPr>
            <p:ph idx="1" type="body"/>
          </p:nvPr>
        </p:nvSpPr>
        <p:spPr>
          <a:xfrm>
            <a:off x="311700" y="724625"/>
            <a:ext cx="85206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How do two tables know which records belong together?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Now there are two different kinds of keys: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id — Primary Key (PK): Identifies the Portfolio record itself.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student_id — Foreign Key (FK): References the primary key of a record in the Student table.</a:t>
            </a:r>
            <a:endParaRPr sz="1500"/>
          </a:p>
        </p:txBody>
      </p:sp>
      <p:graphicFrame>
        <p:nvGraphicFramePr>
          <p:cNvPr id="146" name="Google Shape;146;h5fc274259841ee85_2_48"/>
          <p:cNvGraphicFramePr/>
          <p:nvPr/>
        </p:nvGraphicFramePr>
        <p:xfrm>
          <a:off x="397625" y="219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{6173581A-89AC-4835-B50F-266F8EEED045}</a:tableStyleId>
              </a:tblPr>
              <a:tblGrid>
                <a:gridCol w="941975"/>
                <a:gridCol w="832425"/>
                <a:gridCol w="1739150"/>
                <a:gridCol w="91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id (PK)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name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email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major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Maya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maya@msudenver.edu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CSCI-BS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Alex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alex@msudenver.edu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BICS-BI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7" name="Google Shape;147;h5fc274259841ee85_2_48"/>
          <p:cNvGraphicFramePr/>
          <p:nvPr/>
        </p:nvGraphicFramePr>
        <p:xfrm>
          <a:off x="217700" y="365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{6173581A-89AC-4835-B50F-266F8EEED045}</a:tableStyleId>
              </a:tblPr>
              <a:tblGrid>
                <a:gridCol w="747800"/>
                <a:gridCol w="1456225"/>
                <a:gridCol w="1873775"/>
                <a:gridCol w="941750"/>
                <a:gridCol w="2257050"/>
                <a:gridCol w="1338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id (PK)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title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contact_email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is_active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about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student_id (FK)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Maya's Portfolio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maya@msudenver.edu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CS student interested in software development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Alex's Portfolio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alex@msudenver.edu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Cybersecurity student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="1"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" name="Google Shape;148;h5fc274259841ee85_2_48"/>
          <p:cNvSpPr/>
          <p:nvPr/>
        </p:nvSpPr>
        <p:spPr>
          <a:xfrm>
            <a:off x="5123125" y="2004725"/>
            <a:ext cx="3931500" cy="955800"/>
          </a:xfrm>
          <a:prstGeom prst="wedgeRectCallout">
            <a:avLst>
              <a:gd fmla="val -33160" name="adj1"/>
              <a:gd fmla="val 99370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Portfolio.id = 1 identify?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Portfolio.student_id = 1 identify?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can we find the Student with id = 1?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5fc274259841ee85_2_31"/>
          <p:cNvSpPr txBox="1"/>
          <p:nvPr>
            <p:ph type="title"/>
          </p:nvPr>
        </p:nvSpPr>
        <p:spPr>
          <a:xfrm>
            <a:off x="270950" y="18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Portfolio Class Model</a:t>
            </a:r>
            <a:endParaRPr/>
          </a:p>
        </p:txBody>
      </p:sp>
      <p:sp>
        <p:nvSpPr>
          <p:cNvPr id="154" name="Google Shape;154;h5fc274259841ee85_2_31"/>
          <p:cNvSpPr txBox="1"/>
          <p:nvPr>
            <p:ph idx="1" type="body"/>
          </p:nvPr>
        </p:nvSpPr>
        <p:spPr>
          <a:xfrm>
            <a:off x="270950" y="863550"/>
            <a:ext cx="8661300" cy="19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student — name of the relationship field in the Portfolio model.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Student — the model that Portfolio is related to.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OneToOneField — each Portfolio is related to one Student, and each Student can be related to only one Portfolio.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on_delete=models.CASCADE — if the related Student is deleted, Django also deletes that student's Portfolio.</a:t>
            </a:r>
            <a:endParaRPr sz="1500"/>
          </a:p>
        </p:txBody>
      </p:sp>
      <p:sp>
        <p:nvSpPr>
          <p:cNvPr id="155" name="Google Shape;155;h5fc274259841ee85_2_31"/>
          <p:cNvSpPr txBox="1"/>
          <p:nvPr/>
        </p:nvSpPr>
        <p:spPr>
          <a:xfrm>
            <a:off x="270950" y="2784525"/>
            <a:ext cx="7803900" cy="2124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class Portfolio(models.Model):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 </a:t>
            </a:r>
            <a:r>
              <a:rPr lang="en">
                <a:solidFill>
                  <a:schemeClr val="dk2"/>
                </a:solidFill>
                <a:highlight>
                  <a:srgbClr val="CFE2F3"/>
                </a:highlight>
              </a:rPr>
              <a:t>student = models.OneToOneField( Student, on_delete=models.CASCADE)</a:t>
            </a:r>
            <a:endParaRPr>
              <a:solidFill>
                <a:schemeClr val="dk2"/>
              </a:solidFill>
              <a:highlight>
                <a:srgbClr val="CFE2F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 title = models.CharField(max_length=200)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 contact_email = models.EmailField()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 is_active = models.BooleanField(default=True)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 about = models.TextField(blank=True)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 def __str__(self):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     return self.title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5fc274259841ee85_2_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Portfolio Model and Test</a:t>
            </a:r>
            <a:endParaRPr/>
          </a:p>
        </p:txBody>
      </p:sp>
      <p:sp>
        <p:nvSpPr>
          <p:cNvPr id="161" name="Google Shape;161;h5fc274259841ee85_2_85"/>
          <p:cNvSpPr txBox="1"/>
          <p:nvPr>
            <p:ph idx="1" type="body"/>
          </p:nvPr>
        </p:nvSpPr>
        <p:spPr>
          <a:xfrm>
            <a:off x="311700" y="1152475"/>
            <a:ext cx="8520600" cy="3848400"/>
          </a:xfrm>
          <a:prstGeom prst="rect">
            <a:avLst/>
          </a:prstGeom>
          <a:solidFill>
            <a:srgbClr val="8E7CC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Add the new model for Portfolio and migrate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makemigrations → creates instructions describing the model/schema change.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migrate → applies those changes to the database.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Predict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What new table should Django create?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What columns do you expect in the table?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Which column will be the primary key?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Which column will connect Portfolio to Student?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Inspect the database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Where did id come from?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Where did student_id come from?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Why does the database contain student_id when our Python field is named student?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What </a:t>
            </a:r>
            <a:r>
              <a:rPr lang="en" sz="1400">
                <a:latin typeface="Lexend"/>
                <a:ea typeface="Lexend"/>
                <a:cs typeface="Lexend"/>
                <a:sym typeface="Lexend"/>
              </a:rPr>
              <a:t>should</a:t>
            </a:r>
            <a:r>
              <a:rPr lang="en" sz="1400">
                <a:latin typeface="Lexend"/>
                <a:ea typeface="Lexend"/>
                <a:cs typeface="Lexend"/>
                <a:sym typeface="Lexend"/>
              </a:rPr>
              <a:t> you test next?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5fc274259841ee85_2_99"/>
          <p:cNvSpPr txBox="1"/>
          <p:nvPr>
            <p:ph type="title"/>
          </p:nvPr>
        </p:nvSpPr>
        <p:spPr>
          <a:xfrm>
            <a:off x="169100" y="12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the One-to-One Relationship</a:t>
            </a:r>
            <a:endParaRPr/>
          </a:p>
        </p:txBody>
      </p:sp>
      <p:sp>
        <p:nvSpPr>
          <p:cNvPr id="167" name="Google Shape;167;h5fc274259841ee85_2_99"/>
          <p:cNvSpPr txBox="1"/>
          <p:nvPr>
            <p:ph idx="1" type="body"/>
          </p:nvPr>
        </p:nvSpPr>
        <p:spPr>
          <a:xfrm>
            <a:off x="169100" y="846925"/>
            <a:ext cx="8264100" cy="3848400"/>
          </a:xfrm>
          <a:prstGeom prst="rect">
            <a:avLst/>
          </a:prstGeom>
          <a:solidFill>
            <a:srgbClr val="8E7CC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Register the Portfolio to use in the admin tool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Open Admin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Test adding a portfolio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Create or use an existing Student.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Create a Portfolio and select that Student.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Save it.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Inspect the Portfolio record in SQLite.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Try to create another Portfolio for the same Student.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What happened?</a:t>
            </a:r>
            <a:br>
              <a:rPr lang="en" sz="1600"/>
            </a:br>
            <a:r>
              <a:rPr lang="en" sz="1600"/>
              <a:t>What evidence shows that this is a one-to-one relationship?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8" name="Google Shape;168;h5fc274259841ee85_2_99"/>
          <p:cNvSpPr txBox="1"/>
          <p:nvPr/>
        </p:nvSpPr>
        <p:spPr>
          <a:xfrm>
            <a:off x="4813800" y="846925"/>
            <a:ext cx="4057500" cy="1143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from .models import Student, Portfolio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admin.site.register(Student)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admin.site.register(Portfolio)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5fc274259841ee85_2_114"/>
          <p:cNvSpPr txBox="1"/>
          <p:nvPr>
            <p:ph type="title"/>
          </p:nvPr>
        </p:nvSpPr>
        <p:spPr>
          <a:xfrm>
            <a:off x="169100" y="12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Deletion</a:t>
            </a:r>
            <a:endParaRPr/>
          </a:p>
        </p:txBody>
      </p:sp>
      <p:sp>
        <p:nvSpPr>
          <p:cNvPr id="174" name="Google Shape;174;h5fc274259841ee85_2_114"/>
          <p:cNvSpPr txBox="1"/>
          <p:nvPr>
            <p:ph idx="1" type="body"/>
          </p:nvPr>
        </p:nvSpPr>
        <p:spPr>
          <a:xfrm>
            <a:off x="169100" y="846925"/>
            <a:ext cx="8264100" cy="3848400"/>
          </a:xfrm>
          <a:prstGeom prst="rect">
            <a:avLst/>
          </a:prstGeom>
          <a:solidFill>
            <a:srgbClr val="8E7CC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the student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Because this relationship uses CASCADE: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Deleting a Student also deletes the related Portfolio.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That gives you a good relationship test: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Student → Create Portfolio → Delete Student →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happened to the Portfolio when you deleted the Student? Why?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demonstrate about on_delete=models.CASCADE?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178025" y="186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4286"/>
              <a:buFont typeface="Arial"/>
              <a:buNone/>
            </a:pPr>
            <a:r>
              <a:rPr lang="en"/>
              <a:t>  Deleting Data from Database During Development</a:t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178025" y="759625"/>
            <a:ext cx="8805300" cy="4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As you change models and add relationships, existing test data may no longer work with your new design.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Usually, delete the records—not the database table.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Django Admin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eriod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Open Django Admin.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eriod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Select the model, such as Students or Portfolios.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eriod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Select the test record you want to remove.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eriod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Choose Delete and confirm.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eriod"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Open/refresh SQLite Viewer and verify that the record is gone.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To Clear All Test Data 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python manage.py flush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315750" y="4137425"/>
            <a:ext cx="8097300" cy="831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data? Delete records using Admin or the ORM.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to clear all test data? python manage.py flush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Database/schema problem? Stop and investigate before deleting tables or migration files.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5fc274259841ee85_2_125"/>
          <p:cNvSpPr txBox="1"/>
          <p:nvPr>
            <p:ph type="title"/>
          </p:nvPr>
        </p:nvSpPr>
        <p:spPr>
          <a:xfrm>
            <a:off x="311700" y="200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Queries with Portfolio Relationship</a:t>
            </a:r>
            <a:endParaRPr/>
          </a:p>
        </p:txBody>
      </p:sp>
      <p:sp>
        <p:nvSpPr>
          <p:cNvPr id="187" name="Google Shape;187;h5fc274259841ee85_2_125"/>
          <p:cNvSpPr txBox="1"/>
          <p:nvPr>
            <p:ph idx="1" type="body"/>
          </p:nvPr>
        </p:nvSpPr>
        <p:spPr>
          <a:xfrm>
            <a:off x="311700" y="773275"/>
            <a:ext cx="8520600" cy="4053600"/>
          </a:xfrm>
          <a:prstGeom prst="rect">
            <a:avLst/>
          </a:prstGeom>
          <a:solidFill>
            <a:srgbClr val="8E7CC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Make sure you have at least two students in the database.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Start the shell:  python manage.py shell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Import the models: from portfolio_app.models import Student, Portfolio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Explore the following: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Student.objects.all()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Portfolio.objects.all()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portfolio = Portfolio.objects.first()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print(portfolio)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print(portfolio.title)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print(portfolio.student)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print(portfolio.student.name)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print(portfolio.student.major)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student = Student.objects.first()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print(student)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print(student.portfolio)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print(student.portfolio.title)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Portfolio.objects.filter(student__major="CSCI-BS")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portfolios = Portfolio.objects.filter(student__major="CSCI-BS")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exend"/>
                <a:ea typeface="Lexend"/>
                <a:cs typeface="Lexend"/>
                <a:sym typeface="Lexend"/>
              </a:rPr>
              <a:t>print(portfolios.query)</a:t>
            </a:r>
            <a:endParaRPr sz="1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h5fc274259841ee85_2_125"/>
          <p:cNvSpPr/>
          <p:nvPr/>
        </p:nvSpPr>
        <p:spPr>
          <a:xfrm>
            <a:off x="5204600" y="1568525"/>
            <a:ext cx="3483600" cy="10032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wrote a Python ORM query. What language does SQLite actually receive?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5fc274259841ee85_2_2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194" name="Google Shape;194;h5fc274259841ee85_2_2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on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 - Deb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