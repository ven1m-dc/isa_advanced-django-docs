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04B8266-6B84-4D76-BBC4-F41AC56C74CB}">
  <a:tblStyle styleId="{B04B8266-6B84-4D76-BBC4-F41AC56C74C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24286AA-02BE-4C87-BD11-C19FB9F4D86A}"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106b51c5c34c379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106b51c5c34c379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706460dd3dcc69ad_1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h706460dd3dcc69ad_1_3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06b51c5c34c379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06b51c5c34c379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706460dd3dcc69ad_1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706460dd3dcc69ad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706460dd3dcc69ad_1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h706460dd3dcc69ad_1_2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706460dd3dcc69ad_1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706460dd3dcc69ad_1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706460dd3dcc69ad_1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706460dd3dcc69ad_1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706460dd3dcc69ad_1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h706460dd3dcc69ad_1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706460dd3dcc69ad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706460dd3dcc69ad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706460dd3dcc69ad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706460dd3dcc69ad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106b51c5c34c379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h106b51c5c34c379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706460dd3dcc69ad_1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706460dd3dcc69ad_1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106b51c5c34c379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h106b51c5c34c379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106b51c5c34c379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h106b51c5c34c379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106b51c5c34c379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106b51c5c34c379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706460dd3dcc69ad_1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h706460dd3dcc69ad_1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106b51c5c34c379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106b51c5c34c379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706460dd3dcc69ad_1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h706460dd3dcc69ad_1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3350291f33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3350291f33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3350291f33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3350291f33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3350291f33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3350291f33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3350291f33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3350291f33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706460dd3dcc69ad_1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h706460dd3dcc69ad_1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3350291f3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3350291f3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706460dd3dcc69ad_1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h706460dd3dcc69ad_1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h706460dd3dcc69ad_1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h706460dd3dcc69ad_1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706460dd3dcc69ad_1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h706460dd3dcc69ad_1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Lato"/>
              <a:buNone/>
              <a:defRPr sz="2800">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Lato"/>
              <a:buChar char="●"/>
              <a:defRPr>
                <a:latin typeface="Lato"/>
                <a:ea typeface="Lato"/>
                <a:cs typeface="Lato"/>
                <a:sym typeface="Lato"/>
              </a:defRPr>
            </a:lvl1pPr>
            <a:lvl2pPr indent="-317500" lvl="1" marL="914400" algn="l">
              <a:lnSpc>
                <a:spcPct val="115000"/>
              </a:lnSpc>
              <a:spcBef>
                <a:spcPts val="0"/>
              </a:spcBef>
              <a:spcAft>
                <a:spcPts val="0"/>
              </a:spcAft>
              <a:buSzPts val="1400"/>
              <a:buFont typeface="Lato"/>
              <a:buChar char="○"/>
              <a:defRPr>
                <a:latin typeface="Lato"/>
                <a:ea typeface="Lato"/>
                <a:cs typeface="Lato"/>
                <a:sym typeface="Lato"/>
              </a:defRPr>
            </a:lvl2pPr>
            <a:lvl3pPr indent="-317500" lvl="2" marL="1371600" algn="l">
              <a:lnSpc>
                <a:spcPct val="115000"/>
              </a:lnSpc>
              <a:spcBef>
                <a:spcPts val="0"/>
              </a:spcBef>
              <a:spcAft>
                <a:spcPts val="0"/>
              </a:spcAft>
              <a:buSzPts val="1400"/>
              <a:buFont typeface="Lato"/>
              <a:buChar char="■"/>
              <a:defRPr>
                <a:latin typeface="Lato"/>
                <a:ea typeface="Lato"/>
                <a:cs typeface="Lato"/>
                <a:sym typeface="Lato"/>
              </a:defRPr>
            </a:lvl3pPr>
            <a:lvl4pPr indent="-317500" lvl="3" marL="1828800" algn="l">
              <a:lnSpc>
                <a:spcPct val="115000"/>
              </a:lnSpc>
              <a:spcBef>
                <a:spcPts val="0"/>
              </a:spcBef>
              <a:spcAft>
                <a:spcPts val="0"/>
              </a:spcAft>
              <a:buSzPts val="1400"/>
              <a:buFont typeface="Lato"/>
              <a:buChar char="●"/>
              <a:defRPr>
                <a:latin typeface="Lato"/>
                <a:ea typeface="Lato"/>
                <a:cs typeface="Lato"/>
                <a:sym typeface="Lato"/>
              </a:defRPr>
            </a:lvl4pPr>
            <a:lvl5pPr indent="-317500" lvl="4" marL="2286000" algn="l">
              <a:lnSpc>
                <a:spcPct val="115000"/>
              </a:lnSpc>
              <a:spcBef>
                <a:spcPts val="0"/>
              </a:spcBef>
              <a:spcAft>
                <a:spcPts val="0"/>
              </a:spcAft>
              <a:buSzPts val="1400"/>
              <a:buFont typeface="Lato"/>
              <a:buChar char="○"/>
              <a:defRPr>
                <a:latin typeface="Lato"/>
                <a:ea typeface="Lato"/>
                <a:cs typeface="Lato"/>
                <a:sym typeface="Lato"/>
              </a:defRPr>
            </a:lvl5pPr>
            <a:lvl6pPr indent="-317500" lvl="5" marL="2743200" algn="l">
              <a:lnSpc>
                <a:spcPct val="115000"/>
              </a:lnSpc>
              <a:spcBef>
                <a:spcPts val="0"/>
              </a:spcBef>
              <a:spcAft>
                <a:spcPts val="0"/>
              </a:spcAft>
              <a:buSzPts val="1400"/>
              <a:buFont typeface="Lato"/>
              <a:buChar char="■"/>
              <a:defRPr>
                <a:latin typeface="Lato"/>
                <a:ea typeface="Lato"/>
                <a:cs typeface="Lato"/>
                <a:sym typeface="Lato"/>
              </a:defRPr>
            </a:lvl6pPr>
            <a:lvl7pPr indent="-317500" lvl="6" marL="3200400" algn="l">
              <a:lnSpc>
                <a:spcPct val="115000"/>
              </a:lnSpc>
              <a:spcBef>
                <a:spcPts val="0"/>
              </a:spcBef>
              <a:spcAft>
                <a:spcPts val="0"/>
              </a:spcAft>
              <a:buSzPts val="1400"/>
              <a:buFont typeface="Lato"/>
              <a:buChar char="●"/>
              <a:defRPr>
                <a:latin typeface="Lato"/>
                <a:ea typeface="Lato"/>
                <a:cs typeface="Lato"/>
                <a:sym typeface="Lato"/>
              </a:defRPr>
            </a:lvl7pPr>
            <a:lvl8pPr indent="-317500" lvl="7" marL="3657600" algn="l">
              <a:lnSpc>
                <a:spcPct val="115000"/>
              </a:lnSpc>
              <a:spcBef>
                <a:spcPts val="0"/>
              </a:spcBef>
              <a:spcAft>
                <a:spcPts val="0"/>
              </a:spcAft>
              <a:buSzPts val="1400"/>
              <a:buFont typeface="Lato"/>
              <a:buChar char="○"/>
              <a:defRPr>
                <a:latin typeface="Lato"/>
                <a:ea typeface="Lato"/>
                <a:cs typeface="Lato"/>
                <a:sym typeface="Lato"/>
              </a:defRPr>
            </a:lvl8pPr>
            <a:lvl9pPr indent="-317500" lvl="8" marL="4114800" algn="l">
              <a:lnSpc>
                <a:spcPct val="115000"/>
              </a:lnSpc>
              <a:spcBef>
                <a:spcPts val="0"/>
              </a:spcBef>
              <a:spcAft>
                <a:spcPts val="0"/>
              </a:spcAft>
              <a:buSzPts val="1400"/>
              <a:buFont typeface="Lato"/>
              <a:buChar char="■"/>
              <a:defRPr>
                <a:latin typeface="Lato"/>
                <a:ea typeface="Lato"/>
                <a:cs typeface="Lato"/>
                <a:sym typeface="Lato"/>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628650" y="273845"/>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6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0" name="Google Shape;20;p4"/>
          <p:cNvSpPr txBox="1"/>
          <p:nvPr>
            <p:ph idx="10" type="dt"/>
          </p:nvPr>
        </p:nvSpPr>
        <p:spPr>
          <a:xfrm>
            <a:off x="628650" y="4767264"/>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1" name="Google Shape;21;p4"/>
          <p:cNvSpPr txBox="1"/>
          <p:nvPr>
            <p:ph idx="11" type="ftr"/>
          </p:nvPr>
        </p:nvSpPr>
        <p:spPr>
          <a:xfrm>
            <a:off x="3028950" y="4767264"/>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2" name="Google Shape;22;p4"/>
          <p:cNvSpPr txBox="1"/>
          <p:nvPr>
            <p:ph idx="12" type="sldNum"/>
          </p:nvPr>
        </p:nvSpPr>
        <p:spPr>
          <a:xfrm>
            <a:off x="6457950" y="4767264"/>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Lato"/>
              <a:buChar char="●"/>
              <a:defRPr sz="1400">
                <a:latin typeface="Lato"/>
                <a:ea typeface="Lato"/>
                <a:cs typeface="Lato"/>
                <a:sym typeface="Lato"/>
              </a:defRPr>
            </a:lvl1pPr>
            <a:lvl2pPr indent="-304800" lvl="1" marL="914400" algn="l">
              <a:lnSpc>
                <a:spcPct val="115000"/>
              </a:lnSpc>
              <a:spcBef>
                <a:spcPts val="0"/>
              </a:spcBef>
              <a:spcAft>
                <a:spcPts val="0"/>
              </a:spcAft>
              <a:buSzPts val="1200"/>
              <a:buFont typeface="Lato"/>
              <a:buChar char="○"/>
              <a:defRPr sz="1200">
                <a:latin typeface="Lato"/>
                <a:ea typeface="Lato"/>
                <a:cs typeface="Lato"/>
                <a:sym typeface="Lato"/>
              </a:defRPr>
            </a:lvl2pPr>
            <a:lvl3pPr indent="-304800" lvl="2" marL="1371600" algn="l">
              <a:lnSpc>
                <a:spcPct val="115000"/>
              </a:lnSpc>
              <a:spcBef>
                <a:spcPts val="0"/>
              </a:spcBef>
              <a:spcAft>
                <a:spcPts val="0"/>
              </a:spcAft>
              <a:buSzPts val="1200"/>
              <a:buFont typeface="Lato"/>
              <a:buChar char="■"/>
              <a:defRPr sz="1200">
                <a:latin typeface="Lato"/>
                <a:ea typeface="Lato"/>
                <a:cs typeface="Lato"/>
                <a:sym typeface="Lato"/>
              </a:defRPr>
            </a:lvl3pPr>
            <a:lvl4pPr indent="-304800" lvl="3" marL="1828800" algn="l">
              <a:lnSpc>
                <a:spcPct val="115000"/>
              </a:lnSpc>
              <a:spcBef>
                <a:spcPts val="0"/>
              </a:spcBef>
              <a:spcAft>
                <a:spcPts val="0"/>
              </a:spcAft>
              <a:buSzPts val="1200"/>
              <a:buFont typeface="Lato"/>
              <a:buChar char="●"/>
              <a:defRPr sz="1200">
                <a:latin typeface="Lato"/>
                <a:ea typeface="Lato"/>
                <a:cs typeface="Lato"/>
                <a:sym typeface="Lato"/>
              </a:defRPr>
            </a:lvl4pPr>
            <a:lvl5pPr indent="-304800" lvl="4" marL="2286000" algn="l">
              <a:lnSpc>
                <a:spcPct val="115000"/>
              </a:lnSpc>
              <a:spcBef>
                <a:spcPts val="0"/>
              </a:spcBef>
              <a:spcAft>
                <a:spcPts val="0"/>
              </a:spcAft>
              <a:buSzPts val="1200"/>
              <a:buFont typeface="Lato"/>
              <a:buChar char="○"/>
              <a:defRPr sz="1200">
                <a:latin typeface="Lato"/>
                <a:ea typeface="Lato"/>
                <a:cs typeface="Lato"/>
                <a:sym typeface="Lato"/>
              </a:defRPr>
            </a:lvl5pPr>
            <a:lvl6pPr indent="-304800" lvl="5" marL="2743200" algn="l">
              <a:lnSpc>
                <a:spcPct val="115000"/>
              </a:lnSpc>
              <a:spcBef>
                <a:spcPts val="0"/>
              </a:spcBef>
              <a:spcAft>
                <a:spcPts val="0"/>
              </a:spcAft>
              <a:buSzPts val="1200"/>
              <a:buFont typeface="Lato"/>
              <a:buChar char="■"/>
              <a:defRPr sz="1200">
                <a:latin typeface="Lato"/>
                <a:ea typeface="Lato"/>
                <a:cs typeface="Lato"/>
                <a:sym typeface="Lato"/>
              </a:defRPr>
            </a:lvl6pPr>
            <a:lvl7pPr indent="-304800" lvl="6" marL="3200400" algn="l">
              <a:lnSpc>
                <a:spcPct val="115000"/>
              </a:lnSpc>
              <a:spcBef>
                <a:spcPts val="0"/>
              </a:spcBef>
              <a:spcAft>
                <a:spcPts val="0"/>
              </a:spcAft>
              <a:buSzPts val="1200"/>
              <a:buFont typeface="Lato"/>
              <a:buChar char="●"/>
              <a:defRPr sz="1200">
                <a:latin typeface="Lato"/>
                <a:ea typeface="Lato"/>
                <a:cs typeface="Lato"/>
                <a:sym typeface="Lato"/>
              </a:defRPr>
            </a:lvl7pPr>
            <a:lvl8pPr indent="-304800" lvl="7" marL="3657600" algn="l">
              <a:lnSpc>
                <a:spcPct val="115000"/>
              </a:lnSpc>
              <a:spcBef>
                <a:spcPts val="0"/>
              </a:spcBef>
              <a:spcAft>
                <a:spcPts val="0"/>
              </a:spcAft>
              <a:buSzPts val="1200"/>
              <a:buFont typeface="Lato"/>
              <a:buChar char="○"/>
              <a:defRPr sz="1200">
                <a:latin typeface="Lato"/>
                <a:ea typeface="Lato"/>
                <a:cs typeface="Lato"/>
                <a:sym typeface="Lato"/>
              </a:defRPr>
            </a:lvl8pPr>
            <a:lvl9pPr indent="-304800" lvl="8" marL="4114800" algn="l">
              <a:lnSpc>
                <a:spcPct val="115000"/>
              </a:lnSpc>
              <a:spcBef>
                <a:spcPts val="0"/>
              </a:spcBef>
              <a:spcAft>
                <a:spcPts val="0"/>
              </a:spcAft>
              <a:buSzPts val="1200"/>
              <a:buFont typeface="Lato"/>
              <a:buChar char="■"/>
              <a:defRPr sz="1200">
                <a:latin typeface="Lato"/>
                <a:ea typeface="Lato"/>
                <a:cs typeface="Lato"/>
                <a:sym typeface="Lato"/>
              </a:defRPr>
            </a:lvl9pPr>
          </a:lstStyle>
          <a:p/>
        </p:txBody>
      </p:sp>
      <p:sp>
        <p:nvSpPr>
          <p:cNvPr id="29" name="Google Shape;29;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Lato"/>
              <a:buChar char="●"/>
              <a:defRPr sz="1400">
                <a:latin typeface="Lato"/>
                <a:ea typeface="Lato"/>
                <a:cs typeface="Lato"/>
                <a:sym typeface="Lato"/>
              </a:defRPr>
            </a:lvl1pPr>
            <a:lvl2pPr indent="-304800" lvl="1" marL="914400" algn="l">
              <a:lnSpc>
                <a:spcPct val="115000"/>
              </a:lnSpc>
              <a:spcBef>
                <a:spcPts val="0"/>
              </a:spcBef>
              <a:spcAft>
                <a:spcPts val="0"/>
              </a:spcAft>
              <a:buSzPts val="1200"/>
              <a:buFont typeface="Lato"/>
              <a:buChar char="○"/>
              <a:defRPr sz="1200">
                <a:latin typeface="Lato"/>
                <a:ea typeface="Lato"/>
                <a:cs typeface="Lato"/>
                <a:sym typeface="Lato"/>
              </a:defRPr>
            </a:lvl2pPr>
            <a:lvl3pPr indent="-304800" lvl="2" marL="1371600" algn="l">
              <a:lnSpc>
                <a:spcPct val="115000"/>
              </a:lnSpc>
              <a:spcBef>
                <a:spcPts val="0"/>
              </a:spcBef>
              <a:spcAft>
                <a:spcPts val="0"/>
              </a:spcAft>
              <a:buSzPts val="1200"/>
              <a:buFont typeface="Lato"/>
              <a:buChar char="■"/>
              <a:defRPr sz="1200">
                <a:latin typeface="Lato"/>
                <a:ea typeface="Lato"/>
                <a:cs typeface="Lato"/>
                <a:sym typeface="Lato"/>
              </a:defRPr>
            </a:lvl3pPr>
            <a:lvl4pPr indent="-304800" lvl="3" marL="1828800" algn="l">
              <a:lnSpc>
                <a:spcPct val="115000"/>
              </a:lnSpc>
              <a:spcBef>
                <a:spcPts val="0"/>
              </a:spcBef>
              <a:spcAft>
                <a:spcPts val="0"/>
              </a:spcAft>
              <a:buSzPts val="1200"/>
              <a:buFont typeface="Lato"/>
              <a:buChar char="●"/>
              <a:defRPr sz="1200">
                <a:latin typeface="Lato"/>
                <a:ea typeface="Lato"/>
                <a:cs typeface="Lato"/>
                <a:sym typeface="Lato"/>
              </a:defRPr>
            </a:lvl4pPr>
            <a:lvl5pPr indent="-304800" lvl="4" marL="2286000" algn="l">
              <a:lnSpc>
                <a:spcPct val="115000"/>
              </a:lnSpc>
              <a:spcBef>
                <a:spcPts val="0"/>
              </a:spcBef>
              <a:spcAft>
                <a:spcPts val="0"/>
              </a:spcAft>
              <a:buSzPts val="1200"/>
              <a:buFont typeface="Lato"/>
              <a:buChar char="○"/>
              <a:defRPr sz="1200">
                <a:latin typeface="Lato"/>
                <a:ea typeface="Lato"/>
                <a:cs typeface="Lato"/>
                <a:sym typeface="Lato"/>
              </a:defRPr>
            </a:lvl5pPr>
            <a:lvl6pPr indent="-304800" lvl="5" marL="2743200" algn="l">
              <a:lnSpc>
                <a:spcPct val="115000"/>
              </a:lnSpc>
              <a:spcBef>
                <a:spcPts val="0"/>
              </a:spcBef>
              <a:spcAft>
                <a:spcPts val="0"/>
              </a:spcAft>
              <a:buSzPts val="1200"/>
              <a:buFont typeface="Lato"/>
              <a:buChar char="■"/>
              <a:defRPr sz="1200">
                <a:latin typeface="Lato"/>
                <a:ea typeface="Lato"/>
                <a:cs typeface="Lato"/>
                <a:sym typeface="Lato"/>
              </a:defRPr>
            </a:lvl6pPr>
            <a:lvl7pPr indent="-304800" lvl="6" marL="3200400" algn="l">
              <a:lnSpc>
                <a:spcPct val="115000"/>
              </a:lnSpc>
              <a:spcBef>
                <a:spcPts val="0"/>
              </a:spcBef>
              <a:spcAft>
                <a:spcPts val="0"/>
              </a:spcAft>
              <a:buSzPts val="1200"/>
              <a:buFont typeface="Lato"/>
              <a:buChar char="●"/>
              <a:defRPr sz="1200">
                <a:latin typeface="Lato"/>
                <a:ea typeface="Lato"/>
                <a:cs typeface="Lato"/>
                <a:sym typeface="Lato"/>
              </a:defRPr>
            </a:lvl7pPr>
            <a:lvl8pPr indent="-304800" lvl="7" marL="3657600" algn="l">
              <a:lnSpc>
                <a:spcPct val="115000"/>
              </a:lnSpc>
              <a:spcBef>
                <a:spcPts val="0"/>
              </a:spcBef>
              <a:spcAft>
                <a:spcPts val="0"/>
              </a:spcAft>
              <a:buSzPts val="1200"/>
              <a:buFont typeface="Lato"/>
              <a:buChar char="○"/>
              <a:defRPr sz="1200">
                <a:latin typeface="Lato"/>
                <a:ea typeface="Lato"/>
                <a:cs typeface="Lato"/>
                <a:sym typeface="Lato"/>
              </a:defRPr>
            </a:lvl8pPr>
            <a:lvl9pPr indent="-304800" lvl="8" marL="4114800" algn="l">
              <a:lnSpc>
                <a:spcPct val="115000"/>
              </a:lnSpc>
              <a:spcBef>
                <a:spcPts val="0"/>
              </a:spcBef>
              <a:spcAft>
                <a:spcPts val="0"/>
              </a:spcAft>
              <a:buSzPts val="1200"/>
              <a:buFont typeface="Lato"/>
              <a:buChar char="■"/>
              <a:defRPr sz="1200">
                <a:latin typeface="Lato"/>
                <a:ea typeface="Lato"/>
                <a:cs typeface="Lato"/>
                <a:sym typeface="Lato"/>
              </a:defRPr>
            </a:lvl9pPr>
          </a:lstStyle>
          <a:p/>
        </p:txBody>
      </p:sp>
      <p:sp>
        <p:nvSpPr>
          <p:cNvPr id="30" name="Google Shape;30;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Font typeface="Lato"/>
              <a:buChar char="●"/>
              <a:defRPr sz="1200">
                <a:latin typeface="Lato"/>
                <a:ea typeface="Lato"/>
                <a:cs typeface="Lato"/>
                <a:sym typeface="Lato"/>
              </a:defRPr>
            </a:lvl1pPr>
            <a:lvl2pPr indent="-304800" lvl="1" marL="914400" algn="l">
              <a:lnSpc>
                <a:spcPct val="115000"/>
              </a:lnSpc>
              <a:spcBef>
                <a:spcPts val="0"/>
              </a:spcBef>
              <a:spcAft>
                <a:spcPts val="0"/>
              </a:spcAft>
              <a:buSzPts val="1200"/>
              <a:buFont typeface="Lato"/>
              <a:buChar char="○"/>
              <a:defRPr sz="1200">
                <a:latin typeface="Lato"/>
                <a:ea typeface="Lato"/>
                <a:cs typeface="Lato"/>
                <a:sym typeface="Lato"/>
              </a:defRPr>
            </a:lvl2pPr>
            <a:lvl3pPr indent="-304800" lvl="2" marL="1371600" algn="l">
              <a:lnSpc>
                <a:spcPct val="115000"/>
              </a:lnSpc>
              <a:spcBef>
                <a:spcPts val="0"/>
              </a:spcBef>
              <a:spcAft>
                <a:spcPts val="0"/>
              </a:spcAft>
              <a:buSzPts val="1200"/>
              <a:buFont typeface="Lato"/>
              <a:buChar char="■"/>
              <a:defRPr sz="1200">
                <a:latin typeface="Lato"/>
                <a:ea typeface="Lato"/>
                <a:cs typeface="Lato"/>
                <a:sym typeface="Lato"/>
              </a:defRPr>
            </a:lvl3pPr>
            <a:lvl4pPr indent="-304800" lvl="3" marL="1828800" algn="l">
              <a:lnSpc>
                <a:spcPct val="115000"/>
              </a:lnSpc>
              <a:spcBef>
                <a:spcPts val="0"/>
              </a:spcBef>
              <a:spcAft>
                <a:spcPts val="0"/>
              </a:spcAft>
              <a:buSzPts val="1200"/>
              <a:buFont typeface="Lato"/>
              <a:buChar char="●"/>
              <a:defRPr sz="1200">
                <a:latin typeface="Lato"/>
                <a:ea typeface="Lato"/>
                <a:cs typeface="Lato"/>
                <a:sym typeface="Lato"/>
              </a:defRPr>
            </a:lvl4pPr>
            <a:lvl5pPr indent="-304800" lvl="4" marL="2286000" algn="l">
              <a:lnSpc>
                <a:spcPct val="115000"/>
              </a:lnSpc>
              <a:spcBef>
                <a:spcPts val="0"/>
              </a:spcBef>
              <a:spcAft>
                <a:spcPts val="0"/>
              </a:spcAft>
              <a:buSzPts val="1200"/>
              <a:buFont typeface="Lato"/>
              <a:buChar char="○"/>
              <a:defRPr sz="1200">
                <a:latin typeface="Lato"/>
                <a:ea typeface="Lato"/>
                <a:cs typeface="Lato"/>
                <a:sym typeface="Lato"/>
              </a:defRPr>
            </a:lvl5pPr>
            <a:lvl6pPr indent="-304800" lvl="5" marL="2743200" algn="l">
              <a:lnSpc>
                <a:spcPct val="115000"/>
              </a:lnSpc>
              <a:spcBef>
                <a:spcPts val="0"/>
              </a:spcBef>
              <a:spcAft>
                <a:spcPts val="0"/>
              </a:spcAft>
              <a:buSzPts val="1200"/>
              <a:buFont typeface="Lato"/>
              <a:buChar char="■"/>
              <a:defRPr sz="1200">
                <a:latin typeface="Lato"/>
                <a:ea typeface="Lato"/>
                <a:cs typeface="Lato"/>
                <a:sym typeface="Lato"/>
              </a:defRPr>
            </a:lvl6pPr>
            <a:lvl7pPr indent="-304800" lvl="6" marL="3200400" algn="l">
              <a:lnSpc>
                <a:spcPct val="115000"/>
              </a:lnSpc>
              <a:spcBef>
                <a:spcPts val="0"/>
              </a:spcBef>
              <a:spcAft>
                <a:spcPts val="0"/>
              </a:spcAft>
              <a:buSzPts val="1200"/>
              <a:buFont typeface="Lato"/>
              <a:buChar char="●"/>
              <a:defRPr sz="1200">
                <a:latin typeface="Lato"/>
                <a:ea typeface="Lato"/>
                <a:cs typeface="Lato"/>
                <a:sym typeface="Lato"/>
              </a:defRPr>
            </a:lvl7pPr>
            <a:lvl8pPr indent="-304800" lvl="7" marL="3657600" algn="l">
              <a:lnSpc>
                <a:spcPct val="115000"/>
              </a:lnSpc>
              <a:spcBef>
                <a:spcPts val="0"/>
              </a:spcBef>
              <a:spcAft>
                <a:spcPts val="0"/>
              </a:spcAft>
              <a:buSzPts val="1200"/>
              <a:buFont typeface="Lato"/>
              <a:buChar char="○"/>
              <a:defRPr sz="1200">
                <a:latin typeface="Lato"/>
                <a:ea typeface="Lato"/>
                <a:cs typeface="Lato"/>
                <a:sym typeface="Lato"/>
              </a:defRPr>
            </a:lvl8pPr>
            <a:lvl9pPr indent="-304800" lvl="8" marL="4114800" algn="l">
              <a:lnSpc>
                <a:spcPct val="115000"/>
              </a:lnSpc>
              <a:spcBef>
                <a:spcPts val="0"/>
              </a:spcBef>
              <a:spcAft>
                <a:spcPts val="0"/>
              </a:spcAft>
              <a:buSzPts val="1200"/>
              <a:buFont typeface="Lato"/>
              <a:buChar char="■"/>
              <a:defRPr sz="1200">
                <a:latin typeface="Lato"/>
                <a:ea typeface="Lato"/>
                <a:cs typeface="Lato"/>
                <a:sym typeface="Lato"/>
              </a:defRPr>
            </a:lvl9pPr>
          </a:lstStyle>
          <a:p/>
        </p:txBody>
      </p:sp>
      <p:sp>
        <p:nvSpPr>
          <p:cNvPr id="37" name="Google Shape;37;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10"/>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1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Font typeface="Lato"/>
              <a:buChar char="●"/>
              <a:defRPr>
                <a:solidFill>
                  <a:schemeClr val="dk1"/>
                </a:solidFill>
                <a:latin typeface="Lato"/>
                <a:ea typeface="Lato"/>
                <a:cs typeface="Lato"/>
                <a:sym typeface="Lato"/>
              </a:defRPr>
            </a:lvl1pPr>
            <a:lvl2pPr indent="-317500" lvl="1" marL="914400" algn="l">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gn="l">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gn="l">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gn="l">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gn="l">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gn="l">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gn="l">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gn="l">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46" name="Google Shape;4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Lato"/>
              <a:buNone/>
              <a:defRPr>
                <a:latin typeface="Lato"/>
                <a:ea typeface="Lato"/>
                <a:cs typeface="Lato"/>
                <a:sym typeface="Lato"/>
              </a:defRPr>
            </a:lvl1pPr>
          </a:lstStyle>
          <a:p/>
        </p:txBody>
      </p:sp>
      <p:sp>
        <p:nvSpPr>
          <p:cNvPr id="49" name="Google Shape;4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Font typeface="Lato"/>
              <a:buChar char="●"/>
              <a:defRPr>
                <a:latin typeface="Lato"/>
                <a:ea typeface="Lato"/>
                <a:cs typeface="Lato"/>
                <a:sym typeface="Lato"/>
              </a:defRPr>
            </a:lvl1pPr>
            <a:lvl2pPr indent="-317500" lvl="1" marL="914400" algn="ctr">
              <a:lnSpc>
                <a:spcPct val="115000"/>
              </a:lnSpc>
              <a:spcBef>
                <a:spcPts val="0"/>
              </a:spcBef>
              <a:spcAft>
                <a:spcPts val="0"/>
              </a:spcAft>
              <a:buSzPts val="1400"/>
              <a:buFont typeface="Lato"/>
              <a:buChar char="○"/>
              <a:defRPr>
                <a:latin typeface="Lato"/>
                <a:ea typeface="Lato"/>
                <a:cs typeface="Lato"/>
                <a:sym typeface="Lato"/>
              </a:defRPr>
            </a:lvl2pPr>
            <a:lvl3pPr indent="-317500" lvl="2" marL="1371600" algn="ctr">
              <a:lnSpc>
                <a:spcPct val="115000"/>
              </a:lnSpc>
              <a:spcBef>
                <a:spcPts val="0"/>
              </a:spcBef>
              <a:spcAft>
                <a:spcPts val="0"/>
              </a:spcAft>
              <a:buSzPts val="1400"/>
              <a:buFont typeface="Lato"/>
              <a:buChar char="■"/>
              <a:defRPr>
                <a:latin typeface="Lato"/>
                <a:ea typeface="Lato"/>
                <a:cs typeface="Lato"/>
                <a:sym typeface="Lato"/>
              </a:defRPr>
            </a:lvl3pPr>
            <a:lvl4pPr indent="-317500" lvl="3" marL="1828800" algn="ctr">
              <a:lnSpc>
                <a:spcPct val="115000"/>
              </a:lnSpc>
              <a:spcBef>
                <a:spcPts val="0"/>
              </a:spcBef>
              <a:spcAft>
                <a:spcPts val="0"/>
              </a:spcAft>
              <a:buSzPts val="1400"/>
              <a:buFont typeface="Lato"/>
              <a:buChar char="●"/>
              <a:defRPr>
                <a:latin typeface="Lato"/>
                <a:ea typeface="Lato"/>
                <a:cs typeface="Lato"/>
                <a:sym typeface="Lato"/>
              </a:defRPr>
            </a:lvl4pPr>
            <a:lvl5pPr indent="-317500" lvl="4" marL="2286000" algn="ctr">
              <a:lnSpc>
                <a:spcPct val="115000"/>
              </a:lnSpc>
              <a:spcBef>
                <a:spcPts val="0"/>
              </a:spcBef>
              <a:spcAft>
                <a:spcPts val="0"/>
              </a:spcAft>
              <a:buSzPts val="1400"/>
              <a:buFont typeface="Lato"/>
              <a:buChar char="○"/>
              <a:defRPr>
                <a:latin typeface="Lato"/>
                <a:ea typeface="Lato"/>
                <a:cs typeface="Lato"/>
                <a:sym typeface="Lato"/>
              </a:defRPr>
            </a:lvl5pPr>
            <a:lvl6pPr indent="-317500" lvl="5" marL="2743200" algn="ctr">
              <a:lnSpc>
                <a:spcPct val="115000"/>
              </a:lnSpc>
              <a:spcBef>
                <a:spcPts val="0"/>
              </a:spcBef>
              <a:spcAft>
                <a:spcPts val="0"/>
              </a:spcAft>
              <a:buSzPts val="1400"/>
              <a:buFont typeface="Lato"/>
              <a:buChar char="■"/>
              <a:defRPr>
                <a:latin typeface="Lato"/>
                <a:ea typeface="Lato"/>
                <a:cs typeface="Lato"/>
                <a:sym typeface="Lato"/>
              </a:defRPr>
            </a:lvl6pPr>
            <a:lvl7pPr indent="-317500" lvl="6" marL="3200400" algn="ctr">
              <a:lnSpc>
                <a:spcPct val="115000"/>
              </a:lnSpc>
              <a:spcBef>
                <a:spcPts val="0"/>
              </a:spcBef>
              <a:spcAft>
                <a:spcPts val="0"/>
              </a:spcAft>
              <a:buSzPts val="1400"/>
              <a:buFont typeface="Lato"/>
              <a:buChar char="●"/>
              <a:defRPr>
                <a:latin typeface="Lato"/>
                <a:ea typeface="Lato"/>
                <a:cs typeface="Lato"/>
                <a:sym typeface="Lato"/>
              </a:defRPr>
            </a:lvl7pPr>
            <a:lvl8pPr indent="-317500" lvl="7" marL="3657600" algn="ctr">
              <a:lnSpc>
                <a:spcPct val="115000"/>
              </a:lnSpc>
              <a:spcBef>
                <a:spcPts val="0"/>
              </a:spcBef>
              <a:spcAft>
                <a:spcPts val="0"/>
              </a:spcAft>
              <a:buSzPts val="1400"/>
              <a:buFont typeface="Lato"/>
              <a:buChar char="○"/>
              <a:defRPr>
                <a:latin typeface="Lato"/>
                <a:ea typeface="Lato"/>
                <a:cs typeface="Lato"/>
                <a:sym typeface="Lato"/>
              </a:defRPr>
            </a:lvl8pPr>
            <a:lvl9pPr indent="-317500" lvl="8" marL="4114800" algn="ctr">
              <a:lnSpc>
                <a:spcPct val="115000"/>
              </a:lnSpc>
              <a:spcBef>
                <a:spcPts val="0"/>
              </a:spcBef>
              <a:spcAft>
                <a:spcPts val="0"/>
              </a:spcAft>
              <a:buSzPts val="1400"/>
              <a:buFont typeface="Lato"/>
              <a:buChar char="■"/>
              <a:defRPr>
                <a:latin typeface="Lato"/>
                <a:ea typeface="Lato"/>
                <a:cs typeface="Lato"/>
                <a:sym typeface="Lato"/>
              </a:defRPr>
            </a:lvl9pPr>
          </a:lstStyle>
          <a:p/>
        </p:txBody>
      </p:sp>
      <p:sp>
        <p:nvSpPr>
          <p:cNvPr id="53" name="Google Shape;53;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6" name="Shape 56"/>
        <p:cNvGrpSpPr/>
        <p:nvPr/>
      </p:nvGrpSpPr>
      <p:grpSpPr>
        <a:xfrm>
          <a:off x="0" y="0"/>
          <a:ext cx="0" cy="0"/>
          <a:chOff x="0" y="0"/>
          <a:chExt cx="0" cy="0"/>
        </a:xfrm>
      </p:grpSpPr>
      <p:sp>
        <p:nvSpPr>
          <p:cNvPr id="57" name="Google Shape;57;p14"/>
          <p:cNvSpPr txBox="1"/>
          <p:nvPr>
            <p:ph type="title"/>
          </p:nvPr>
        </p:nvSpPr>
        <p:spPr>
          <a:xfrm>
            <a:off x="457200" y="161528"/>
            <a:ext cx="8229600" cy="8232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58" name="Google Shape;58;p14"/>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1pPr>
            <a:lvl2pPr indent="-330200" lvl="1" marL="914400" marR="0" algn="l">
              <a:lnSpc>
                <a:spcPct val="100000"/>
              </a:lnSpc>
              <a:spcBef>
                <a:spcPts val="6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2pPr>
            <a:lvl3pPr indent="-330200" lvl="2" marL="1371600" marR="0" algn="l">
              <a:lnSpc>
                <a:spcPct val="100000"/>
              </a:lnSpc>
              <a:spcBef>
                <a:spcPts val="6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3pPr>
            <a:lvl4pPr indent="-330200" lvl="3" marL="1828800" marR="0" algn="l">
              <a:lnSpc>
                <a:spcPct val="100000"/>
              </a:lnSpc>
              <a:spcBef>
                <a:spcPts val="6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4pPr>
            <a:lvl5pPr indent="-330200" lvl="4" marL="2286000" marR="0" algn="l">
              <a:lnSpc>
                <a:spcPct val="100000"/>
              </a:lnSpc>
              <a:spcBef>
                <a:spcPts val="6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5pPr>
            <a:lvl6pPr indent="-330200" lvl="5" marL="2743200" marR="0" algn="l">
              <a:lnSpc>
                <a:spcPct val="100000"/>
              </a:lnSpc>
              <a:spcBef>
                <a:spcPts val="3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6pPr>
            <a:lvl7pPr indent="-330200" lvl="6" marL="3200400" marR="0" algn="l">
              <a:lnSpc>
                <a:spcPct val="100000"/>
              </a:lnSpc>
              <a:spcBef>
                <a:spcPts val="3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7pPr>
            <a:lvl8pPr indent="-330200" lvl="7" marL="3657600" marR="0" algn="l">
              <a:lnSpc>
                <a:spcPct val="100000"/>
              </a:lnSpc>
              <a:spcBef>
                <a:spcPts val="3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8pPr>
            <a:lvl9pPr indent="-330200" lvl="8" marL="4114800" marR="0" algn="l">
              <a:lnSpc>
                <a:spcPct val="100000"/>
              </a:lnSpc>
              <a:spcBef>
                <a:spcPts val="300"/>
              </a:spcBef>
              <a:spcAft>
                <a:spcPts val="0"/>
              </a:spcAft>
              <a:buClr>
                <a:srgbClr val="007FA3"/>
              </a:buClr>
              <a:buSzPts val="1600"/>
              <a:buFont typeface="Lato"/>
              <a:buChar char="•"/>
              <a:defRPr i="0" sz="1600" u="none" cap="none" strike="noStrike">
                <a:solidFill>
                  <a:schemeClr val="dk1"/>
                </a:solidFill>
                <a:latin typeface="Lato"/>
                <a:ea typeface="Lato"/>
                <a:cs typeface="Lato"/>
                <a:sym typeface="La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59" name="Shape 59"/>
        <p:cNvGrpSpPr/>
        <p:nvPr/>
      </p:nvGrpSpPr>
      <p:grpSpPr>
        <a:xfrm>
          <a:off x="0" y="0"/>
          <a:ext cx="0" cy="0"/>
          <a:chOff x="0" y="0"/>
          <a:chExt cx="0" cy="0"/>
        </a:xfrm>
      </p:grpSpPr>
      <p:sp>
        <p:nvSpPr>
          <p:cNvPr id="60" name="Google Shape;60;p15"/>
          <p:cNvSpPr txBox="1"/>
          <p:nvPr>
            <p:ph type="title"/>
          </p:nvPr>
        </p:nvSpPr>
        <p:spPr>
          <a:xfrm>
            <a:off x="457200" y="161528"/>
            <a:ext cx="8229600" cy="8232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61" name="Google Shape;61;p15"/>
          <p:cNvSpPr txBox="1"/>
          <p:nvPr>
            <p:ph idx="1" type="body"/>
          </p:nvPr>
        </p:nvSpPr>
        <p:spPr>
          <a:xfrm>
            <a:off x="457200" y="1200150"/>
            <a:ext cx="8229600" cy="1623000"/>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17500" lvl="5" marL="27432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2" name="Google Shape;62;p15"/>
          <p:cNvSpPr txBox="1"/>
          <p:nvPr>
            <p:ph idx="2" type="body"/>
          </p:nvPr>
        </p:nvSpPr>
        <p:spPr>
          <a:xfrm>
            <a:off x="457200" y="2971800"/>
            <a:ext cx="8229600" cy="1623000"/>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17500" lvl="5" marL="27432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3" name="Google Shape;63;p15"/>
          <p:cNvSpPr txBox="1"/>
          <p:nvPr>
            <p:ph idx="11" type="ftr"/>
          </p:nvPr>
        </p:nvSpPr>
        <p:spPr>
          <a:xfrm>
            <a:off x="93969" y="4629150"/>
            <a:ext cx="8595300" cy="176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64" name="Google Shape;64;p15"/>
          <p:cNvSpPr txBox="1"/>
          <p:nvPr>
            <p:ph idx="10" type="dt"/>
          </p:nvPr>
        </p:nvSpPr>
        <p:spPr>
          <a:xfrm>
            <a:off x="6335712" y="84803"/>
            <a:ext cx="2133600" cy="137400"/>
          </a:xfrm>
          <a:prstGeom prst="rect">
            <a:avLst/>
          </a:prstGeom>
          <a:noFill/>
          <a:ln>
            <a:noFill/>
          </a:ln>
        </p:spPr>
        <p:txBody>
          <a:bodyPr anchorCtr="0" anchor="ctr" bIns="91425" lIns="91425" spcFirstLastPara="1" rIns="91425" wrap="square" tIns="91425">
            <a:noAutofit/>
          </a:bodyPr>
          <a:lstStyle>
            <a:lvl1pPr lv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65" name="Google Shape;65;p15"/>
          <p:cNvSpPr txBox="1"/>
          <p:nvPr>
            <p:ph idx="12" type="sldNum"/>
          </p:nvPr>
        </p:nvSpPr>
        <p:spPr>
          <a:xfrm>
            <a:off x="8469311" y="84803"/>
            <a:ext cx="551700" cy="1374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00"/>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3F3F3"/>
              </a:buClr>
              <a:buSzPts val="2800"/>
              <a:buFont typeface="Lato"/>
              <a:buNone/>
              <a:defRPr b="0" i="0" sz="2800" u="none" cap="none" strike="noStrike">
                <a:solidFill>
                  <a:srgbClr val="F3F3F3"/>
                </a:solidFill>
                <a:latin typeface="Lato"/>
                <a:ea typeface="Lato"/>
                <a:cs typeface="Lato"/>
                <a:sym typeface="Lato"/>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3F3F3"/>
              </a:buClr>
              <a:buSzPts val="1800"/>
              <a:buFont typeface="Arial"/>
              <a:buChar char="●"/>
              <a:defRPr b="0" i="0" sz="1800" u="none" cap="none" strike="noStrike">
                <a:solidFill>
                  <a:srgbClr val="F3F3F3"/>
                </a:solidFill>
                <a:latin typeface="Arial"/>
                <a:ea typeface="Arial"/>
                <a:cs typeface="Arial"/>
                <a:sym typeface="Arial"/>
              </a:defRPr>
            </a:lvl1pPr>
            <a:lvl2pPr indent="-317500" lvl="1" marL="914400" marR="0" rtl="0" algn="l">
              <a:lnSpc>
                <a:spcPct val="115000"/>
              </a:lnSpc>
              <a:spcBef>
                <a:spcPts val="0"/>
              </a:spcBef>
              <a:spcAft>
                <a:spcPts val="0"/>
              </a:spcAft>
              <a:buClr>
                <a:srgbClr val="F3F3F3"/>
              </a:buClr>
              <a:buSzPts val="1400"/>
              <a:buFont typeface="Arial"/>
              <a:buChar char="○"/>
              <a:defRPr b="0" i="0" sz="1400" u="none" cap="none" strike="noStrike">
                <a:solidFill>
                  <a:srgbClr val="F3F3F3"/>
                </a:solidFill>
                <a:latin typeface="Arial"/>
                <a:ea typeface="Arial"/>
                <a:cs typeface="Arial"/>
                <a:sym typeface="Arial"/>
              </a:defRPr>
            </a:lvl2pPr>
            <a:lvl3pPr indent="-317500" lvl="2" marL="1371600" marR="0" rtl="0" algn="l">
              <a:lnSpc>
                <a:spcPct val="115000"/>
              </a:lnSpc>
              <a:spcBef>
                <a:spcPts val="0"/>
              </a:spcBef>
              <a:spcAft>
                <a:spcPts val="0"/>
              </a:spcAft>
              <a:buClr>
                <a:srgbClr val="F3F3F3"/>
              </a:buClr>
              <a:buSzPts val="1400"/>
              <a:buFont typeface="Arial"/>
              <a:buChar char="■"/>
              <a:defRPr b="0" i="0" sz="1400" u="none" cap="none" strike="noStrike">
                <a:solidFill>
                  <a:srgbClr val="F3F3F3"/>
                </a:solidFill>
                <a:latin typeface="Arial"/>
                <a:ea typeface="Arial"/>
                <a:cs typeface="Arial"/>
                <a:sym typeface="Arial"/>
              </a:defRPr>
            </a:lvl3pPr>
            <a:lvl4pPr indent="-317500" lvl="3" marL="1828800" marR="0" rtl="0" algn="l">
              <a:lnSpc>
                <a:spcPct val="115000"/>
              </a:lnSpc>
              <a:spcBef>
                <a:spcPts val="0"/>
              </a:spcBef>
              <a:spcAft>
                <a:spcPts val="0"/>
              </a:spcAft>
              <a:buClr>
                <a:srgbClr val="F3F3F3"/>
              </a:buClr>
              <a:buSzPts val="1400"/>
              <a:buFont typeface="Arial"/>
              <a:buChar char="●"/>
              <a:defRPr b="0" i="0" sz="1400" u="none" cap="none" strike="noStrike">
                <a:solidFill>
                  <a:srgbClr val="F3F3F3"/>
                </a:solidFill>
                <a:latin typeface="Arial"/>
                <a:ea typeface="Arial"/>
                <a:cs typeface="Arial"/>
                <a:sym typeface="Arial"/>
              </a:defRPr>
            </a:lvl4pPr>
            <a:lvl5pPr indent="-317500" lvl="4" marL="2286000" marR="0" rtl="0" algn="l">
              <a:lnSpc>
                <a:spcPct val="115000"/>
              </a:lnSpc>
              <a:spcBef>
                <a:spcPts val="0"/>
              </a:spcBef>
              <a:spcAft>
                <a:spcPts val="0"/>
              </a:spcAft>
              <a:buClr>
                <a:srgbClr val="F3F3F3"/>
              </a:buClr>
              <a:buSzPts val="1400"/>
              <a:buFont typeface="Arial"/>
              <a:buChar char="○"/>
              <a:defRPr b="0" i="0" sz="1400" u="none" cap="none" strike="noStrike">
                <a:solidFill>
                  <a:srgbClr val="F3F3F3"/>
                </a:solidFill>
                <a:latin typeface="Arial"/>
                <a:ea typeface="Arial"/>
                <a:cs typeface="Arial"/>
                <a:sym typeface="Arial"/>
              </a:defRPr>
            </a:lvl5pPr>
            <a:lvl6pPr indent="-317500" lvl="5" marL="2743200" marR="0" rtl="0" algn="l">
              <a:lnSpc>
                <a:spcPct val="115000"/>
              </a:lnSpc>
              <a:spcBef>
                <a:spcPts val="0"/>
              </a:spcBef>
              <a:spcAft>
                <a:spcPts val="0"/>
              </a:spcAft>
              <a:buClr>
                <a:srgbClr val="F3F3F3"/>
              </a:buClr>
              <a:buSzPts val="1400"/>
              <a:buFont typeface="Arial"/>
              <a:buChar char="■"/>
              <a:defRPr b="0" i="0" sz="1400" u="none" cap="none" strike="noStrike">
                <a:solidFill>
                  <a:srgbClr val="F3F3F3"/>
                </a:solidFill>
                <a:latin typeface="Arial"/>
                <a:ea typeface="Arial"/>
                <a:cs typeface="Arial"/>
                <a:sym typeface="Arial"/>
              </a:defRPr>
            </a:lvl6pPr>
            <a:lvl7pPr indent="-317500" lvl="6" marL="3200400" marR="0" rtl="0" algn="l">
              <a:lnSpc>
                <a:spcPct val="115000"/>
              </a:lnSpc>
              <a:spcBef>
                <a:spcPts val="0"/>
              </a:spcBef>
              <a:spcAft>
                <a:spcPts val="0"/>
              </a:spcAft>
              <a:buClr>
                <a:srgbClr val="F3F3F3"/>
              </a:buClr>
              <a:buSzPts val="1400"/>
              <a:buFont typeface="Arial"/>
              <a:buChar char="●"/>
              <a:defRPr b="0" i="0" sz="1400" u="none" cap="none" strike="noStrike">
                <a:solidFill>
                  <a:srgbClr val="F3F3F3"/>
                </a:solidFill>
                <a:latin typeface="Arial"/>
                <a:ea typeface="Arial"/>
                <a:cs typeface="Arial"/>
                <a:sym typeface="Arial"/>
              </a:defRPr>
            </a:lvl7pPr>
            <a:lvl8pPr indent="-317500" lvl="7" marL="3657600" marR="0" rtl="0" algn="l">
              <a:lnSpc>
                <a:spcPct val="115000"/>
              </a:lnSpc>
              <a:spcBef>
                <a:spcPts val="0"/>
              </a:spcBef>
              <a:spcAft>
                <a:spcPts val="0"/>
              </a:spcAft>
              <a:buClr>
                <a:srgbClr val="F3F3F3"/>
              </a:buClr>
              <a:buSzPts val="1400"/>
              <a:buFont typeface="Arial"/>
              <a:buChar char="○"/>
              <a:defRPr b="0" i="0" sz="1400" u="none" cap="none" strike="noStrike">
                <a:solidFill>
                  <a:srgbClr val="F3F3F3"/>
                </a:solidFill>
                <a:latin typeface="Arial"/>
                <a:ea typeface="Arial"/>
                <a:cs typeface="Arial"/>
                <a:sym typeface="Arial"/>
              </a:defRPr>
            </a:lvl8pPr>
            <a:lvl9pPr indent="-317500" lvl="8" marL="4114800" marR="0" rtl="0" algn="l">
              <a:lnSpc>
                <a:spcPct val="115000"/>
              </a:lnSpc>
              <a:spcBef>
                <a:spcPts val="0"/>
              </a:spcBef>
              <a:spcAft>
                <a:spcPts val="0"/>
              </a:spcAft>
              <a:buClr>
                <a:srgbClr val="F3F3F3"/>
              </a:buClr>
              <a:buSzPts val="1400"/>
              <a:buFont typeface="Arial"/>
              <a:buChar char="■"/>
              <a:defRPr b="0" i="0" sz="1400" u="none" cap="none" strike="noStrike">
                <a:solidFill>
                  <a:srgbClr val="F3F3F3"/>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learning.oreilly.com/library/view/django-design-patterns/9781783986644/" TargetMode="Externa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agilealliance.org/agile101/" TargetMode="Externa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linkedin.com/pulse/mastering-art-user-stories-tips-techniques-agile-deepak-mohan-kumar/?trackingId=QkVOLBxRSKiJD1vyHF%20XYw"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visual-paradigm.com/guide/uml-unified-modeling-language/uml-class-diagram-tutorial/" TargetMode="External"/><Relationship Id="rId4" Type="http://schemas.openxmlformats.org/officeDocument/2006/relationships/image" Target="../media/image9.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linkedin.com/pulse/mastering-art-user-stories-tips-techniques-agile-deepak-mohan-kumar/?trackingId=QkVOLBxRSKiJD1vyHF%20XY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hyperlink" Target="https://docs.djangoproject.com/en/6.1/topics/db/models/" TargetMode="External"/><Relationship Id="rId5" Type="http://schemas.openxmlformats.org/officeDocument/2006/relationships/hyperlink" Target="https://docs.djangoproject.com/en/6.1/topics/db/model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ocs.google.com/document/d/1Ljwuo4KqW1L5kAavjDJTC_Rmul1vvZnsn2_F8PmVUO0/edit?tab=t.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sqlitetutorial.net/sqlite-sample-database/" TargetMode="External"/><Relationship Id="rId4" Type="http://schemas.openxmlformats.org/officeDocument/2006/relationships/image" Target="../media/image7.png"/><Relationship Id="rId5" Type="http://schemas.openxmlformats.org/officeDocument/2006/relationships/hyperlink" Target="https://mywebscribbles.blogspot.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blog.logrocket.com/making-django-migrations-python/" TargetMode="Externa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medium.com/oceanize-geeks/the-active-record-and-data-mappers-of-orm-pattern-eefb8262b7bb" TargetMode="External"/><Relationship Id="rId4" Type="http://schemas.openxmlformats.org/officeDocument/2006/relationships/hyperlink" Target="https://dev.to/andrewsavetchuk/overview-of-the-active-record-pattern-2jdo" TargetMode="External"/><Relationship Id="rId5" Type="http://schemas.openxmlformats.org/officeDocument/2006/relationships/hyperlink" Target="https://medium.com/oceanize-geeks/the-active-record-and-data-mappers-of-orm-pattern-eefb8262b7bb"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developer.mozilla.org/en-US/docs/Learn/Server-side/Django/Admin_site" TargetMode="External"/><Relationship Id="rId4" Type="http://schemas.openxmlformats.org/officeDocument/2006/relationships/hyperlink" Target="http://127.0.0.1:8000/admin" TargetMode="External"/><Relationship Id="rId5"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docs.google.com/presentation/d/e/2PACX-1vRxMom9CGPfjpjLKbNTNOmr2lm_aP-UKooB-bUodg3w6Y9MVZ8JunDwqlSJaGoh2w/pub?start=false&amp;loop=false&amp;delayms=3000&amp;slide=id.g24117a414f0_0_158" TargetMode="External"/><Relationship Id="rId4" Type="http://schemas.openxmlformats.org/officeDocument/2006/relationships/hyperlink" Target="http://127.0.0.1:8000/admin/portfolio_app/student/2/change/" TargetMode="External"/><Relationship Id="rId9" Type="http://schemas.openxmlformats.org/officeDocument/2006/relationships/image" Target="../media/image28.png"/><Relationship Id="rId5" Type="http://schemas.openxmlformats.org/officeDocument/2006/relationships/hyperlink" Target="http://127.0.0.1:8000/admin/portfolio_app/student/2/delete/" TargetMode="External"/><Relationship Id="rId6" Type="http://schemas.openxmlformats.org/officeDocument/2006/relationships/hyperlink" Target="http://127.0.0.1:8000/admin/portfolio_app/student/" TargetMode="External"/><Relationship Id="rId7" Type="http://schemas.openxmlformats.org/officeDocument/2006/relationships/image" Target="../media/image26.png"/><Relationship Id="rId8"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database.guide/what-is-a-database-schema/" TargetMode="External"/><Relationship Id="rId4" Type="http://schemas.openxmlformats.org/officeDocument/2006/relationships/hyperlink" Target="https://www.prisma.io/dataguide/types/relational/what-are-database-migrations" TargetMode="External"/><Relationship Id="rId5" Type="http://schemas.openxmlformats.org/officeDocument/2006/relationships/hyperlink" Target="https://developer.mozilla.org/en-US/docs/Learn/Server-side/Django/skeleton_website#running_database_migrations" TargetMode="External"/><Relationship Id="rId6" Type="http://schemas.openxmlformats.org/officeDocument/2006/relationships/image" Target="../media/image31.png"/><Relationship Id="rId7"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sqlbolt.com/lesson/1?utm_source=chatgpt.com" TargetMode="External"/><Relationship Id="rId4" Type="http://schemas.openxmlformats.org/officeDocument/2006/relationships/hyperlink" Target="https://sqlbolt.com/lesson/2?utm_source=chatgpt.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hyperlink" Target="https://docs.djangoproject.com/en/6.1/topics/db/queries/" TargetMode="External"/><Relationship Id="rId5" Type="http://schemas.openxmlformats.org/officeDocument/2006/relationships/hyperlink" Target="https://docs.djangoproject.com/en/6.1/ref/models/queryset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docs.djangoproject.com/en/6.1/topics/db/queries/#retrieving-all-object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1" type="subTitle"/>
          </p:nvPr>
        </p:nvSpPr>
        <p:spPr>
          <a:xfrm>
            <a:off x="311700" y="2627700"/>
            <a:ext cx="8520600" cy="2009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 sz="3200"/>
              <a:t>Chapter 3 </a:t>
            </a:r>
            <a:endParaRPr sz="3200" u="sng">
              <a:solidFill>
                <a:schemeClr val="hlink"/>
              </a:solidFill>
              <a:hlinkClick r:id="rId3"/>
            </a:endParaRPr>
          </a:p>
          <a:p>
            <a:pPr indent="0" lvl="0" marL="0" rtl="0" algn="ctr">
              <a:lnSpc>
                <a:spcPct val="100000"/>
              </a:lnSpc>
              <a:spcBef>
                <a:spcPts val="0"/>
              </a:spcBef>
              <a:spcAft>
                <a:spcPts val="0"/>
              </a:spcAft>
              <a:buSzPts val="2800"/>
              <a:buNone/>
            </a:pPr>
            <a:r>
              <a:rPr lang="en" sz="3200"/>
              <a:t>Models and Database</a:t>
            </a:r>
            <a:endParaRPr sz="3200"/>
          </a:p>
          <a:p>
            <a:pPr indent="0" lvl="0" marL="0" rtl="0" algn="ctr">
              <a:lnSpc>
                <a:spcPct val="100000"/>
              </a:lnSpc>
              <a:spcBef>
                <a:spcPts val="0"/>
              </a:spcBef>
              <a:spcAft>
                <a:spcPts val="0"/>
              </a:spcAft>
              <a:buSzPts val="2400"/>
              <a:buNone/>
            </a:pPr>
            <a:r>
              <a:t/>
            </a:r>
            <a:endParaRPr sz="3200"/>
          </a:p>
        </p:txBody>
      </p:sp>
      <p:pic>
        <p:nvPicPr>
          <p:cNvPr id="71" name="Google Shape;71;p16"/>
          <p:cNvPicPr preferRelativeResize="0"/>
          <p:nvPr/>
        </p:nvPicPr>
        <p:blipFill rotWithShape="1">
          <a:blip r:embed="rId4">
            <a:alphaModFix/>
          </a:blip>
          <a:srcRect b="0" l="0" r="0" t="0"/>
          <a:stretch/>
        </p:blipFill>
        <p:spPr>
          <a:xfrm>
            <a:off x="2152650" y="304800"/>
            <a:ext cx="4349924" cy="2009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77" name="Google Shape;77;p17"/>
          <p:cNvSpPr txBox="1"/>
          <p:nvPr>
            <p:ph idx="1" type="body"/>
          </p:nvPr>
        </p:nvSpPr>
        <p:spPr>
          <a:xfrm>
            <a:off x="311700" y="1163050"/>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Explain where models and the database fit in Django’s Model–View–Template (MVT) structure.</a:t>
            </a:r>
            <a:endParaRPr/>
          </a:p>
          <a:p>
            <a:pPr indent="-342900" lvl="0" marL="457200" rtl="0" algn="l">
              <a:spcBef>
                <a:spcPts val="0"/>
              </a:spcBef>
              <a:spcAft>
                <a:spcPts val="0"/>
              </a:spcAft>
              <a:buSzPts val="1800"/>
              <a:buChar char="●"/>
            </a:pPr>
            <a:r>
              <a:rPr lang="en"/>
              <a:t>Create a Django app and a basic model, then use migrations to create its database table.</a:t>
            </a:r>
            <a:endParaRPr/>
          </a:p>
          <a:p>
            <a:pPr indent="-342900" lvl="0" marL="457200" rtl="0" algn="l">
              <a:spcBef>
                <a:spcPts val="0"/>
              </a:spcBef>
              <a:spcAft>
                <a:spcPts val="0"/>
              </a:spcAft>
              <a:buSzPts val="1800"/>
              <a:buChar char="●"/>
            </a:pPr>
            <a:r>
              <a:rPr lang="en"/>
              <a:t>Predict and inspect how model fields, primary keys, and relationships appear in database tables.</a:t>
            </a:r>
            <a:endParaRPr/>
          </a:p>
          <a:p>
            <a:pPr indent="-342900" lvl="0" marL="457200" rtl="0" algn="l">
              <a:spcBef>
                <a:spcPts val="0"/>
              </a:spcBef>
              <a:spcAft>
                <a:spcPts val="0"/>
              </a:spcAft>
              <a:buSzPts val="1800"/>
              <a:buChar char="●"/>
            </a:pPr>
            <a:r>
              <a:rPr lang="en"/>
              <a:t>Use Django admin and ORM queries to create, view, and retrieve related records.</a:t>
            </a:r>
            <a:endParaRPr/>
          </a:p>
          <a:p>
            <a:pPr indent="-342900" lvl="0" marL="457200" rtl="0" algn="l">
              <a:spcBef>
                <a:spcPts val="0"/>
              </a:spcBef>
              <a:spcAft>
                <a:spcPts val="0"/>
              </a:spcAft>
              <a:buSzPts val="1800"/>
              <a:buChar char="●"/>
            </a:pPr>
            <a:r>
              <a:rPr lang="en"/>
              <a:t>Explain how Django models connect Python objects to database records, including the Active Record concepts discussed in class.</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233775" y="333769"/>
            <a:ext cx="6390600" cy="429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Agile</a:t>
            </a:r>
            <a:endParaRPr/>
          </a:p>
        </p:txBody>
      </p:sp>
      <p:sp>
        <p:nvSpPr>
          <p:cNvPr id="83" name="Google Shape;83;p18"/>
          <p:cNvSpPr txBox="1"/>
          <p:nvPr>
            <p:ph idx="1" type="body"/>
          </p:nvPr>
        </p:nvSpPr>
        <p:spPr>
          <a:xfrm>
            <a:off x="311700" y="827531"/>
            <a:ext cx="8520600" cy="4177200"/>
          </a:xfrm>
          <a:prstGeom prst="rect">
            <a:avLst/>
          </a:prstGeom>
          <a:noFill/>
          <a:ln>
            <a:noFill/>
          </a:ln>
        </p:spPr>
        <p:txBody>
          <a:bodyPr anchorCtr="0" anchor="t" bIns="91425" lIns="91425" spcFirstLastPara="1" rIns="91425" wrap="square" tIns="91425">
            <a:normAutofit lnSpcReduction="20000"/>
          </a:bodyPr>
          <a:lstStyle/>
          <a:p>
            <a:pPr indent="-279400" lvl="0" marL="342900" rtl="0" algn="l">
              <a:spcBef>
                <a:spcPts val="0"/>
              </a:spcBef>
              <a:spcAft>
                <a:spcPts val="0"/>
              </a:spcAft>
              <a:buSzPts val="1800"/>
              <a:buChar char="●"/>
            </a:pPr>
            <a:r>
              <a:rPr lang="en"/>
              <a:t>We will approach developing software with an agile mindset. </a:t>
            </a:r>
            <a:endParaRPr/>
          </a:p>
          <a:p>
            <a:pPr indent="-279400" lvl="0" marL="342900" rtl="0" algn="l">
              <a:spcBef>
                <a:spcPts val="0"/>
              </a:spcBef>
              <a:spcAft>
                <a:spcPts val="0"/>
              </a:spcAft>
              <a:buSzPts val="1800"/>
              <a:buChar char="●"/>
            </a:pPr>
            <a:r>
              <a:rPr lang="en"/>
              <a:t>This is to guide you on how to create and respond to change and how to deal with uncertainty. </a:t>
            </a:r>
            <a:endParaRPr/>
          </a:p>
          <a:p>
            <a:pPr indent="-279400" lvl="0" marL="342900" rtl="0" algn="l">
              <a:spcBef>
                <a:spcPts val="0"/>
              </a:spcBef>
              <a:spcAft>
                <a:spcPts val="0"/>
              </a:spcAft>
              <a:buSzPts val="1800"/>
              <a:buChar char="●"/>
            </a:pPr>
            <a:r>
              <a:rPr lang="en"/>
              <a:t>This will introduce you to how industry approaches building software.</a:t>
            </a:r>
            <a:endParaRPr/>
          </a:p>
          <a:p>
            <a:pPr indent="0" lvl="0" marL="0" rtl="0" algn="l">
              <a:spcBef>
                <a:spcPts val="0"/>
              </a:spcBef>
              <a:spcAft>
                <a:spcPts val="0"/>
              </a:spcAft>
              <a:buSzPts val="800"/>
              <a:buNone/>
            </a:pPr>
            <a:r>
              <a:t/>
            </a:r>
            <a:endParaRPr/>
          </a:p>
          <a:p>
            <a:pPr indent="0" lvl="0" marL="0" rtl="0" algn="l">
              <a:spcBef>
                <a:spcPts val="0"/>
              </a:spcBef>
              <a:spcAft>
                <a:spcPts val="0"/>
              </a:spcAft>
              <a:buClr>
                <a:schemeClr val="dk1"/>
              </a:buClr>
              <a:buSzPts val="1100"/>
              <a:buFont typeface="Arial"/>
              <a:buNone/>
            </a:pPr>
            <a:r>
              <a:rPr lang="en" u="sng">
                <a:solidFill>
                  <a:schemeClr val="hlink"/>
                </a:solidFill>
                <a:hlinkClick r:id="rId3"/>
              </a:rPr>
              <a:t>What is Agile Software Development? </a:t>
            </a:r>
            <a:endParaRPr/>
          </a:p>
          <a:p>
            <a:pPr indent="0" lvl="0" marL="0" rtl="0" algn="l">
              <a:spcBef>
                <a:spcPts val="0"/>
              </a:spcBef>
              <a:spcAft>
                <a:spcPts val="0"/>
              </a:spcAft>
              <a:buSzPts val="800"/>
              <a:buNone/>
            </a:pPr>
            <a:r>
              <a:t/>
            </a:r>
            <a:endParaRPr/>
          </a:p>
          <a:p>
            <a:pPr indent="0" lvl="0" marL="0" rtl="0" algn="l">
              <a:spcBef>
                <a:spcPts val="0"/>
              </a:spcBef>
              <a:spcAft>
                <a:spcPts val="0"/>
              </a:spcAft>
              <a:buClr>
                <a:schemeClr val="dk1"/>
              </a:buClr>
              <a:buSzPts val="800"/>
              <a:buFont typeface="Arial"/>
              <a:buNone/>
            </a:pPr>
            <a:r>
              <a:rPr lang="en"/>
              <a:t>Agile is like Planning a Road Trip with Friends</a:t>
            </a:r>
            <a:endParaRPr/>
          </a:p>
          <a:p>
            <a:pPr indent="-279400" lvl="0" marL="342900" rtl="0" algn="l">
              <a:spcBef>
                <a:spcPts val="0"/>
              </a:spcBef>
              <a:spcAft>
                <a:spcPts val="0"/>
              </a:spcAft>
              <a:buSzPts val="1800"/>
              <a:buChar char="●"/>
            </a:pPr>
            <a:r>
              <a:rPr lang="en"/>
              <a:t>Goal/Destination: Agree on where you’re heading.</a:t>
            </a:r>
            <a:endParaRPr/>
          </a:p>
          <a:p>
            <a:pPr indent="-279400" lvl="0" marL="342900" rtl="0" algn="l">
              <a:spcBef>
                <a:spcPts val="0"/>
              </a:spcBef>
              <a:spcAft>
                <a:spcPts val="0"/>
              </a:spcAft>
              <a:buSzPts val="1800"/>
              <a:buChar char="●"/>
            </a:pPr>
            <a:r>
              <a:rPr lang="en"/>
              <a:t>Flexible Plans: Decide details as you go.</a:t>
            </a:r>
            <a:endParaRPr/>
          </a:p>
          <a:p>
            <a:pPr indent="-279400" lvl="0" marL="342900" rtl="0" algn="l">
              <a:spcBef>
                <a:spcPts val="0"/>
              </a:spcBef>
              <a:spcAft>
                <a:spcPts val="0"/>
              </a:spcAft>
              <a:buSzPts val="1800"/>
              <a:buChar char="●"/>
            </a:pPr>
            <a:r>
              <a:rPr lang="en"/>
              <a:t>Team Collaboration: Everyone contributes ideas.</a:t>
            </a:r>
            <a:endParaRPr/>
          </a:p>
          <a:p>
            <a:pPr indent="-279400" lvl="0" marL="342900" rtl="0" algn="l">
              <a:spcBef>
                <a:spcPts val="0"/>
              </a:spcBef>
              <a:spcAft>
                <a:spcPts val="0"/>
              </a:spcAft>
              <a:buSzPts val="1800"/>
              <a:buChar char="●"/>
            </a:pPr>
            <a:r>
              <a:rPr lang="en"/>
              <a:t>Regular Check-ins: Stop often, adjust route if needed.</a:t>
            </a:r>
            <a:endParaRPr/>
          </a:p>
          <a:p>
            <a:pPr indent="-279400" lvl="0" marL="342900" rtl="0" algn="l">
              <a:spcBef>
                <a:spcPts val="0"/>
              </a:spcBef>
              <a:spcAft>
                <a:spcPts val="0"/>
              </a:spcAft>
              <a:buSzPts val="1800"/>
              <a:buChar char="●"/>
            </a:pPr>
            <a:r>
              <a:rPr lang="en"/>
              <a:t>Deliver in Pieces: Enjoy one stop before moving to the next.</a:t>
            </a:r>
            <a:br>
              <a:rPr lang="en"/>
            </a:br>
            <a:endParaRPr/>
          </a:p>
          <a:p>
            <a:pPr indent="0" lvl="0" marL="0" rtl="0" algn="l">
              <a:spcBef>
                <a:spcPts val="0"/>
              </a:spcBef>
              <a:spcAft>
                <a:spcPts val="0"/>
              </a:spcAft>
              <a:buSzPts val="800"/>
              <a:buNone/>
            </a:pPr>
            <a:r>
              <a:rPr lang="en"/>
              <a:t>Agile is about flexibility, feedback, and small steps — just like a trip with friends.</a:t>
            </a:r>
            <a:endParaRPr/>
          </a:p>
        </p:txBody>
      </p:sp>
      <p:pic>
        <p:nvPicPr>
          <p:cNvPr id="84" name="Google Shape;84;p18" title="agile-1517535511.gif"/>
          <p:cNvPicPr preferRelativeResize="0"/>
          <p:nvPr/>
        </p:nvPicPr>
        <p:blipFill>
          <a:blip r:embed="rId4">
            <a:alphaModFix/>
          </a:blip>
          <a:stretch>
            <a:fillRect/>
          </a:stretch>
        </p:blipFill>
        <p:spPr>
          <a:xfrm>
            <a:off x="6478200" y="2172881"/>
            <a:ext cx="2354026" cy="17655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Agile Software Development?</a:t>
            </a:r>
            <a:endParaRPr/>
          </a:p>
        </p:txBody>
      </p:sp>
      <p:sp>
        <p:nvSpPr>
          <p:cNvPr id="90" name="Google Shape;90;p19"/>
          <p:cNvSpPr txBox="1"/>
          <p:nvPr>
            <p:ph idx="1" type="body"/>
          </p:nvPr>
        </p:nvSpPr>
        <p:spPr>
          <a:xfrm>
            <a:off x="311700" y="1152475"/>
            <a:ext cx="8520600" cy="36735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600" u="sng">
                <a:solidFill>
                  <a:schemeClr val="hlink"/>
                </a:solidFill>
                <a:hlinkClick r:id="rId3"/>
              </a:rPr>
              <a:t>Agile </a:t>
            </a:r>
            <a:r>
              <a:rPr lang="en" sz="1600"/>
              <a:t> is an approach to building software in small, useful steps. Developers plan what to build next, create a working piece, check it, gather feedback, and adjust their plans as they learn.</a:t>
            </a:r>
            <a:endParaRPr sz="1600"/>
          </a:p>
          <a:p>
            <a:pPr indent="0" lvl="0" marL="0" rtl="0" algn="l">
              <a:lnSpc>
                <a:spcPct val="95000"/>
              </a:lnSpc>
              <a:spcBef>
                <a:spcPts val="0"/>
              </a:spcBef>
              <a:spcAft>
                <a:spcPts val="0"/>
              </a:spcAft>
              <a:buNone/>
            </a:pPr>
            <a:r>
              <a:t/>
            </a:r>
            <a:endParaRPr sz="1600"/>
          </a:p>
          <a:p>
            <a:pPr indent="0" lvl="0" marL="0" rtl="0" algn="l">
              <a:lnSpc>
                <a:spcPct val="95000"/>
              </a:lnSpc>
              <a:spcBef>
                <a:spcPts val="0"/>
              </a:spcBef>
              <a:spcAft>
                <a:spcPts val="0"/>
              </a:spcAft>
              <a:buNone/>
            </a:pPr>
            <a:r>
              <a:rPr lang="en" sz="1600"/>
              <a:t>Agile is not a prescription or one required set of steps. </a:t>
            </a:r>
            <a:endParaRPr sz="1600"/>
          </a:p>
          <a:p>
            <a:pPr indent="0" lvl="0" marL="0" rtl="0" algn="l">
              <a:lnSpc>
                <a:spcPct val="95000"/>
              </a:lnSpc>
              <a:spcBef>
                <a:spcPts val="0"/>
              </a:spcBef>
              <a:spcAft>
                <a:spcPts val="0"/>
              </a:spcAft>
              <a:buNone/>
            </a:pPr>
            <a:r>
              <a:t/>
            </a:r>
            <a:endParaRPr sz="1600"/>
          </a:p>
          <a:p>
            <a:pPr indent="0" lvl="0" marL="0" rtl="0" algn="l">
              <a:lnSpc>
                <a:spcPct val="95000"/>
              </a:lnSpc>
              <a:spcBef>
                <a:spcPts val="0"/>
              </a:spcBef>
              <a:spcAft>
                <a:spcPts val="0"/>
              </a:spcAft>
              <a:buNone/>
            </a:pPr>
            <a:r>
              <a:rPr lang="en" sz="1600"/>
              <a:t>Teams choose practices that fit their project. What matters is that they:</a:t>
            </a:r>
            <a:endParaRPr sz="1600"/>
          </a:p>
          <a:p>
            <a:pPr indent="-330200" lvl="0" marL="457200" rtl="0" algn="l">
              <a:lnSpc>
                <a:spcPct val="95000"/>
              </a:lnSpc>
              <a:spcBef>
                <a:spcPts val="0"/>
              </a:spcBef>
              <a:spcAft>
                <a:spcPts val="0"/>
              </a:spcAft>
              <a:buSzPts val="1600"/>
              <a:buChar char="●"/>
            </a:pPr>
            <a:r>
              <a:rPr lang="en" sz="1600"/>
              <a:t>Focus on what users need</a:t>
            </a:r>
            <a:endParaRPr sz="1600"/>
          </a:p>
          <a:p>
            <a:pPr indent="-330200" lvl="0" marL="457200" rtl="0" algn="l">
              <a:lnSpc>
                <a:spcPct val="95000"/>
              </a:lnSpc>
              <a:spcBef>
                <a:spcPts val="0"/>
              </a:spcBef>
              <a:spcAft>
                <a:spcPts val="0"/>
              </a:spcAft>
              <a:buSzPts val="1600"/>
              <a:buChar char="●"/>
            </a:pPr>
            <a:r>
              <a:rPr lang="en" sz="1600"/>
              <a:t>Build and check small pieces of working software</a:t>
            </a:r>
            <a:endParaRPr sz="1600"/>
          </a:p>
          <a:p>
            <a:pPr indent="-330200" lvl="0" marL="457200" rtl="0" algn="l">
              <a:lnSpc>
                <a:spcPct val="95000"/>
              </a:lnSpc>
              <a:spcBef>
                <a:spcPts val="0"/>
              </a:spcBef>
              <a:spcAft>
                <a:spcPts val="0"/>
              </a:spcAft>
              <a:buSzPts val="1600"/>
              <a:buChar char="●"/>
            </a:pPr>
            <a:r>
              <a:rPr lang="en" sz="1600"/>
              <a:t>Use evidence and feedback to guide changes</a:t>
            </a:r>
            <a:endParaRPr sz="1600"/>
          </a:p>
          <a:p>
            <a:pPr indent="-330200" lvl="0" marL="457200" rtl="0" algn="l">
              <a:lnSpc>
                <a:spcPct val="95000"/>
              </a:lnSpc>
              <a:spcBef>
                <a:spcPts val="0"/>
              </a:spcBef>
              <a:spcAft>
                <a:spcPts val="0"/>
              </a:spcAft>
              <a:buSzPts val="1600"/>
              <a:buChar char="●"/>
            </a:pPr>
            <a:r>
              <a:rPr lang="en" sz="1600"/>
              <a:t>Reflect on how to improve their work</a:t>
            </a:r>
            <a:endParaRPr sz="1600"/>
          </a:p>
          <a:p>
            <a:pPr indent="0" lvl="0" marL="0" rtl="0" algn="l">
              <a:lnSpc>
                <a:spcPct val="95000"/>
              </a:lnSpc>
              <a:spcBef>
                <a:spcPts val="0"/>
              </a:spcBef>
              <a:spcAft>
                <a:spcPts val="0"/>
              </a:spcAft>
              <a:buNone/>
            </a:pPr>
            <a:r>
              <a:t/>
            </a:r>
            <a:endParaRPr sz="1600"/>
          </a:p>
          <a:p>
            <a:pPr indent="0" lvl="0" marL="0" rtl="0" algn="l">
              <a:lnSpc>
                <a:spcPct val="95000"/>
              </a:lnSpc>
              <a:spcBef>
                <a:spcPts val="0"/>
              </a:spcBef>
              <a:spcAft>
                <a:spcPts val="0"/>
              </a:spcAft>
              <a:buNone/>
            </a:pPr>
            <a:r>
              <a:rPr lang="en" sz="1600"/>
              <a:t>In our portfolio project: We will begin with the Student model, inspect what Django creates, and use what we learn when we add Portfolio and Project. Our plan gives us direction, and our observations help us refine it.</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84500" y="183044"/>
            <a:ext cx="6390600" cy="42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Developer View</a:t>
            </a:r>
            <a:endParaRPr/>
          </a:p>
        </p:txBody>
      </p:sp>
      <p:sp>
        <p:nvSpPr>
          <p:cNvPr id="96" name="Google Shape;96;p20"/>
          <p:cNvSpPr txBox="1"/>
          <p:nvPr>
            <p:ph idx="1" type="body"/>
          </p:nvPr>
        </p:nvSpPr>
        <p:spPr>
          <a:xfrm>
            <a:off x="311700" y="766300"/>
            <a:ext cx="8534100" cy="38466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44444"/>
              <a:buFont typeface="Arial"/>
              <a:buNone/>
            </a:pPr>
            <a:r>
              <a:rPr lang="en"/>
              <a:t>User Stories focuses on customer experience (“I want to see… I’m told when…”)</a:t>
            </a:r>
            <a:endParaRPr/>
          </a:p>
          <a:p>
            <a:pPr indent="0" lvl="0" marL="0" rtl="0" algn="l">
              <a:spcBef>
                <a:spcPts val="0"/>
              </a:spcBef>
              <a:spcAft>
                <a:spcPts val="0"/>
              </a:spcAft>
              <a:buClr>
                <a:schemeClr val="dk1"/>
              </a:buClr>
              <a:buSzPct val="44444"/>
              <a:buFont typeface="Arial"/>
              <a:buNone/>
            </a:pPr>
            <a:r>
              <a:rPr lang="en"/>
              <a:t>Developer now focuses on implementation details (arrays, methods, return values).</a:t>
            </a:r>
            <a:endParaRPr/>
          </a:p>
          <a:p>
            <a:pPr indent="0" lvl="0" marL="0" rtl="0" algn="l">
              <a:spcBef>
                <a:spcPts val="0"/>
              </a:spcBef>
              <a:spcAft>
                <a:spcPts val="0"/>
              </a:spcAft>
              <a:buNone/>
            </a:pPr>
            <a:r>
              <a:rPr lang="en"/>
              <a:t>Both are needed: one drives requirements, the other guides 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Customer View (plain language)</a:t>
            </a:r>
            <a:endParaRPr/>
          </a:p>
          <a:p>
            <a:pPr indent="0" lvl="0" marL="0" rtl="0" algn="l">
              <a:spcBef>
                <a:spcPts val="0"/>
              </a:spcBef>
              <a:spcAft>
                <a:spcPts val="0"/>
              </a:spcAft>
              <a:buNone/>
            </a:pPr>
            <a:r>
              <a:rPr lang="en"/>
              <a:t>Story 1: Represent a Book</a:t>
            </a:r>
            <a:br>
              <a:rPr lang="en"/>
            </a:br>
            <a:r>
              <a:rPr lang="en"/>
              <a:t>As a librarian, I want each book to have its details recorded so that I can identify it on the shelf.</a:t>
            </a:r>
            <a:endParaRPr/>
          </a:p>
          <a:p>
            <a:pPr indent="0" lvl="0" marL="0" rtl="0" algn="l">
              <a:spcBef>
                <a:spcPts val="0"/>
              </a:spcBef>
              <a:spcAft>
                <a:spcPts val="0"/>
              </a:spcAft>
              <a:buNone/>
            </a:pPr>
            <a:r>
              <a:rPr lang="en"/>
              <a:t>Acceptance Criteria: </a:t>
            </a:r>
            <a:endParaRPr/>
          </a:p>
          <a:p>
            <a:pPr indent="0" lvl="0" marL="0" rtl="0" algn="l">
              <a:spcBef>
                <a:spcPts val="0"/>
              </a:spcBef>
              <a:spcAft>
                <a:spcPts val="0"/>
              </a:spcAft>
              <a:buNone/>
            </a:pPr>
            <a:r>
              <a:rPr lang="en"/>
              <a:t>Each book shows its title, author, and year. When I look up a book, I see its information clearly formatted.</a:t>
            </a:r>
            <a:br>
              <a:rPr lang="en"/>
            </a:br>
            <a:endParaRPr/>
          </a:p>
          <a:p>
            <a:pPr indent="0" lvl="0" marL="0" rtl="0" algn="l">
              <a:spcBef>
                <a:spcPts val="0"/>
              </a:spcBef>
              <a:spcAft>
                <a:spcPts val="0"/>
              </a:spcAft>
              <a:buNone/>
            </a:pPr>
            <a:r>
              <a:rPr lang="en"/>
              <a:t>Developer View (technical detail)</a:t>
            </a:r>
            <a:endParaRPr/>
          </a:p>
          <a:p>
            <a:pPr indent="0" lvl="0" marL="0" rtl="0" algn="l">
              <a:spcBef>
                <a:spcPts val="0"/>
              </a:spcBef>
              <a:spcAft>
                <a:spcPts val="0"/>
              </a:spcAft>
              <a:buNone/>
            </a:pPr>
            <a:r>
              <a:rPr lang="en"/>
              <a:t>Book class with private fields title, author, year. </a:t>
            </a:r>
            <a:endParaRPr/>
          </a:p>
          <a:p>
            <a:pPr indent="0" lvl="0" marL="0" rtl="0" algn="l">
              <a:spcBef>
                <a:spcPts val="0"/>
              </a:spcBef>
              <a:spcAft>
                <a:spcPts val="0"/>
              </a:spcAft>
              <a:buNone/>
            </a:pPr>
            <a:r>
              <a:rPr lang="en"/>
              <a:t>Constructor sets fields; getters retrieve values. </a:t>
            </a:r>
            <a:endParaRPr/>
          </a:p>
          <a:p>
            <a:pPr indent="0" lvl="0" marL="0" rtl="0" algn="l">
              <a:spcBef>
                <a:spcPts val="0"/>
              </a:spcBef>
              <a:spcAft>
                <a:spcPts val="0"/>
              </a:spcAft>
              <a:buNone/>
            </a:pPr>
            <a:r>
              <a:rPr lang="en"/>
              <a:t>toString() formats "Title" by Author (Year).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222575" y="1955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Classes and Objects</a:t>
            </a:r>
            <a:endParaRPr/>
          </a:p>
        </p:txBody>
      </p:sp>
      <p:sp>
        <p:nvSpPr>
          <p:cNvPr id="102" name="Google Shape;102;p21"/>
          <p:cNvSpPr txBox="1"/>
          <p:nvPr>
            <p:ph idx="1" type="body"/>
          </p:nvPr>
        </p:nvSpPr>
        <p:spPr>
          <a:xfrm>
            <a:off x="222575" y="768200"/>
            <a:ext cx="8314500" cy="4331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323"/>
              <a:buNone/>
            </a:pPr>
            <a:r>
              <a:rPr lang="en"/>
              <a:t>A class is a blueprint describing how to build something from the blueprint.</a:t>
            </a:r>
            <a:endParaRPr/>
          </a:p>
          <a:p>
            <a:pPr indent="-342900" lvl="0" marL="457200" rtl="0" algn="l">
              <a:lnSpc>
                <a:spcPct val="115000"/>
              </a:lnSpc>
              <a:spcBef>
                <a:spcPts val="0"/>
              </a:spcBef>
              <a:spcAft>
                <a:spcPts val="0"/>
              </a:spcAft>
              <a:buSzPts val="1800"/>
              <a:buChar char="●"/>
            </a:pPr>
            <a:r>
              <a:rPr lang="en"/>
              <a:t>The blueprint is used to build similar houses</a:t>
            </a:r>
            <a:endParaRPr/>
          </a:p>
          <a:p>
            <a:pPr indent="-342900" lvl="0" marL="457200" rtl="0" algn="l">
              <a:lnSpc>
                <a:spcPct val="115000"/>
              </a:lnSpc>
              <a:spcBef>
                <a:spcPts val="0"/>
              </a:spcBef>
              <a:spcAft>
                <a:spcPts val="0"/>
              </a:spcAft>
              <a:buSzPts val="1800"/>
              <a:buChar char="●"/>
            </a:pPr>
            <a:r>
              <a:rPr lang="en"/>
              <a:t>An actual house is built with the blue print</a:t>
            </a:r>
            <a:endParaRPr/>
          </a:p>
          <a:p>
            <a:pPr indent="-317500" lvl="1" marL="914400" rtl="0" algn="l">
              <a:lnSpc>
                <a:spcPct val="115000"/>
              </a:lnSpc>
              <a:spcBef>
                <a:spcPts val="0"/>
              </a:spcBef>
              <a:spcAft>
                <a:spcPts val="0"/>
              </a:spcAft>
              <a:buSzPts val="1400"/>
              <a:buChar char="○"/>
            </a:pPr>
            <a:r>
              <a:rPr lang="en"/>
              <a:t>Each house can have different attributes</a:t>
            </a:r>
            <a:endParaRPr/>
          </a:p>
          <a:p>
            <a:pPr indent="-317500" lvl="2" marL="1371600" rtl="0" algn="l">
              <a:lnSpc>
                <a:spcPct val="115000"/>
              </a:lnSpc>
              <a:spcBef>
                <a:spcPts val="0"/>
              </a:spcBef>
              <a:spcAft>
                <a:spcPts val="0"/>
              </a:spcAft>
              <a:buSzPts val="1400"/>
              <a:buChar char="■"/>
            </a:pPr>
            <a:r>
              <a:rPr lang="en"/>
              <a:t>Color</a:t>
            </a:r>
            <a:endParaRPr/>
          </a:p>
          <a:p>
            <a:pPr indent="-317500" lvl="2" marL="1371600" rtl="0" algn="l">
              <a:lnSpc>
                <a:spcPct val="115000"/>
              </a:lnSpc>
              <a:spcBef>
                <a:spcPts val="0"/>
              </a:spcBef>
              <a:spcAft>
                <a:spcPts val="0"/>
              </a:spcAft>
              <a:buSzPts val="1400"/>
              <a:buChar char="■"/>
            </a:pPr>
            <a:r>
              <a:rPr lang="en"/>
              <a:t>Number of rooms</a:t>
            </a:r>
            <a:endParaRPr/>
          </a:p>
          <a:p>
            <a:pPr indent="-317500" lvl="2" marL="1371600" rtl="0" algn="l">
              <a:lnSpc>
                <a:spcPct val="115000"/>
              </a:lnSpc>
              <a:spcBef>
                <a:spcPts val="0"/>
              </a:spcBef>
              <a:spcAft>
                <a:spcPts val="0"/>
              </a:spcAft>
              <a:buSzPts val="1400"/>
              <a:buChar char="■"/>
            </a:pPr>
            <a:r>
              <a:rPr lang="en"/>
              <a:t>Garage Size</a:t>
            </a:r>
            <a:endParaRPr/>
          </a:p>
          <a:p>
            <a:pPr indent="-317500" lvl="2" marL="1371600" rtl="0" algn="l">
              <a:lnSpc>
                <a:spcPct val="115000"/>
              </a:lnSpc>
              <a:spcBef>
                <a:spcPts val="0"/>
              </a:spcBef>
              <a:spcAft>
                <a:spcPts val="0"/>
              </a:spcAft>
              <a:buSzPts val="1400"/>
              <a:buChar char="■"/>
            </a:pPr>
            <a:r>
              <a:rPr lang="en"/>
              <a:t>Counter tops</a:t>
            </a:r>
            <a:endParaRPr/>
          </a:p>
          <a:p>
            <a:pPr indent="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1800"/>
              <a:buNone/>
            </a:pPr>
            <a:r>
              <a:t/>
            </a:r>
            <a:endParaRPr/>
          </a:p>
        </p:txBody>
      </p:sp>
      <p:pic>
        <p:nvPicPr>
          <p:cNvPr id="103" name="Google Shape;103;p21"/>
          <p:cNvPicPr preferRelativeResize="0"/>
          <p:nvPr/>
        </p:nvPicPr>
        <p:blipFill rotWithShape="1">
          <a:blip r:embed="rId3">
            <a:alphaModFix/>
          </a:blip>
          <a:srcRect b="0" l="0" r="0" t="0"/>
          <a:stretch/>
        </p:blipFill>
        <p:spPr>
          <a:xfrm>
            <a:off x="5789449" y="1153312"/>
            <a:ext cx="2953726" cy="1888325"/>
          </a:xfrm>
          <a:prstGeom prst="rect">
            <a:avLst/>
          </a:prstGeom>
          <a:noFill/>
          <a:ln>
            <a:noFill/>
          </a:ln>
        </p:spPr>
      </p:pic>
      <p:pic>
        <p:nvPicPr>
          <p:cNvPr id="104" name="Google Shape;104;p21"/>
          <p:cNvPicPr preferRelativeResize="0"/>
          <p:nvPr/>
        </p:nvPicPr>
        <p:blipFill rotWithShape="1">
          <a:blip r:embed="rId4">
            <a:alphaModFix/>
          </a:blip>
          <a:srcRect b="0" l="0" r="0" t="0"/>
          <a:stretch/>
        </p:blipFill>
        <p:spPr>
          <a:xfrm>
            <a:off x="93675" y="3138001"/>
            <a:ext cx="2238775" cy="1313425"/>
          </a:xfrm>
          <a:prstGeom prst="rect">
            <a:avLst/>
          </a:prstGeom>
          <a:noFill/>
          <a:ln>
            <a:noFill/>
          </a:ln>
        </p:spPr>
      </p:pic>
      <p:pic>
        <p:nvPicPr>
          <p:cNvPr id="105" name="Google Shape;105;p21"/>
          <p:cNvPicPr preferRelativeResize="0"/>
          <p:nvPr/>
        </p:nvPicPr>
        <p:blipFill rotWithShape="1">
          <a:blip r:embed="rId5">
            <a:alphaModFix/>
          </a:blip>
          <a:srcRect b="0" l="0" r="0" t="0"/>
          <a:stretch/>
        </p:blipFill>
        <p:spPr>
          <a:xfrm>
            <a:off x="2461349" y="3174100"/>
            <a:ext cx="2238775" cy="1313426"/>
          </a:xfrm>
          <a:prstGeom prst="rect">
            <a:avLst/>
          </a:prstGeom>
          <a:noFill/>
          <a:ln>
            <a:noFill/>
          </a:ln>
        </p:spPr>
      </p:pic>
      <p:pic>
        <p:nvPicPr>
          <p:cNvPr id="106" name="Google Shape;106;p21"/>
          <p:cNvPicPr preferRelativeResize="0"/>
          <p:nvPr/>
        </p:nvPicPr>
        <p:blipFill rotWithShape="1">
          <a:blip r:embed="rId6">
            <a:alphaModFix/>
          </a:blip>
          <a:srcRect b="0" l="0" r="0" t="0"/>
          <a:stretch/>
        </p:blipFill>
        <p:spPr>
          <a:xfrm>
            <a:off x="4789375" y="3174101"/>
            <a:ext cx="2238775" cy="1313426"/>
          </a:xfrm>
          <a:prstGeom prst="rect">
            <a:avLst/>
          </a:prstGeom>
          <a:noFill/>
          <a:ln>
            <a:noFill/>
          </a:ln>
        </p:spPr>
      </p:pic>
      <p:sp>
        <p:nvSpPr>
          <p:cNvPr id="107" name="Google Shape;107;p21"/>
          <p:cNvSpPr/>
          <p:nvPr/>
        </p:nvSpPr>
        <p:spPr>
          <a:xfrm>
            <a:off x="7117400" y="3426750"/>
            <a:ext cx="1959600" cy="1144200"/>
          </a:xfrm>
          <a:prstGeom prst="leftArrowCallout">
            <a:avLst>
              <a:gd fmla="val 25000" name="adj1"/>
              <a:gd fmla="val 25000" name="adj2"/>
              <a:gd fmla="val 25000" name="adj3"/>
              <a:gd fmla="val 76699" name="adj4"/>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Many houses with same blueprint but different attributes</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133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a:t>
            </a:r>
            <a:endParaRPr/>
          </a:p>
        </p:txBody>
      </p:sp>
      <p:sp>
        <p:nvSpPr>
          <p:cNvPr id="113" name="Google Shape;113;p22"/>
          <p:cNvSpPr txBox="1"/>
          <p:nvPr>
            <p:ph idx="1" type="body"/>
          </p:nvPr>
        </p:nvSpPr>
        <p:spPr>
          <a:xfrm>
            <a:off x="233900" y="706525"/>
            <a:ext cx="8520600" cy="1535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700"/>
              <a:t>Class: defines an object’s attributes and behaviors – it’s the blueprint</a:t>
            </a:r>
            <a:endParaRPr sz="1700"/>
          </a:p>
          <a:p>
            <a:pPr indent="0" lvl="0" marL="0" rtl="0" algn="l">
              <a:lnSpc>
                <a:spcPct val="95000"/>
              </a:lnSpc>
              <a:spcBef>
                <a:spcPts val="0"/>
              </a:spcBef>
              <a:spcAft>
                <a:spcPts val="0"/>
              </a:spcAft>
              <a:buNone/>
            </a:pPr>
            <a:r>
              <a:t/>
            </a:r>
            <a:endParaRPr sz="1700"/>
          </a:p>
          <a:p>
            <a:pPr indent="0" lvl="0" marL="0" rtl="0" algn="l">
              <a:lnSpc>
                <a:spcPct val="95000"/>
              </a:lnSpc>
              <a:spcBef>
                <a:spcPts val="0"/>
              </a:spcBef>
              <a:spcAft>
                <a:spcPts val="0"/>
              </a:spcAft>
              <a:buNone/>
            </a:pPr>
            <a:r>
              <a:rPr lang="en" sz="1700"/>
              <a:t>A class is a blueprint for creating objects. It describes the information an object can hold and the actions it can perform. An object is one instance of that class.</a:t>
            </a:r>
            <a:endParaRPr sz="1700"/>
          </a:p>
          <a:p>
            <a:pPr indent="0" lvl="0" marL="0" rtl="0" algn="l">
              <a:lnSpc>
                <a:spcPct val="95000"/>
              </a:lnSpc>
              <a:spcBef>
                <a:spcPts val="0"/>
              </a:spcBef>
              <a:spcAft>
                <a:spcPts val="0"/>
              </a:spcAft>
              <a:buNone/>
            </a:pPr>
            <a:r>
              <a:rPr lang="en" sz="1700"/>
              <a:t>In the portfolio lab, Student is a class. Its fields describe the information for a student:</a:t>
            </a:r>
            <a:endParaRPr sz="1700"/>
          </a:p>
        </p:txBody>
      </p:sp>
      <p:pic>
        <p:nvPicPr>
          <p:cNvPr id="114" name="Google Shape;114;p22"/>
          <p:cNvPicPr preferRelativeResize="0"/>
          <p:nvPr/>
        </p:nvPicPr>
        <p:blipFill rotWithShape="1">
          <a:blip r:embed="rId3">
            <a:alphaModFix/>
          </a:blip>
          <a:srcRect b="0" l="0" r="0" t="0"/>
          <a:stretch/>
        </p:blipFill>
        <p:spPr>
          <a:xfrm>
            <a:off x="1507250" y="2372775"/>
            <a:ext cx="4771276" cy="2506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148300"/>
            <a:ext cx="588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 Phase</a:t>
            </a:r>
            <a:endParaRPr/>
          </a:p>
        </p:txBody>
      </p:sp>
      <p:sp>
        <p:nvSpPr>
          <p:cNvPr id="120" name="Google Shape;120;p23"/>
          <p:cNvSpPr txBox="1"/>
          <p:nvPr>
            <p:ph idx="1" type="body"/>
          </p:nvPr>
        </p:nvSpPr>
        <p:spPr>
          <a:xfrm>
            <a:off x="242450" y="776575"/>
            <a:ext cx="8827800" cy="39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Requirements - What the system must do</a:t>
            </a:r>
            <a:endParaRPr sz="1700"/>
          </a:p>
          <a:p>
            <a:pPr indent="0" lvl="0" marL="0" rtl="0" algn="l">
              <a:spcBef>
                <a:spcPts val="0"/>
              </a:spcBef>
              <a:spcAft>
                <a:spcPts val="0"/>
              </a:spcAft>
              <a:buNone/>
            </a:pPr>
            <a:r>
              <a:rPr lang="en" sz="1700"/>
              <a:t>Design - How the system will do it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Now it is time to specify the design, that is the structure of how the system will function. How?</a:t>
            </a:r>
            <a:endParaRPr sz="1700"/>
          </a:p>
          <a:p>
            <a:pPr indent="-336550" lvl="0" marL="457200" rtl="0" algn="l">
              <a:spcBef>
                <a:spcPts val="0"/>
              </a:spcBef>
              <a:spcAft>
                <a:spcPts val="0"/>
              </a:spcAft>
              <a:buSzPts val="1700"/>
              <a:buChar char="●"/>
            </a:pPr>
            <a:r>
              <a:rPr lang="en" sz="1700"/>
              <a:t>Class-Responsibility</a:t>
            </a:r>
            <a:endParaRPr sz="1700"/>
          </a:p>
          <a:p>
            <a:pPr indent="-336550" lvl="1" marL="914400" rtl="0" algn="l">
              <a:spcBef>
                <a:spcPts val="0"/>
              </a:spcBef>
              <a:spcAft>
                <a:spcPts val="0"/>
              </a:spcAft>
              <a:buSzPts val="1700"/>
              <a:buChar char="○"/>
            </a:pPr>
            <a:r>
              <a:rPr lang="en" sz="1700"/>
              <a:t>What are the things it knows?</a:t>
            </a:r>
            <a:endParaRPr sz="1700"/>
          </a:p>
          <a:p>
            <a:pPr indent="-336550" lvl="1" marL="914400" rtl="0" algn="l">
              <a:spcBef>
                <a:spcPts val="0"/>
              </a:spcBef>
              <a:spcAft>
                <a:spcPts val="0"/>
              </a:spcAft>
              <a:buSzPts val="1700"/>
              <a:buChar char="○"/>
            </a:pPr>
            <a:r>
              <a:rPr lang="en" sz="1700"/>
              <a:t>What are the things it is responsible for doing where it might have to collaborate with other classes</a:t>
            </a:r>
            <a:endParaRPr sz="1700"/>
          </a:p>
          <a:p>
            <a:pPr indent="-336550" lvl="0" marL="457200" rtl="0" algn="l">
              <a:spcBef>
                <a:spcPts val="0"/>
              </a:spcBef>
              <a:spcAft>
                <a:spcPts val="0"/>
              </a:spcAft>
              <a:buSzPts val="1700"/>
              <a:buChar char="●"/>
            </a:pPr>
            <a:r>
              <a:rPr lang="en" sz="1700"/>
              <a:t>UML (Unified Modeling Language)  is a visual language to model the design in OOP systems.</a:t>
            </a:r>
            <a:endParaRPr sz="1700"/>
          </a:p>
        </p:txBody>
      </p:sp>
      <p:pic>
        <p:nvPicPr>
          <p:cNvPr descr="Introduction to Secure Software Development Life Cycle - Infosec Resources" id="121" name="Google Shape;121;p23"/>
          <p:cNvPicPr preferRelativeResize="0"/>
          <p:nvPr/>
        </p:nvPicPr>
        <p:blipFill rotWithShape="1">
          <a:blip r:embed="rId3">
            <a:alphaModFix/>
          </a:blip>
          <a:srcRect b="52571" l="38911" r="11859" t="-25820"/>
          <a:stretch/>
        </p:blipFill>
        <p:spPr>
          <a:xfrm>
            <a:off x="7021000" y="-735537"/>
            <a:ext cx="1913150" cy="2340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133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Design With UML </a:t>
            </a:r>
            <a:endParaRPr/>
          </a:p>
        </p:txBody>
      </p:sp>
      <p:sp>
        <p:nvSpPr>
          <p:cNvPr id="127" name="Google Shape;127;p24"/>
          <p:cNvSpPr txBox="1"/>
          <p:nvPr>
            <p:ph idx="1" type="body"/>
          </p:nvPr>
        </p:nvSpPr>
        <p:spPr>
          <a:xfrm>
            <a:off x="233900" y="706525"/>
            <a:ext cx="8520600" cy="200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u="sng">
                <a:solidFill>
                  <a:schemeClr val="accent5"/>
                </a:solidFill>
                <a:hlinkClick r:id="rId3">
                  <a:extLst>
                    <a:ext uri="{A12FA001-AC4F-418D-AE19-62706E023703}">
                      <ahyp:hlinkClr val="tx"/>
                    </a:ext>
                  </a:extLst>
                </a:hlinkClick>
              </a:rPr>
              <a:t>UML Class Diagram Tutorial</a:t>
            </a:r>
            <a:r>
              <a:rPr lang="en" sz="1400"/>
              <a:t>  UML is a visual notation for modeling the structure and behavior of OOP.  </a:t>
            </a:r>
            <a:endParaRPr sz="1400"/>
          </a:p>
          <a:p>
            <a:pPr indent="0" lvl="0" marL="0" rtl="0" algn="l">
              <a:spcBef>
                <a:spcPts val="0"/>
              </a:spcBef>
              <a:spcAft>
                <a:spcPts val="0"/>
              </a:spcAft>
              <a:buNone/>
            </a:pPr>
            <a:r>
              <a:rPr lang="en" sz="1400"/>
              <a:t>The class diagram is the most common and what we will use to show the class relationships and important methods.</a:t>
            </a:r>
            <a:endParaRPr sz="1400"/>
          </a:p>
          <a:p>
            <a:pPr indent="0" lvl="0" marL="0" rtl="0" algn="l">
              <a:spcBef>
                <a:spcPts val="0"/>
              </a:spcBef>
              <a:spcAft>
                <a:spcPts val="0"/>
              </a:spcAft>
              <a:buNone/>
            </a:pPr>
            <a:r>
              <a:rPr lang="en" sz="1400"/>
              <a:t>UML Class Diagram represents</a:t>
            </a:r>
            <a:endParaRPr sz="1400"/>
          </a:p>
          <a:p>
            <a:pPr indent="-317500" lvl="0" marL="457200" rtl="0" algn="l">
              <a:spcBef>
                <a:spcPts val="0"/>
              </a:spcBef>
              <a:spcAft>
                <a:spcPts val="0"/>
              </a:spcAft>
              <a:buSzPts val="1400"/>
              <a:buChar char="●"/>
            </a:pPr>
            <a:r>
              <a:rPr lang="en" sz="1400"/>
              <a:t>Classes</a:t>
            </a:r>
            <a:endParaRPr sz="1400"/>
          </a:p>
          <a:p>
            <a:pPr indent="-317500" lvl="0" marL="457200" rtl="0" algn="l">
              <a:spcBef>
                <a:spcPts val="0"/>
              </a:spcBef>
              <a:spcAft>
                <a:spcPts val="0"/>
              </a:spcAft>
              <a:buSzPts val="1400"/>
              <a:buChar char="●"/>
            </a:pPr>
            <a:r>
              <a:rPr lang="en" sz="1400"/>
              <a:t>Fields(class attributes) and methods</a:t>
            </a:r>
            <a:endParaRPr sz="1400"/>
          </a:p>
          <a:p>
            <a:pPr indent="-317500" lvl="0" marL="457200" rtl="0" algn="l">
              <a:spcBef>
                <a:spcPts val="0"/>
              </a:spcBef>
              <a:spcAft>
                <a:spcPts val="0"/>
              </a:spcAft>
              <a:buSzPts val="1400"/>
              <a:buChar char="●"/>
            </a:pPr>
            <a:r>
              <a:rPr lang="en" sz="1400"/>
              <a:t>Connections between classes</a:t>
            </a:r>
            <a:endParaRPr sz="1400"/>
          </a:p>
        </p:txBody>
      </p:sp>
      <p:pic>
        <p:nvPicPr>
          <p:cNvPr id="128" name="Google Shape;128;p24"/>
          <p:cNvPicPr preferRelativeResize="0"/>
          <p:nvPr/>
        </p:nvPicPr>
        <p:blipFill>
          <a:blip r:embed="rId4">
            <a:alphaModFix/>
          </a:blip>
          <a:stretch>
            <a:fillRect/>
          </a:stretch>
        </p:blipFill>
        <p:spPr>
          <a:xfrm>
            <a:off x="157950" y="2822762"/>
            <a:ext cx="3756100" cy="2226750"/>
          </a:xfrm>
          <a:prstGeom prst="rect">
            <a:avLst/>
          </a:prstGeom>
          <a:noFill/>
          <a:ln>
            <a:noFill/>
          </a:ln>
        </p:spPr>
      </p:pic>
      <p:pic>
        <p:nvPicPr>
          <p:cNvPr id="129" name="Google Shape;129;p24"/>
          <p:cNvPicPr preferRelativeResize="0"/>
          <p:nvPr/>
        </p:nvPicPr>
        <p:blipFill>
          <a:blip r:embed="rId5">
            <a:alphaModFix/>
          </a:blip>
          <a:stretch>
            <a:fillRect/>
          </a:stretch>
        </p:blipFill>
        <p:spPr>
          <a:xfrm>
            <a:off x="4001650" y="2968646"/>
            <a:ext cx="5016625" cy="1934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105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 Classes</a:t>
            </a:r>
            <a:endParaRPr/>
          </a:p>
        </p:txBody>
      </p:sp>
      <p:sp>
        <p:nvSpPr>
          <p:cNvPr id="135" name="Google Shape;135;p25"/>
          <p:cNvSpPr txBox="1"/>
          <p:nvPr>
            <p:ph idx="1" type="body"/>
          </p:nvPr>
        </p:nvSpPr>
        <p:spPr>
          <a:xfrm>
            <a:off x="311700" y="678600"/>
            <a:ext cx="8703600" cy="4229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44444"/>
              <a:buFont typeface="Arial"/>
              <a:buNone/>
            </a:pPr>
            <a:r>
              <a:rPr lang="en"/>
              <a:t>Design classes around real-world things. One job per class  keeps design clean.</a:t>
            </a:r>
            <a:endParaRPr/>
          </a:p>
          <a:p>
            <a:pPr indent="0" lvl="0" marL="0" rtl="0" algn="l">
              <a:spcBef>
                <a:spcPts val="0"/>
              </a:spcBef>
              <a:spcAft>
                <a:spcPts val="0"/>
              </a:spcAft>
              <a:buClr>
                <a:schemeClr val="dk1"/>
              </a:buClr>
              <a:buSzPct val="44444"/>
              <a:buFont typeface="Arial"/>
              <a:buNone/>
            </a:pPr>
            <a:r>
              <a:t/>
            </a:r>
            <a:endParaRPr/>
          </a:p>
          <a:p>
            <a:pPr indent="0" lvl="0" marL="0" rtl="0" algn="l">
              <a:spcBef>
                <a:spcPts val="0"/>
              </a:spcBef>
              <a:spcAft>
                <a:spcPts val="0"/>
              </a:spcAft>
              <a:buClr>
                <a:schemeClr val="dk1"/>
              </a:buClr>
              <a:buSzPct val="44444"/>
              <a:buFont typeface="Arial"/>
              <a:buNone/>
            </a:pPr>
            <a:r>
              <a:rPr lang="en"/>
              <a:t>1. Think in Nouns</a:t>
            </a:r>
            <a:endParaRPr/>
          </a:p>
          <a:p>
            <a:pPr indent="-262255" lvl="0" marL="342900" rtl="0" algn="l">
              <a:spcBef>
                <a:spcPts val="0"/>
              </a:spcBef>
              <a:spcAft>
                <a:spcPts val="0"/>
              </a:spcAft>
              <a:buSzPct val="100000"/>
              <a:buChar char="●"/>
            </a:pPr>
            <a:r>
              <a:rPr lang="en"/>
              <a:t>A class usually represents a thing in your program (Book, Student, Library).</a:t>
            </a:r>
            <a:endParaRPr/>
          </a:p>
          <a:p>
            <a:pPr indent="-262255" lvl="0" marL="342900" rtl="0" algn="l">
              <a:spcBef>
                <a:spcPts val="0"/>
              </a:spcBef>
              <a:spcAft>
                <a:spcPts val="0"/>
              </a:spcAft>
              <a:buSzPct val="100000"/>
              <a:buChar char="●"/>
            </a:pPr>
            <a:r>
              <a:rPr lang="en"/>
              <a:t>The class holds the data (fields) and the actions (methods) related to that thing</a:t>
            </a:r>
            <a:endParaRPr/>
          </a:p>
          <a:p>
            <a:pPr indent="0" lvl="0" marL="0" rtl="0" algn="l">
              <a:spcBef>
                <a:spcPts val="0"/>
              </a:spcBef>
              <a:spcAft>
                <a:spcPts val="0"/>
              </a:spcAft>
              <a:buClr>
                <a:schemeClr val="dk1"/>
              </a:buClr>
              <a:buSzPct val="44444"/>
              <a:buFont typeface="Arial"/>
              <a:buNone/>
            </a:pPr>
            <a:r>
              <a:t/>
            </a:r>
            <a:endParaRPr/>
          </a:p>
          <a:p>
            <a:pPr indent="0" lvl="0" marL="0" rtl="0" algn="l">
              <a:spcBef>
                <a:spcPts val="0"/>
              </a:spcBef>
              <a:spcAft>
                <a:spcPts val="0"/>
              </a:spcAft>
              <a:buClr>
                <a:schemeClr val="dk1"/>
              </a:buClr>
              <a:buSzPct val="44444"/>
              <a:buFont typeface="Arial"/>
              <a:buNone/>
            </a:pPr>
            <a:r>
              <a:rPr lang="en"/>
              <a:t>2. SRP – Single Responsibility Principle</a:t>
            </a:r>
            <a:endParaRPr/>
          </a:p>
          <a:p>
            <a:pPr indent="-262255" lvl="0" marL="342900" rtl="0" algn="l">
              <a:spcBef>
                <a:spcPts val="0"/>
              </a:spcBef>
              <a:spcAft>
                <a:spcPts val="0"/>
              </a:spcAft>
              <a:buSzPct val="100000"/>
              <a:buChar char="●"/>
            </a:pPr>
            <a:r>
              <a:rPr lang="en"/>
              <a:t>“One class, one job.”</a:t>
            </a:r>
            <a:endParaRPr/>
          </a:p>
          <a:p>
            <a:pPr indent="-262255" lvl="0" marL="342900" rtl="0" algn="l">
              <a:spcBef>
                <a:spcPts val="0"/>
              </a:spcBef>
              <a:spcAft>
                <a:spcPts val="0"/>
              </a:spcAft>
              <a:buSzPct val="100000"/>
              <a:buChar char="●"/>
            </a:pPr>
            <a:r>
              <a:rPr lang="en"/>
              <a:t>Each class should only do one main thing.</a:t>
            </a:r>
            <a:endParaRPr/>
          </a:p>
          <a:p>
            <a:pPr indent="-240665" lvl="1" marL="685800" rtl="0" algn="l">
              <a:spcBef>
                <a:spcPts val="0"/>
              </a:spcBef>
              <a:spcAft>
                <a:spcPts val="0"/>
              </a:spcAft>
              <a:buSzPct val="100000"/>
              <a:buChar char="○"/>
            </a:pPr>
            <a:r>
              <a:rPr lang="en"/>
              <a:t>Book → stores book details.</a:t>
            </a:r>
            <a:endParaRPr/>
          </a:p>
          <a:p>
            <a:pPr indent="-240665" lvl="1" marL="685800" rtl="0" algn="l">
              <a:spcBef>
                <a:spcPts val="0"/>
              </a:spcBef>
              <a:spcAft>
                <a:spcPts val="0"/>
              </a:spcAft>
              <a:buSzPct val="100000"/>
              <a:buChar char="○"/>
            </a:pPr>
            <a:r>
              <a:rPr lang="en"/>
              <a:t>Library → manages a collection of books.</a:t>
            </a:r>
            <a:endParaRPr/>
          </a:p>
          <a:p>
            <a:pPr indent="-262255" lvl="0" marL="342900" rtl="0" algn="l">
              <a:spcBef>
                <a:spcPts val="0"/>
              </a:spcBef>
              <a:spcAft>
                <a:spcPts val="0"/>
              </a:spcAft>
              <a:buSzPct val="100000"/>
              <a:buChar char="●"/>
            </a:pPr>
            <a:r>
              <a:rPr lang="en"/>
              <a:t>If a class tries to do too much, it becomes confusing and hard to test.</a:t>
            </a:r>
            <a:br>
              <a:rPr lang="en"/>
            </a:br>
            <a:endParaRPr/>
          </a:p>
          <a:p>
            <a:pPr indent="0" lvl="0" marL="0" rtl="0" algn="l">
              <a:spcBef>
                <a:spcPts val="0"/>
              </a:spcBef>
              <a:spcAft>
                <a:spcPts val="0"/>
              </a:spcAft>
              <a:buClr>
                <a:schemeClr val="dk1"/>
              </a:buClr>
              <a:buSzPct val="44444"/>
              <a:buFont typeface="Arial"/>
              <a:buNone/>
            </a:pPr>
            <a:r>
              <a:rPr lang="en"/>
              <a:t>3. DRY – Don’t Repeat Yourself</a:t>
            </a:r>
            <a:endParaRPr/>
          </a:p>
          <a:p>
            <a:pPr indent="-262255" lvl="0" marL="342900" rtl="0" algn="l">
              <a:spcBef>
                <a:spcPts val="0"/>
              </a:spcBef>
              <a:spcAft>
                <a:spcPts val="0"/>
              </a:spcAft>
              <a:buSzPct val="100000"/>
              <a:buChar char="●"/>
            </a:pPr>
            <a:r>
              <a:rPr lang="en"/>
              <a:t>“Write it once, use it everywhere.”</a:t>
            </a:r>
            <a:endParaRPr/>
          </a:p>
          <a:p>
            <a:pPr indent="-262255" lvl="0" marL="342900" rtl="0" algn="l">
              <a:spcBef>
                <a:spcPts val="0"/>
              </a:spcBef>
              <a:spcAft>
                <a:spcPts val="0"/>
              </a:spcAft>
              <a:buSzPct val="100000"/>
              <a:buChar char="●"/>
            </a:pPr>
            <a:r>
              <a:rPr lang="en"/>
              <a:t>If you see the same code copied in two places, move it into a method or class.</a:t>
            </a:r>
            <a:endParaRPr/>
          </a:p>
          <a:p>
            <a:pPr indent="-240665" lvl="1" marL="685800" rtl="0" algn="l">
              <a:spcBef>
                <a:spcPts val="0"/>
              </a:spcBef>
              <a:spcAft>
                <a:spcPts val="0"/>
              </a:spcAft>
              <a:buSzPct val="100000"/>
              <a:buChar char="○"/>
            </a:pPr>
            <a:r>
              <a:rPr lang="en"/>
              <a:t>Example: Calculating late fee for an overdue library book</a:t>
            </a:r>
            <a:endParaRPr/>
          </a:p>
          <a:p>
            <a:pPr indent="-262255" lvl="0" marL="342900" rtl="0" algn="l">
              <a:spcBef>
                <a:spcPts val="0"/>
              </a:spcBef>
              <a:spcAft>
                <a:spcPts val="0"/>
              </a:spcAft>
              <a:buSzPct val="100000"/>
              <a:buChar char="●"/>
            </a:pPr>
            <a:r>
              <a:rPr lang="en"/>
              <a:t>This makes programs shorter, easier to update, and less error-prone.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Designing Solution Example</a:t>
            </a:r>
            <a:endParaRPr/>
          </a:p>
        </p:txBody>
      </p:sp>
      <p:sp>
        <p:nvSpPr>
          <p:cNvPr id="141" name="Google Shape;141;p26"/>
          <p:cNvSpPr txBox="1"/>
          <p:nvPr>
            <p:ph idx="1" type="body"/>
          </p:nvPr>
        </p:nvSpPr>
        <p:spPr>
          <a:xfrm>
            <a:off x="116900" y="2047475"/>
            <a:ext cx="3602400" cy="300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Tickets and showings seem to be classes. How are they related </a:t>
            </a:r>
            <a:endParaRPr sz="1500"/>
          </a:p>
          <a:p>
            <a:pPr indent="-323850" lvl="0" marL="457200" rtl="0" algn="l">
              <a:spcBef>
                <a:spcPts val="0"/>
              </a:spcBef>
              <a:spcAft>
                <a:spcPts val="0"/>
              </a:spcAft>
              <a:buSzPts val="1500"/>
              <a:buChar char="●"/>
            </a:pPr>
            <a:r>
              <a:rPr lang="en" sz="1500"/>
              <a:t>Showing has many tickets</a:t>
            </a:r>
            <a:endParaRPr sz="1500"/>
          </a:p>
          <a:p>
            <a:pPr indent="-323850" lvl="0" marL="457200" rtl="0" algn="l">
              <a:spcBef>
                <a:spcPts val="0"/>
              </a:spcBef>
              <a:spcAft>
                <a:spcPts val="0"/>
              </a:spcAft>
              <a:buSzPts val="1500"/>
              <a:buChar char="●"/>
            </a:pPr>
            <a:r>
              <a:rPr lang="en" sz="1500"/>
              <a:t>Ticket has one showing</a:t>
            </a:r>
            <a:endParaRPr sz="1500"/>
          </a:p>
          <a:p>
            <a:pPr indent="0" lvl="0" marL="0" rtl="0" algn="l">
              <a:spcBef>
                <a:spcPts val="0"/>
              </a:spcBef>
              <a:spcAft>
                <a:spcPts val="0"/>
              </a:spcAft>
              <a:buNone/>
            </a:pPr>
            <a:r>
              <a:rPr lang="en" sz="1500"/>
              <a:t>What class is responsible for the verb attend?  </a:t>
            </a:r>
            <a:endParaRPr sz="1500"/>
          </a:p>
          <a:p>
            <a:pPr indent="0" lvl="0" marL="0" rtl="0" algn="l">
              <a:spcBef>
                <a:spcPts val="0"/>
              </a:spcBef>
              <a:spcAft>
                <a:spcPts val="0"/>
              </a:spcAft>
              <a:buNone/>
            </a:pPr>
            <a:r>
              <a:rPr lang="en" sz="1500"/>
              <a:t>Who is responsible for adding tickets to an order?</a:t>
            </a:r>
            <a:endParaRPr sz="1500"/>
          </a:p>
          <a:p>
            <a:pPr indent="0" lvl="0" marL="0" rtl="0" algn="l">
              <a:spcBef>
                <a:spcPts val="0"/>
              </a:spcBef>
              <a:spcAft>
                <a:spcPts val="0"/>
              </a:spcAft>
              <a:buNone/>
            </a:pPr>
            <a:r>
              <a:t/>
            </a:r>
            <a:endParaRPr sz="1500"/>
          </a:p>
        </p:txBody>
      </p:sp>
      <p:pic>
        <p:nvPicPr>
          <p:cNvPr id="142" name="Google Shape;142;p26"/>
          <p:cNvPicPr preferRelativeResize="0"/>
          <p:nvPr/>
        </p:nvPicPr>
        <p:blipFill rotWithShape="1">
          <a:blip r:embed="rId3">
            <a:alphaModFix/>
          </a:blip>
          <a:srcRect b="9837" l="0" r="0" t="0"/>
          <a:stretch/>
        </p:blipFill>
        <p:spPr>
          <a:xfrm>
            <a:off x="3831025" y="1017725"/>
            <a:ext cx="5001276" cy="2571150"/>
          </a:xfrm>
          <a:prstGeom prst="rect">
            <a:avLst/>
          </a:prstGeom>
          <a:noFill/>
          <a:ln>
            <a:noFill/>
          </a:ln>
        </p:spPr>
      </p:pic>
      <p:pic>
        <p:nvPicPr>
          <p:cNvPr id="143" name="Google Shape;143;p26"/>
          <p:cNvPicPr preferRelativeResize="0"/>
          <p:nvPr/>
        </p:nvPicPr>
        <p:blipFill rotWithShape="1">
          <a:blip r:embed="rId4">
            <a:alphaModFix/>
          </a:blip>
          <a:srcRect b="69859" l="0" r="20635" t="0"/>
          <a:stretch/>
        </p:blipFill>
        <p:spPr>
          <a:xfrm>
            <a:off x="116900" y="1117700"/>
            <a:ext cx="3434100" cy="751751"/>
          </a:xfrm>
          <a:prstGeom prst="rect">
            <a:avLst/>
          </a:prstGeom>
          <a:noFill/>
          <a:ln>
            <a:noFill/>
          </a:ln>
        </p:spPr>
      </p:pic>
      <p:sp>
        <p:nvSpPr>
          <p:cNvPr id="144" name="Google Shape;144;p26"/>
          <p:cNvSpPr txBox="1"/>
          <p:nvPr/>
        </p:nvSpPr>
        <p:spPr>
          <a:xfrm>
            <a:off x="4025775" y="3847725"/>
            <a:ext cx="4926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This is not 100% perfect but this helps you identify what the main classes are likely to be and verbs as method calls.</a:t>
            </a:r>
            <a:endParaRPr>
              <a:solidFill>
                <a:schemeClr val="dk1"/>
              </a:solidFill>
            </a:endParaRPr>
          </a:p>
          <a:p>
            <a:pPr indent="0" lvl="0" marL="0" rtl="0" algn="l">
              <a:spcBef>
                <a:spcPts val="0"/>
              </a:spcBef>
              <a:spcAft>
                <a:spcPts val="0"/>
              </a:spcAft>
              <a:buNone/>
            </a:pPr>
            <a:r>
              <a:rPr lang="en">
                <a:solidFill>
                  <a:schemeClr val="dk1"/>
                </a:solidFill>
              </a:rPr>
              <a:t>This model will evolve as new features are added. Just do the best you can with the information you have.</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264600" y="247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Portfolio Project Overview</a:t>
            </a:r>
            <a:endParaRPr/>
          </a:p>
        </p:txBody>
      </p:sp>
      <p:sp>
        <p:nvSpPr>
          <p:cNvPr id="150" name="Google Shape;150;p27"/>
          <p:cNvSpPr txBox="1"/>
          <p:nvPr>
            <p:ph idx="1" type="body"/>
          </p:nvPr>
        </p:nvSpPr>
        <p:spPr>
          <a:xfrm>
            <a:off x="311700" y="923200"/>
            <a:ext cx="8520600" cy="3645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You will build a Django application that stores and eventually displays a student portfolio. A portfolio introduces the student and presents projects that show their skills, interests, and growth. We will build it in stages so you can understand how each part works before adding the next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Art of User Stories</a:t>
            </a:r>
            <a:r>
              <a:rPr lang="en"/>
              <a:t>  We will focus on implementing these user stories.</a:t>
            </a:r>
            <a:endParaRPr/>
          </a:p>
          <a:p>
            <a:pPr indent="0" lvl="0" marL="0" rtl="0" algn="l">
              <a:spcBef>
                <a:spcPts val="0"/>
              </a:spcBef>
              <a:spcAft>
                <a:spcPts val="0"/>
              </a:spcAft>
              <a:buNone/>
            </a:pPr>
            <a:r>
              <a:t/>
            </a:r>
            <a:endParaRPr/>
          </a:p>
          <a:p>
            <a:pPr indent="-334328" lvl="0" marL="457200" rtl="0" algn="l">
              <a:spcBef>
                <a:spcPts val="0"/>
              </a:spcBef>
              <a:spcAft>
                <a:spcPts val="0"/>
              </a:spcAft>
              <a:buSzPct val="100000"/>
              <a:buChar char="●"/>
            </a:pPr>
            <a:r>
              <a:rPr lang="en"/>
              <a:t>As a student, I want to store my name, email, and major so my portfolio identifies me.</a:t>
            </a:r>
            <a:endParaRPr/>
          </a:p>
          <a:p>
            <a:pPr indent="-334328" lvl="0" marL="457200" rtl="0" algn="l">
              <a:spcBef>
                <a:spcPts val="0"/>
              </a:spcBef>
              <a:spcAft>
                <a:spcPts val="0"/>
              </a:spcAft>
              <a:buSzPct val="100000"/>
              <a:buChar char="●"/>
            </a:pPr>
            <a:r>
              <a:rPr lang="en"/>
              <a:t>As a student, I want one portfolio connected to my information so my content belongs to me.</a:t>
            </a:r>
            <a:endParaRPr/>
          </a:p>
          <a:p>
            <a:pPr indent="-334328" lvl="0" marL="457200" rtl="0" algn="l">
              <a:spcBef>
                <a:spcPts val="0"/>
              </a:spcBef>
              <a:spcAft>
                <a:spcPts val="0"/>
              </a:spcAft>
              <a:buSzPct val="100000"/>
              <a:buChar char="●"/>
            </a:pPr>
            <a:r>
              <a:rPr lang="en"/>
              <a:t>As a student, I want to add multiple projects so I can show more than one example of my work.</a:t>
            </a:r>
            <a:endParaRPr/>
          </a:p>
          <a:p>
            <a:pPr indent="-334328" lvl="0" marL="457200" rtl="0" algn="l">
              <a:spcBef>
                <a:spcPts val="0"/>
              </a:spcBef>
              <a:spcAft>
                <a:spcPts val="0"/>
              </a:spcAft>
              <a:buSzPct val="100000"/>
              <a:buChar char="●"/>
            </a:pPr>
            <a:r>
              <a:rPr lang="en"/>
              <a:t>As a student, I want to review the information I saved so I can check that my portfolio and projects are connected correctly.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Design</a:t>
            </a:r>
            <a:endParaRPr/>
          </a:p>
        </p:txBody>
      </p:sp>
      <p:sp>
        <p:nvSpPr>
          <p:cNvPr id="156" name="Google Shape;156;p28"/>
          <p:cNvSpPr txBox="1"/>
          <p:nvPr>
            <p:ph idx="1" type="body"/>
          </p:nvPr>
        </p:nvSpPr>
        <p:spPr>
          <a:xfrm>
            <a:off x="311700" y="1152475"/>
            <a:ext cx="2493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This represents the UML design you will implement.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First you will implement the Student model</a:t>
            </a:r>
            <a:endParaRPr sz="1600"/>
          </a:p>
        </p:txBody>
      </p:sp>
      <p:pic>
        <p:nvPicPr>
          <p:cNvPr id="157" name="Google Shape;157;p28"/>
          <p:cNvPicPr preferRelativeResize="0"/>
          <p:nvPr/>
        </p:nvPicPr>
        <p:blipFill>
          <a:blip r:embed="rId3">
            <a:alphaModFix/>
          </a:blip>
          <a:stretch>
            <a:fillRect/>
          </a:stretch>
        </p:blipFill>
        <p:spPr>
          <a:xfrm>
            <a:off x="2958000" y="1170125"/>
            <a:ext cx="5767015" cy="382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User Story to Evidence</a:t>
            </a:r>
            <a:endParaRPr/>
          </a:p>
        </p:txBody>
      </p:sp>
      <p:sp>
        <p:nvSpPr>
          <p:cNvPr id="163" name="Google Shape;16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A user story states what someone needs and why:</a:t>
            </a:r>
            <a:endParaRPr sz="1700"/>
          </a:p>
          <a:p>
            <a:pPr indent="0" lvl="0" marL="0" rtl="0" algn="l">
              <a:spcBef>
                <a:spcPts val="0"/>
              </a:spcBef>
              <a:spcAft>
                <a:spcPts val="0"/>
              </a:spcAft>
              <a:buNone/>
            </a:pPr>
            <a:r>
              <a:rPr lang="en" sz="1700"/>
              <a:t>As a student, I want to store my name, email, and major so my portfolio identifies me.</a:t>
            </a:r>
            <a:endParaRPr sz="1700"/>
          </a:p>
          <a:p>
            <a:pPr indent="0" lvl="0" marL="0" rtl="0" algn="l">
              <a:spcBef>
                <a:spcPts val="0"/>
              </a:spcBef>
              <a:spcAft>
                <a:spcPts val="0"/>
              </a:spcAft>
              <a:buNone/>
            </a:pPr>
            <a:r>
              <a:rPr lang="en" sz="1700"/>
              <a:t>Acceptance criteria describe how we will know that part works. For this week:</a:t>
            </a:r>
            <a:endParaRPr sz="1700"/>
          </a:p>
          <a:p>
            <a:pPr indent="-336550" lvl="0" marL="457200" rtl="0" algn="l">
              <a:spcBef>
                <a:spcPts val="0"/>
              </a:spcBef>
              <a:spcAft>
                <a:spcPts val="0"/>
              </a:spcAft>
              <a:buSzPts val="1700"/>
              <a:buChar char="●"/>
            </a:pPr>
            <a:r>
              <a:rPr lang="en" sz="1700"/>
              <a:t>The Student model (class) defines name, email, and major.</a:t>
            </a:r>
            <a:endParaRPr sz="1700"/>
          </a:p>
          <a:p>
            <a:pPr indent="-336550" lvl="0" marL="457200" rtl="0" algn="l">
              <a:spcBef>
                <a:spcPts val="0"/>
              </a:spcBef>
              <a:spcAft>
                <a:spcPts val="0"/>
              </a:spcAft>
              <a:buSzPts val="1700"/>
              <a:buChar char="●"/>
            </a:pPr>
            <a:r>
              <a:rPr lang="en" sz="1700"/>
              <a:t>Django creates a migration for the model.</a:t>
            </a:r>
            <a:endParaRPr sz="1700"/>
          </a:p>
          <a:p>
            <a:pPr indent="-336550" lvl="0" marL="457200" rtl="0" algn="l">
              <a:spcBef>
                <a:spcPts val="0"/>
              </a:spcBef>
              <a:spcAft>
                <a:spcPts val="0"/>
              </a:spcAft>
              <a:buSzPts val="1700"/>
              <a:buChar char="●"/>
            </a:pPr>
            <a:r>
              <a:rPr lang="en" sz="1700"/>
              <a:t>Applying the migration creates the portfolio_app_student table.</a:t>
            </a:r>
            <a:endParaRPr sz="1700"/>
          </a:p>
          <a:p>
            <a:pPr indent="-336550" lvl="0" marL="457200" rtl="0" algn="l">
              <a:spcBef>
                <a:spcPts val="0"/>
              </a:spcBef>
              <a:spcAft>
                <a:spcPts val="0"/>
              </a:spcAft>
              <a:buSzPts val="1700"/>
              <a:buChar char="●"/>
            </a:pPr>
            <a:r>
              <a:rPr lang="en" sz="1700"/>
              <a:t>We can identify the model fields and Django’s generated id in the table.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Our process: Predict what should happen, build one piece, inspect the result, and explain what the evidence shows.</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180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will we use Agile</a:t>
            </a:r>
            <a:endParaRPr/>
          </a:p>
        </p:txBody>
      </p:sp>
      <p:sp>
        <p:nvSpPr>
          <p:cNvPr id="169" name="Google Shape;169;p30"/>
          <p:cNvSpPr txBox="1"/>
          <p:nvPr>
            <p:ph idx="1" type="body"/>
          </p:nvPr>
        </p:nvSpPr>
        <p:spPr>
          <a:xfrm>
            <a:off x="311700" y="863550"/>
            <a:ext cx="8520600" cy="411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Agile software development builds a useful application in small iterations. After each iteration, we check the result, gather feedback, and decide what to improve next.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For our portfolio project:</a:t>
            </a:r>
            <a:endParaRPr sz="1600"/>
          </a:p>
          <a:p>
            <a:pPr indent="-330200" lvl="0" marL="457200" rtl="0" algn="l">
              <a:spcBef>
                <a:spcPts val="0"/>
              </a:spcBef>
              <a:spcAft>
                <a:spcPts val="0"/>
              </a:spcAft>
              <a:buSzPts val="1600"/>
              <a:buAutoNum type="arabicPeriod"/>
            </a:pPr>
            <a:r>
              <a:rPr lang="en" sz="1600"/>
              <a:t>Create the app and Student model. Check the migration and database table.</a:t>
            </a:r>
            <a:endParaRPr sz="1600"/>
          </a:p>
          <a:p>
            <a:pPr indent="-330200" lvl="0" marL="457200" rtl="0" algn="l">
              <a:spcBef>
                <a:spcPts val="0"/>
              </a:spcBef>
              <a:spcAft>
                <a:spcPts val="0"/>
              </a:spcAft>
              <a:buSzPts val="1600"/>
              <a:buAutoNum type="arabicPeriod"/>
            </a:pPr>
            <a:r>
              <a:rPr lang="en" sz="1600"/>
              <a:t>Connect Student, Portfolio, and Project. Check the relationships and queries.</a:t>
            </a:r>
            <a:endParaRPr sz="1600"/>
          </a:p>
          <a:p>
            <a:pPr indent="-330200" lvl="0" marL="457200" rtl="0" algn="l">
              <a:spcBef>
                <a:spcPts val="0"/>
              </a:spcBef>
              <a:spcAft>
                <a:spcPts val="0"/>
              </a:spcAft>
              <a:buSzPts val="1600"/>
              <a:buAutoNum type="arabicPeriod"/>
            </a:pPr>
            <a:r>
              <a:rPr lang="en" sz="1600"/>
              <a:t>Later: Build pages that display the portfolio to visitors.</a:t>
            </a:r>
            <a:endParaRPr sz="1600"/>
          </a:p>
          <a:p>
            <a:pPr indent="0" lvl="0" marL="0" rtl="0" algn="l">
              <a:spcBef>
                <a:spcPts val="0"/>
              </a:spcBef>
              <a:spcAft>
                <a:spcPts val="0"/>
              </a:spcAft>
              <a:buNone/>
            </a:pPr>
            <a:r>
              <a:rPr lang="en" sz="1600"/>
              <a:t>Each step should leave us with something we can run and inspect. We will use Git commits to record progress and a short reflection to decide what to change next.</a:t>
            </a:r>
            <a:endParaRPr sz="1600"/>
          </a:p>
        </p:txBody>
      </p:sp>
      <p:pic>
        <p:nvPicPr>
          <p:cNvPr id="170" name="Google Shape;170;p30"/>
          <p:cNvPicPr preferRelativeResize="0"/>
          <p:nvPr/>
        </p:nvPicPr>
        <p:blipFill rotWithShape="1">
          <a:blip r:embed="rId3">
            <a:alphaModFix/>
          </a:blip>
          <a:srcRect b="0" l="0" r="0" t="0"/>
          <a:stretch/>
        </p:blipFill>
        <p:spPr>
          <a:xfrm>
            <a:off x="730550" y="3866600"/>
            <a:ext cx="1428800" cy="1046000"/>
          </a:xfrm>
          <a:prstGeom prst="rect">
            <a:avLst/>
          </a:prstGeom>
          <a:noFill/>
          <a:ln>
            <a:noFill/>
          </a:ln>
        </p:spPr>
      </p:pic>
      <p:pic>
        <p:nvPicPr>
          <p:cNvPr id="171" name="Google Shape;171;p30"/>
          <p:cNvPicPr preferRelativeResize="0"/>
          <p:nvPr/>
        </p:nvPicPr>
        <p:blipFill rotWithShape="1">
          <a:blip r:embed="rId3">
            <a:alphaModFix/>
          </a:blip>
          <a:srcRect b="0" l="0" r="0" t="0"/>
          <a:stretch/>
        </p:blipFill>
        <p:spPr>
          <a:xfrm>
            <a:off x="2159350" y="3866600"/>
            <a:ext cx="1428800" cy="1046000"/>
          </a:xfrm>
          <a:prstGeom prst="rect">
            <a:avLst/>
          </a:prstGeom>
          <a:noFill/>
          <a:ln>
            <a:noFill/>
          </a:ln>
        </p:spPr>
      </p:pic>
      <p:pic>
        <p:nvPicPr>
          <p:cNvPr id="172" name="Google Shape;172;p30"/>
          <p:cNvPicPr preferRelativeResize="0"/>
          <p:nvPr/>
        </p:nvPicPr>
        <p:blipFill rotWithShape="1">
          <a:blip r:embed="rId3">
            <a:alphaModFix/>
          </a:blip>
          <a:srcRect b="0" l="0" r="0" t="0"/>
          <a:stretch/>
        </p:blipFill>
        <p:spPr>
          <a:xfrm>
            <a:off x="3588150" y="3866600"/>
            <a:ext cx="1428800" cy="1046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184700" y="180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 of Data</a:t>
            </a:r>
            <a:endParaRPr/>
          </a:p>
        </p:txBody>
      </p:sp>
      <p:sp>
        <p:nvSpPr>
          <p:cNvPr id="178" name="Google Shape;178;p31"/>
          <p:cNvSpPr txBox="1"/>
          <p:nvPr>
            <p:ph idx="1" type="body"/>
          </p:nvPr>
        </p:nvSpPr>
        <p:spPr>
          <a:xfrm>
            <a:off x="184700" y="704800"/>
            <a:ext cx="8520600" cy="41742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 sz="1600"/>
              <a:t>The data we will model</a:t>
            </a:r>
            <a:endParaRPr sz="1600"/>
          </a:p>
          <a:p>
            <a:pPr indent="-330200" lvl="0" marL="457200" rtl="0" algn="l">
              <a:lnSpc>
                <a:spcPct val="105000"/>
              </a:lnSpc>
              <a:spcBef>
                <a:spcPts val="0"/>
              </a:spcBef>
              <a:spcAft>
                <a:spcPts val="0"/>
              </a:spcAft>
              <a:buSzPts val="1600"/>
              <a:buChar char="●"/>
            </a:pPr>
            <a:r>
              <a:rPr lang="en" sz="1600"/>
              <a:t>Student stores information about the portfolio owner.</a:t>
            </a:r>
            <a:endParaRPr sz="1600"/>
          </a:p>
          <a:p>
            <a:pPr indent="-330200" lvl="0" marL="457200" rtl="0" algn="l">
              <a:lnSpc>
                <a:spcPct val="105000"/>
              </a:lnSpc>
              <a:spcBef>
                <a:spcPts val="0"/>
              </a:spcBef>
              <a:spcAft>
                <a:spcPts val="0"/>
              </a:spcAft>
              <a:buSzPts val="1600"/>
              <a:buChar char="●"/>
            </a:pPr>
            <a:r>
              <a:rPr lang="en" sz="1600"/>
              <a:t>Portfolio stores the introduction and other portfolio information. Each student has one portfolio.</a:t>
            </a:r>
            <a:endParaRPr sz="1600"/>
          </a:p>
          <a:p>
            <a:pPr indent="-330200" lvl="0" marL="457200" rtl="0" algn="l">
              <a:lnSpc>
                <a:spcPct val="105000"/>
              </a:lnSpc>
              <a:spcBef>
                <a:spcPts val="0"/>
              </a:spcBef>
              <a:spcAft>
                <a:spcPts val="0"/>
              </a:spcAft>
              <a:buSzPts val="1600"/>
              <a:buChar char="●"/>
            </a:pPr>
            <a:r>
              <a:rPr lang="en" sz="1600"/>
              <a:t>Project stores a piece of work the student wants to present. One portfolio can contain multiple projects.</a:t>
            </a:r>
            <a:endParaRPr sz="1600"/>
          </a:p>
          <a:p>
            <a:pPr indent="0" lvl="0" marL="0" rtl="0" algn="l">
              <a:lnSpc>
                <a:spcPct val="105000"/>
              </a:lnSpc>
              <a:spcBef>
                <a:spcPts val="0"/>
              </a:spcBef>
              <a:spcAft>
                <a:spcPts val="0"/>
              </a:spcAft>
              <a:buNone/>
            </a:pPr>
            <a:r>
              <a:t/>
            </a:r>
            <a:endParaRPr sz="1600"/>
          </a:p>
          <a:p>
            <a:pPr indent="0" lvl="0" marL="0" rtl="0" algn="l">
              <a:lnSpc>
                <a:spcPct val="105000"/>
              </a:lnSpc>
              <a:spcBef>
                <a:spcPts val="0"/>
              </a:spcBef>
              <a:spcAft>
                <a:spcPts val="0"/>
              </a:spcAft>
              <a:buNone/>
            </a:pPr>
            <a:r>
              <a:rPr lang="en" sz="1600"/>
              <a:t>As you build, keep asking: </a:t>
            </a:r>
            <a:endParaRPr sz="1600"/>
          </a:p>
          <a:p>
            <a:pPr indent="-330200" lvl="0" marL="457200" rtl="0" algn="l">
              <a:lnSpc>
                <a:spcPct val="105000"/>
              </a:lnSpc>
              <a:spcBef>
                <a:spcPts val="0"/>
              </a:spcBef>
              <a:spcAft>
                <a:spcPts val="0"/>
              </a:spcAft>
              <a:buSzPts val="1600"/>
              <a:buChar char="●"/>
            </a:pPr>
            <a:r>
              <a:rPr lang="en" sz="1600"/>
              <a:t>What did I define in Python? </a:t>
            </a:r>
            <a:endParaRPr sz="1600"/>
          </a:p>
          <a:p>
            <a:pPr indent="-330200" lvl="0" marL="457200" rtl="0" algn="l">
              <a:lnSpc>
                <a:spcPct val="105000"/>
              </a:lnSpc>
              <a:spcBef>
                <a:spcPts val="0"/>
              </a:spcBef>
              <a:spcAft>
                <a:spcPts val="0"/>
              </a:spcAft>
              <a:buSzPts val="1600"/>
              <a:buChar char="●"/>
            </a:pPr>
            <a:r>
              <a:rPr lang="en" sz="1600"/>
              <a:t>What did Django create? </a:t>
            </a:r>
            <a:endParaRPr sz="1600"/>
          </a:p>
          <a:p>
            <a:pPr indent="-330200" lvl="0" marL="457200" rtl="0" algn="l">
              <a:lnSpc>
                <a:spcPct val="105000"/>
              </a:lnSpc>
              <a:spcBef>
                <a:spcPts val="0"/>
              </a:spcBef>
              <a:spcAft>
                <a:spcPts val="0"/>
              </a:spcAft>
              <a:buSzPts val="1600"/>
              <a:buChar char="●"/>
            </a:pPr>
            <a:r>
              <a:rPr lang="en" sz="1600"/>
              <a:t>Where is the information stored? </a:t>
            </a:r>
            <a:endParaRPr sz="1600"/>
          </a:p>
          <a:p>
            <a:pPr indent="-330200" lvl="0" marL="457200" rtl="0" algn="l">
              <a:lnSpc>
                <a:spcPct val="105000"/>
              </a:lnSpc>
              <a:spcBef>
                <a:spcPts val="0"/>
              </a:spcBef>
              <a:spcAft>
                <a:spcPts val="0"/>
              </a:spcAft>
              <a:buSzPts val="1600"/>
              <a:buChar char="●"/>
            </a:pPr>
            <a:r>
              <a:rPr lang="en" sz="1600"/>
              <a:t>How can I verify that the result matches my design? </a:t>
            </a:r>
            <a:endParaRPr sz="1600"/>
          </a:p>
          <a:p>
            <a:pPr indent="-330200" lvl="0" marL="457200" rtl="0" algn="l">
              <a:lnSpc>
                <a:spcPct val="105000"/>
              </a:lnSpc>
              <a:spcBef>
                <a:spcPts val="0"/>
              </a:spcBef>
              <a:spcAft>
                <a:spcPts val="0"/>
              </a:spcAft>
              <a:buSzPts val="1600"/>
              <a:buChar char="●"/>
            </a:pPr>
            <a:r>
              <a:rPr lang="en" sz="1600"/>
              <a:t>Those questions will guide your work from the first model through the completed portfolio.</a:t>
            </a:r>
            <a:endParaRPr sz="1600"/>
          </a:p>
          <a:p>
            <a:pPr indent="0" lvl="0" marL="0" rtl="0" algn="l">
              <a:lnSpc>
                <a:spcPct val="105000"/>
              </a:lnSpc>
              <a:spcBef>
                <a:spcPts val="0"/>
              </a:spcBef>
              <a:spcAft>
                <a:spcPts val="0"/>
              </a:spcAft>
              <a:buNone/>
            </a:pPr>
            <a:r>
              <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Student Class Model</a:t>
            </a:r>
            <a:endParaRPr/>
          </a:p>
        </p:txBody>
      </p:sp>
      <p:sp>
        <p:nvSpPr>
          <p:cNvPr id="184" name="Google Shape;184;p32"/>
          <p:cNvSpPr txBox="1"/>
          <p:nvPr>
            <p:ph idx="1" type="body"/>
          </p:nvPr>
        </p:nvSpPr>
        <p:spPr>
          <a:xfrm>
            <a:off x="311700" y="1152475"/>
            <a:ext cx="8520600" cy="141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A class is a blueprint for creating objects. It describes the information an object can hold and the actions it can perform. An object is one instance of that class.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In the portfolio, Student is a class. Its fields describe the information for a student:</a:t>
            </a:r>
            <a:endParaRPr sz="1600"/>
          </a:p>
        </p:txBody>
      </p:sp>
      <p:graphicFrame>
        <p:nvGraphicFramePr>
          <p:cNvPr id="185" name="Google Shape;185;p32"/>
          <p:cNvGraphicFramePr/>
          <p:nvPr/>
        </p:nvGraphicFramePr>
        <p:xfrm>
          <a:off x="349600" y="2714100"/>
          <a:ext cx="3000000" cy="3000000"/>
        </p:xfrm>
        <a:graphic>
          <a:graphicData uri="http://schemas.openxmlformats.org/drawingml/2006/table">
            <a:tbl>
              <a:tblPr>
                <a:noFill/>
                <a:tableStyleId>{B04B8266-6B84-4D76-BBC4-F41AC56C74CB}</a:tableStyleId>
              </a:tblPr>
              <a:tblGrid>
                <a:gridCol w="3619500"/>
                <a:gridCol w="3619500"/>
              </a:tblGrid>
              <a:tr h="381000">
                <a:tc>
                  <a:txBody>
                    <a:bodyPr/>
                    <a:lstStyle/>
                    <a:p>
                      <a:pPr indent="0" lvl="0" marL="0" rtl="0" algn="l">
                        <a:lnSpc>
                          <a:spcPct val="115000"/>
                        </a:lnSpc>
                        <a:spcBef>
                          <a:spcPts val="0"/>
                        </a:spcBef>
                        <a:spcAft>
                          <a:spcPts val="0"/>
                        </a:spcAft>
                        <a:buNone/>
                      </a:pPr>
                      <a:r>
                        <a:rPr b="1" lang="en" sz="1200">
                          <a:solidFill>
                            <a:schemeClr val="dk1"/>
                          </a:solidFill>
                          <a:latin typeface="Lexend"/>
                          <a:ea typeface="Lexend"/>
                          <a:cs typeface="Lexend"/>
                          <a:sym typeface="Lexend"/>
                        </a:rPr>
                        <a:t>Term</a:t>
                      </a:r>
                      <a:endParaRPr b="1" sz="1200">
                        <a:solidFill>
                          <a:schemeClr val="dk1"/>
                        </a:solidFill>
                        <a:latin typeface="Lexend"/>
                        <a:ea typeface="Lexend"/>
                        <a:cs typeface="Lexend"/>
                        <a:sym typeface="Lexend"/>
                      </a:endParaRPr>
                    </a:p>
                  </a:txBody>
                  <a:tcPr marT="19050" marB="19050" marR="28575" marL="28575" anchor="b"/>
                </a:tc>
                <a:tc>
                  <a:txBody>
                    <a:bodyPr/>
                    <a:lstStyle/>
                    <a:p>
                      <a:pPr indent="0" lvl="0" marL="0" marR="0" rtl="0" algn="ctr">
                        <a:lnSpc>
                          <a:spcPct val="115000"/>
                        </a:lnSpc>
                        <a:spcBef>
                          <a:spcPts val="0"/>
                        </a:spcBef>
                        <a:spcAft>
                          <a:spcPts val="0"/>
                        </a:spcAft>
                        <a:buNone/>
                      </a:pPr>
                      <a:r>
                        <a:rPr b="1" lang="en" sz="1200">
                          <a:solidFill>
                            <a:schemeClr val="dk1"/>
                          </a:solidFill>
                          <a:latin typeface="Lexend"/>
                          <a:ea typeface="Lexend"/>
                          <a:cs typeface="Lexend"/>
                          <a:sym typeface="Lexend"/>
                        </a:rPr>
                        <a:t>Portfolio example</a:t>
                      </a:r>
                      <a:endParaRPr b="1" sz="1200">
                        <a:solidFill>
                          <a:schemeClr val="dk1"/>
                        </a:solidFill>
                        <a:latin typeface="Lexend"/>
                        <a:ea typeface="Lexend"/>
                        <a:cs typeface="Lexend"/>
                        <a:sym typeface="Lexend"/>
                      </a:endParaRPr>
                    </a:p>
                  </a:txBody>
                  <a:tcPr marT="19050" marB="19050" marR="91425" marL="91425" anchor="b">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solidFill>
                            <a:schemeClr val="dk1"/>
                          </a:solidFill>
                          <a:latin typeface="Lexend"/>
                          <a:ea typeface="Lexend"/>
                          <a:cs typeface="Lexend"/>
                          <a:sym typeface="Lexend"/>
                        </a:rPr>
                        <a:t>Class</a:t>
                      </a:r>
                      <a:endParaRPr sz="1200">
                        <a:solidFill>
                          <a:schemeClr val="dk1"/>
                        </a:solidFill>
                        <a:latin typeface="Lexend"/>
                        <a:ea typeface="Lexend"/>
                        <a:cs typeface="Lexend"/>
                        <a:sym typeface="Lexend"/>
                      </a:endParaRPr>
                    </a:p>
                  </a:txBody>
                  <a:tcPr marT="19050" marB="19050" marR="28575" marL="28575" anchor="b"/>
                </a:tc>
                <a:tc>
                  <a:txBody>
                    <a:bodyPr/>
                    <a:lstStyle/>
                    <a:p>
                      <a:pPr indent="0" lvl="0" marL="0" rtl="0" algn="l">
                        <a:lnSpc>
                          <a:spcPct val="115000"/>
                        </a:lnSpc>
                        <a:spcBef>
                          <a:spcPts val="0"/>
                        </a:spcBef>
                        <a:spcAft>
                          <a:spcPts val="0"/>
                        </a:spcAft>
                        <a:buNone/>
                      </a:pPr>
                      <a:r>
                        <a:rPr lang="en" sz="1200">
                          <a:solidFill>
                            <a:schemeClr val="dk1"/>
                          </a:solidFill>
                          <a:latin typeface="Lexend"/>
                          <a:ea typeface="Lexend"/>
                          <a:cs typeface="Lexend"/>
                          <a:sym typeface="Lexend"/>
                        </a:rPr>
                        <a:t>Student, the definition of what student information to store</a:t>
                      </a:r>
                      <a:endParaRPr sz="1200">
                        <a:solidFill>
                          <a:schemeClr val="dk1"/>
                        </a:solidFill>
                        <a:latin typeface="Lexend"/>
                        <a:ea typeface="Lexend"/>
                        <a:cs typeface="Lexend"/>
                        <a:sym typeface="Lexend"/>
                      </a:endParaRPr>
                    </a:p>
                  </a:txBody>
                  <a:tcPr marT="19050" marB="19050" marR="91425" marL="91425" anchor="b">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solidFill>
                            <a:schemeClr val="dk1"/>
                          </a:solidFill>
                          <a:latin typeface="Lexend"/>
                          <a:ea typeface="Lexend"/>
                          <a:cs typeface="Lexend"/>
                          <a:sym typeface="Lexend"/>
                        </a:rPr>
                        <a:t>Object (instance)</a:t>
                      </a:r>
                      <a:endParaRPr sz="1200">
                        <a:solidFill>
                          <a:schemeClr val="dk1"/>
                        </a:solidFill>
                        <a:latin typeface="Lexend"/>
                        <a:ea typeface="Lexend"/>
                        <a:cs typeface="Lexend"/>
                        <a:sym typeface="Lexend"/>
                      </a:endParaRPr>
                    </a:p>
                  </a:txBody>
                  <a:tcPr marT="19050" marB="19050" marR="28575" marL="28575" anchor="b"/>
                </a:tc>
                <a:tc>
                  <a:txBody>
                    <a:bodyPr/>
                    <a:lstStyle/>
                    <a:p>
                      <a:pPr indent="0" lvl="0" marL="0" rtl="0" algn="l">
                        <a:lnSpc>
                          <a:spcPct val="115000"/>
                        </a:lnSpc>
                        <a:spcBef>
                          <a:spcPts val="0"/>
                        </a:spcBef>
                        <a:spcAft>
                          <a:spcPts val="0"/>
                        </a:spcAft>
                        <a:buNone/>
                      </a:pPr>
                      <a:r>
                        <a:rPr lang="en" sz="1200">
                          <a:solidFill>
                            <a:schemeClr val="dk1"/>
                          </a:solidFill>
                          <a:latin typeface="Lexend"/>
                          <a:ea typeface="Lexend"/>
                          <a:cs typeface="Lexend"/>
                          <a:sym typeface="Lexend"/>
                        </a:rPr>
                        <a:t>One particular student added in admin</a:t>
                      </a:r>
                      <a:endParaRPr sz="1200">
                        <a:solidFill>
                          <a:schemeClr val="dk1"/>
                        </a:solidFill>
                        <a:latin typeface="Lexend"/>
                        <a:ea typeface="Lexend"/>
                        <a:cs typeface="Lexend"/>
                        <a:sym typeface="Lexend"/>
                      </a:endParaRPr>
                    </a:p>
                  </a:txBody>
                  <a:tcPr marT="19050" marB="19050" marR="91425" marL="91425" anchor="b">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solidFill>
                            <a:schemeClr val="dk1"/>
                          </a:solidFill>
                          <a:latin typeface="Lexend"/>
                          <a:ea typeface="Lexend"/>
                          <a:cs typeface="Lexend"/>
                          <a:sym typeface="Lexend"/>
                        </a:rPr>
                        <a:t>Attribute/field</a:t>
                      </a:r>
                      <a:endParaRPr sz="1200">
                        <a:solidFill>
                          <a:schemeClr val="dk1"/>
                        </a:solidFill>
                        <a:latin typeface="Lexend"/>
                        <a:ea typeface="Lexend"/>
                        <a:cs typeface="Lexend"/>
                        <a:sym typeface="Lexend"/>
                      </a:endParaRPr>
                    </a:p>
                  </a:txBody>
                  <a:tcPr marT="19050" marB="19050" marR="28575" marL="28575" anchor="b"/>
                </a:tc>
                <a:tc>
                  <a:txBody>
                    <a:bodyPr/>
                    <a:lstStyle/>
                    <a:p>
                      <a:pPr indent="0" lvl="0" marL="0" rtl="0" algn="l">
                        <a:lnSpc>
                          <a:spcPct val="115000"/>
                        </a:lnSpc>
                        <a:spcBef>
                          <a:spcPts val="0"/>
                        </a:spcBef>
                        <a:spcAft>
                          <a:spcPts val="0"/>
                        </a:spcAft>
                        <a:buNone/>
                      </a:pPr>
                      <a:r>
                        <a:rPr lang="en" sz="1200">
                          <a:solidFill>
                            <a:schemeClr val="dk1"/>
                          </a:solidFill>
                          <a:latin typeface="Lexend"/>
                          <a:ea typeface="Lexend"/>
                          <a:cs typeface="Lexend"/>
                          <a:sym typeface="Lexend"/>
                        </a:rPr>
                        <a:t>That student’s name or email</a:t>
                      </a:r>
                      <a:endParaRPr sz="1200">
                        <a:solidFill>
                          <a:schemeClr val="dk1"/>
                        </a:solidFill>
                        <a:latin typeface="Lexend"/>
                        <a:ea typeface="Lexend"/>
                        <a:cs typeface="Lexend"/>
                        <a:sym typeface="Lexend"/>
                      </a:endParaRPr>
                    </a:p>
                  </a:txBody>
                  <a:tcPr marT="19050" marB="19050" marR="91425" marL="91425" anchor="b">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solidFill>
                            <a:schemeClr val="dk1"/>
                          </a:solidFill>
                          <a:latin typeface="Lexend"/>
                          <a:ea typeface="Lexend"/>
                          <a:cs typeface="Lexend"/>
                          <a:sym typeface="Lexend"/>
                        </a:rPr>
                        <a:t>Method</a:t>
                      </a:r>
                      <a:endParaRPr sz="1200">
                        <a:solidFill>
                          <a:schemeClr val="dk1"/>
                        </a:solidFill>
                        <a:latin typeface="Lexend"/>
                        <a:ea typeface="Lexend"/>
                        <a:cs typeface="Lexend"/>
                        <a:sym typeface="Lexend"/>
                      </a:endParaRPr>
                    </a:p>
                  </a:txBody>
                  <a:tcPr marT="19050" marB="19050" marR="28575" marL="28575" anchor="b"/>
                </a:tc>
                <a:tc>
                  <a:txBody>
                    <a:bodyPr/>
                    <a:lstStyle/>
                    <a:p>
                      <a:pPr indent="0" lvl="0" marL="0" rtl="0" algn="l">
                        <a:lnSpc>
                          <a:spcPct val="115000"/>
                        </a:lnSpc>
                        <a:spcBef>
                          <a:spcPts val="0"/>
                        </a:spcBef>
                        <a:spcAft>
                          <a:spcPts val="0"/>
                        </a:spcAft>
                        <a:buNone/>
                      </a:pPr>
                      <a:r>
                        <a:rPr lang="en" sz="1200">
                          <a:solidFill>
                            <a:schemeClr val="dk1"/>
                          </a:solidFill>
                          <a:latin typeface="Lexend"/>
                          <a:ea typeface="Lexend"/>
                          <a:cs typeface="Lexend"/>
                          <a:sym typeface="Lexend"/>
                        </a:rPr>
                        <a:t>__str__(), which returns a readable name for the object</a:t>
                      </a:r>
                      <a:endParaRPr sz="1200">
                        <a:solidFill>
                          <a:schemeClr val="dk1"/>
                        </a:solidFill>
                        <a:latin typeface="Lexend"/>
                        <a:ea typeface="Lexend"/>
                        <a:cs typeface="Lexend"/>
                        <a:sym typeface="Lexend"/>
                      </a:endParaRPr>
                    </a:p>
                  </a:txBody>
                  <a:tcPr marT="19050" marB="19050" marR="91425" marL="91425" anchor="b">
                    <a:lnR cap="flat" cmpd="sng" w="9525">
                      <a:solidFill>
                        <a:srgbClr val="000000"/>
                      </a:solidFill>
                      <a:prstDash val="solid"/>
                      <a:round/>
                      <a:headEnd len="sm" w="sm" type="none"/>
                      <a:tailEnd len="sm" w="sm" type="none"/>
                    </a:lnR>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ph type="title"/>
          </p:nvPr>
        </p:nvSpPr>
        <p:spPr>
          <a:xfrm>
            <a:off x="189725" y="1235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Django Model View Template</a:t>
            </a:r>
            <a:endParaRPr/>
          </a:p>
        </p:txBody>
      </p:sp>
      <p:sp>
        <p:nvSpPr>
          <p:cNvPr id="191" name="Google Shape;191;p33"/>
          <p:cNvSpPr txBox="1"/>
          <p:nvPr>
            <p:ph idx="1" type="body"/>
          </p:nvPr>
        </p:nvSpPr>
        <p:spPr>
          <a:xfrm>
            <a:off x="120600" y="725500"/>
            <a:ext cx="5274600" cy="175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solidFill>
                  <a:srgbClr val="B6D7A8"/>
                </a:solidFill>
                <a:highlight>
                  <a:srgbClr val="222222"/>
                </a:highlight>
                <a:latin typeface="Arial"/>
                <a:ea typeface="Arial"/>
                <a:cs typeface="Arial"/>
                <a:sym typeface="Arial"/>
              </a:rPr>
              <a:t>Model</a:t>
            </a:r>
            <a:r>
              <a:rPr lang="en">
                <a:solidFill>
                  <a:srgbClr val="B6D7A8"/>
                </a:solidFill>
                <a:highlight>
                  <a:srgbClr val="222222"/>
                </a:highlight>
                <a:latin typeface="Arial"/>
                <a:ea typeface="Arial"/>
                <a:cs typeface="Arial"/>
                <a:sym typeface="Arial"/>
              </a:rPr>
              <a:t> - Data access layer is the focus of this module.</a:t>
            </a:r>
            <a:endParaRPr>
              <a:solidFill>
                <a:srgbClr val="B6D7A8"/>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rPr b="1" lang="en" sz="1500">
                <a:solidFill>
                  <a:srgbClr val="EEEEEE"/>
                </a:solidFill>
                <a:highlight>
                  <a:srgbClr val="222222"/>
                </a:highlight>
                <a:latin typeface="Arial"/>
                <a:ea typeface="Arial"/>
                <a:cs typeface="Arial"/>
                <a:sym typeface="Arial"/>
              </a:rPr>
              <a:t>We will focus on the model and database.</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t/>
            </a:r>
            <a:endParaRPr sz="1500"/>
          </a:p>
        </p:txBody>
      </p:sp>
      <p:grpSp>
        <p:nvGrpSpPr>
          <p:cNvPr id="192" name="Google Shape;192;p33"/>
          <p:cNvGrpSpPr/>
          <p:nvPr/>
        </p:nvGrpSpPr>
        <p:grpSpPr>
          <a:xfrm>
            <a:off x="5395210" y="185762"/>
            <a:ext cx="3596354" cy="3040762"/>
            <a:chOff x="3714725" y="576238"/>
            <a:chExt cx="5331881" cy="3991025"/>
          </a:xfrm>
        </p:grpSpPr>
        <p:pic>
          <p:nvPicPr>
            <p:cNvPr id="193" name="Google Shape;193;p33"/>
            <p:cNvPicPr preferRelativeResize="0"/>
            <p:nvPr/>
          </p:nvPicPr>
          <p:blipFill rotWithShape="1">
            <a:blip r:embed="rId3">
              <a:alphaModFix/>
            </a:blip>
            <a:srcRect b="0" l="0" r="0" t="0"/>
            <a:stretch/>
          </p:blipFill>
          <p:spPr>
            <a:xfrm>
              <a:off x="3714725" y="576238"/>
              <a:ext cx="5331881" cy="3991025"/>
            </a:xfrm>
            <a:prstGeom prst="rect">
              <a:avLst/>
            </a:prstGeom>
            <a:noFill/>
            <a:ln>
              <a:noFill/>
            </a:ln>
          </p:spPr>
        </p:pic>
        <p:sp>
          <p:nvSpPr>
            <p:cNvPr id="194" name="Google Shape;194;p33"/>
            <p:cNvSpPr txBox="1"/>
            <p:nvPr/>
          </p:nvSpPr>
          <p:spPr>
            <a:xfrm>
              <a:off x="3952050" y="2267860"/>
              <a:ext cx="1239900" cy="46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Browser</a:t>
              </a:r>
              <a:endParaRPr b="0" i="0" sz="1300" u="none" cap="none" strike="noStrike">
                <a:solidFill>
                  <a:srgbClr val="000000"/>
                </a:solidFill>
                <a:latin typeface="Arial"/>
                <a:ea typeface="Arial"/>
                <a:cs typeface="Arial"/>
                <a:sym typeface="Arial"/>
              </a:endParaRPr>
            </a:p>
          </p:txBody>
        </p:sp>
      </p:grpSp>
      <p:graphicFrame>
        <p:nvGraphicFramePr>
          <p:cNvPr id="195" name="Google Shape;195;p33"/>
          <p:cNvGraphicFramePr/>
          <p:nvPr/>
        </p:nvGraphicFramePr>
        <p:xfrm>
          <a:off x="120600" y="3460750"/>
          <a:ext cx="3000000" cy="3000000"/>
        </p:xfrm>
        <a:graphic>
          <a:graphicData uri="http://schemas.openxmlformats.org/drawingml/2006/table">
            <a:tbl>
              <a:tblPr>
                <a:solidFill>
                  <a:srgbClr val="FFFFFF"/>
                </a:solidFill>
                <a:tableStyleId>{224286AA-02BE-4C87-BD11-C19FB9F4D86A}</a:tableStyleId>
              </a:tblPr>
              <a:tblGrid>
                <a:gridCol w="1505925"/>
                <a:gridCol w="1830400"/>
                <a:gridCol w="5118800"/>
              </a:tblGrid>
              <a:tr h="508000">
                <a:tc>
                  <a:txBody>
                    <a:bodyPr/>
                    <a:lstStyle/>
                    <a:p>
                      <a:pPr indent="0" lvl="0" marL="0" marR="0" rtl="0" algn="l">
                        <a:lnSpc>
                          <a:spcPct val="100000"/>
                        </a:lnSpc>
                        <a:spcBef>
                          <a:spcPts val="0"/>
                        </a:spcBef>
                        <a:spcAft>
                          <a:spcPts val="0"/>
                        </a:spcAft>
                        <a:buClr>
                          <a:srgbClr val="000000"/>
                        </a:buClr>
                        <a:buSzPts val="1700"/>
                        <a:buFont typeface="Arial"/>
                        <a:buNone/>
                      </a:pPr>
                      <a:r>
                        <a:rPr b="1" lang="en" sz="1300"/>
                        <a:t>Data to ORM</a:t>
                      </a:r>
                      <a:endParaRPr b="1" sz="1300" u="none" cap="none" strike="noStrike"/>
                    </a:p>
                  </a:txBody>
                  <a:tcPr marT="121900" marB="121900"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b="1" lang="en" sz="1300" u="none" cap="none" strike="noStrike"/>
                        <a:t>Django Component</a:t>
                      </a:r>
                      <a:endParaRPr b="1" sz="1300" u="none" cap="none" strike="noStrike"/>
                    </a:p>
                  </a:txBody>
                  <a:tcPr marT="121900" marB="121900"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b="1" lang="en" sz="1300" u="none" cap="none" strike="noStrike"/>
                        <a:t>Explanation</a:t>
                      </a:r>
                      <a:endParaRPr b="1" sz="1300" u="none" cap="none" strike="noStrike"/>
                    </a:p>
                  </a:txBody>
                  <a:tcPr marT="121900" marB="121900" marR="91425" marL="91425">
                    <a:lnB cap="flat" cmpd="sng" w="9525">
                      <a:solidFill>
                        <a:srgbClr val="9E9E9E"/>
                      </a:solidFill>
                      <a:prstDash val="solid"/>
                      <a:round/>
                      <a:headEnd len="sm" w="sm" type="none"/>
                      <a:tailEnd len="sm" w="sm" type="none"/>
                    </a:lnB>
                  </a:tcPr>
                </a:tc>
              </a:tr>
              <a:tr h="486825">
                <a:tc>
                  <a:txBody>
                    <a:bodyPr/>
                    <a:lstStyle/>
                    <a:p>
                      <a:pPr indent="0" lvl="0" marL="0" marR="0" rtl="0" algn="l">
                        <a:lnSpc>
                          <a:spcPct val="100000"/>
                        </a:lnSpc>
                        <a:spcBef>
                          <a:spcPts val="0"/>
                        </a:spcBef>
                        <a:spcAft>
                          <a:spcPts val="0"/>
                        </a:spcAft>
                        <a:buClr>
                          <a:srgbClr val="000000"/>
                        </a:buClr>
                        <a:buSzPts val="1700"/>
                        <a:buFont typeface="Arial"/>
                        <a:buNone/>
                      </a:pPr>
                      <a:r>
                        <a:rPr lang="en" sz="1300" u="none" cap="none" strike="noStrike"/>
                        <a:t>Active Record</a:t>
                      </a:r>
                      <a:endParaRPr sz="1300" u="none" cap="none" strike="noStrike"/>
                    </a:p>
                  </a:txBody>
                  <a:tcPr marT="121900" marB="1219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 sz="1300" u="sng" cap="none" strike="noStrike">
                          <a:solidFill>
                            <a:srgbClr val="0000FF"/>
                          </a:solidFill>
                          <a:hlinkClick r:id="rId4">
                            <a:extLst>
                              <a:ext uri="{A12FA001-AC4F-418D-AE19-62706E023703}">
                                <ahyp:hlinkClr val="tx"/>
                              </a:ext>
                            </a:extLst>
                          </a:hlinkClick>
                        </a:rPr>
                        <a:t>Django Models</a:t>
                      </a:r>
                      <a:endParaRPr sz="1300" u="none" cap="none" strike="noStrike">
                        <a:solidFill>
                          <a:srgbClr val="0000FF"/>
                        </a:solidFill>
                      </a:endParaRPr>
                    </a:p>
                  </a:txBody>
                  <a:tcPr marT="121900" marB="1219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 sz="1300"/>
                        <a:t>Django models and ORM use Active Record concept</a:t>
                      </a:r>
                      <a:endParaRPr sz="1300" u="none" cap="none" strike="noStrike"/>
                    </a:p>
                  </a:txBody>
                  <a:tcPr marT="121900" marB="1219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08000">
                <a:tc>
                  <a:txBody>
                    <a:bodyPr/>
                    <a:lstStyle/>
                    <a:p>
                      <a:pPr indent="0" lvl="0" marL="0" marR="0" rtl="0" algn="l">
                        <a:lnSpc>
                          <a:spcPct val="100000"/>
                        </a:lnSpc>
                        <a:spcBef>
                          <a:spcPts val="0"/>
                        </a:spcBef>
                        <a:spcAft>
                          <a:spcPts val="0"/>
                        </a:spcAft>
                        <a:buClr>
                          <a:srgbClr val="000000"/>
                        </a:buClr>
                        <a:buSzPts val="1700"/>
                        <a:buFont typeface="Arial"/>
                        <a:buNone/>
                      </a:pPr>
                      <a:r>
                        <a:rPr lang="en" sz="1300" u="none" cap="none" strike="noStrike"/>
                        <a:t>Identity Field</a:t>
                      </a:r>
                      <a:endParaRPr sz="1300" u="none" cap="none" strike="noStrike"/>
                    </a:p>
                  </a:txBody>
                  <a:tcPr marT="121900" marB="121900"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700"/>
                        <a:buFont typeface="Arial"/>
                        <a:buNone/>
                      </a:pPr>
                      <a:r>
                        <a:rPr lang="en" sz="1300" u="sng" cap="none" strike="noStrike">
                          <a:solidFill>
                            <a:srgbClr val="0000FF"/>
                          </a:solidFill>
                          <a:hlinkClick r:id="rId5">
                            <a:extLst>
                              <a:ext uri="{A12FA001-AC4F-418D-AE19-62706E023703}">
                                <ahyp:hlinkClr val="tx"/>
                              </a:ext>
                            </a:extLst>
                          </a:hlinkClick>
                        </a:rPr>
                        <a:t>Model Id Field</a:t>
                      </a:r>
                      <a:endParaRPr sz="1300" u="none" cap="none" strike="noStrike">
                        <a:solidFill>
                          <a:srgbClr val="0000FF"/>
                        </a:solidFill>
                      </a:endParaRPr>
                    </a:p>
                  </a:txBody>
                  <a:tcPr marT="121900" marB="121900"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700"/>
                        <a:buFont typeface="Arial"/>
                        <a:buNone/>
                      </a:pPr>
                      <a:r>
                        <a:rPr lang="en" sz="1300"/>
                        <a:t>Django’s automatic primary key</a:t>
                      </a:r>
                      <a:endParaRPr sz="1300" u="none" cap="none" strike="noStrike"/>
                    </a:p>
                  </a:txBody>
                  <a:tcPr marT="121900" marB="121900" marR="91425" marL="91425">
                    <a:lnT cap="flat" cmpd="sng" w="9525">
                      <a:solidFill>
                        <a:srgbClr val="9E9E9E"/>
                      </a:solidFill>
                      <a:prstDash val="solid"/>
                      <a:round/>
                      <a:headEnd len="sm" w="sm" type="none"/>
                      <a:tailEnd len="sm" w="sm" type="none"/>
                    </a:lnT>
                  </a:tcPr>
                </a:tc>
              </a:tr>
            </a:tbl>
          </a:graphicData>
        </a:graphic>
      </p:graphicFrame>
      <p:sp>
        <p:nvSpPr>
          <p:cNvPr id="196" name="Google Shape;196;p33"/>
          <p:cNvSpPr/>
          <p:nvPr/>
        </p:nvSpPr>
        <p:spPr>
          <a:xfrm>
            <a:off x="7197125" y="2223200"/>
            <a:ext cx="1789800" cy="9891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t>Lab: Create the Portfolio App</a:t>
            </a:r>
            <a:endParaRPr sz="2220"/>
          </a:p>
        </p:txBody>
      </p:sp>
      <p:sp>
        <p:nvSpPr>
          <p:cNvPr id="202" name="Google Shape;202;p34"/>
          <p:cNvSpPr txBox="1"/>
          <p:nvPr>
            <p:ph idx="1" type="body"/>
          </p:nvPr>
        </p:nvSpPr>
        <p:spPr>
          <a:xfrm>
            <a:off x="311700" y="1152475"/>
            <a:ext cx="8520600" cy="3416400"/>
          </a:xfrm>
          <a:prstGeom prst="rect">
            <a:avLst/>
          </a:prstGeom>
          <a:solidFill>
            <a:srgbClr val="674EA7"/>
          </a:solidFill>
        </p:spPr>
        <p:txBody>
          <a:bodyPr anchorCtr="0" anchor="t" bIns="91425" lIns="91425" spcFirstLastPara="1" rIns="91425" wrap="square" tIns="91425">
            <a:normAutofit/>
          </a:bodyPr>
          <a:lstStyle/>
          <a:p>
            <a:pPr indent="0" lvl="0" marL="0" rtl="0" algn="l">
              <a:spcBef>
                <a:spcPts val="0"/>
              </a:spcBef>
              <a:spcAft>
                <a:spcPts val="0"/>
              </a:spcAft>
              <a:buNone/>
            </a:pPr>
            <a:r>
              <a:rPr lang="en"/>
              <a:t>Start </a:t>
            </a:r>
            <a:r>
              <a:rPr lang="en" u="sng">
                <a:solidFill>
                  <a:schemeClr val="hlink"/>
                </a:solidFill>
                <a:hlinkClick r:id="rId3"/>
              </a:rPr>
              <a:t>Lab: Create the Portfolio App, Student Model, and Admin Login</a:t>
            </a:r>
            <a:endParaRPr/>
          </a:p>
          <a:p>
            <a:pPr indent="0" lvl="0" marL="0" rtl="0" algn="l">
              <a:spcBef>
                <a:spcPts val="0"/>
              </a:spcBef>
              <a:spcAft>
                <a:spcPts val="0"/>
              </a:spcAft>
              <a:buNone/>
            </a:pPr>
            <a:r>
              <a:rPr lang="en"/>
              <a:t>Complete </a:t>
            </a:r>
            <a:endParaRPr/>
          </a:p>
          <a:p>
            <a:pPr indent="-342900" lvl="0" marL="457200" rtl="0" algn="l">
              <a:spcBef>
                <a:spcPts val="0"/>
              </a:spcBef>
              <a:spcAft>
                <a:spcPts val="0"/>
              </a:spcAft>
              <a:buSzPts val="1800"/>
              <a:buChar char="●"/>
            </a:pPr>
            <a:r>
              <a:rPr lang="en"/>
              <a:t>Before Starting</a:t>
            </a:r>
            <a:r>
              <a:rPr lang="en"/>
              <a:t> Sections</a:t>
            </a:r>
            <a:endParaRPr/>
          </a:p>
          <a:p>
            <a:pPr indent="-342900" lvl="0" marL="457200" rtl="0" algn="l">
              <a:spcBef>
                <a:spcPts val="0"/>
              </a:spcBef>
              <a:spcAft>
                <a:spcPts val="0"/>
              </a:spcAft>
              <a:buSzPts val="1800"/>
              <a:buChar char="●"/>
            </a:pPr>
            <a:r>
              <a:rPr lang="en"/>
              <a:t>Lab steps 1–3:</a:t>
            </a:r>
            <a:endParaRPr/>
          </a:p>
          <a:p>
            <a:pPr indent="-342900" lvl="0" marL="914400" rtl="0" algn="l">
              <a:spcBef>
                <a:spcPts val="0"/>
              </a:spcBef>
              <a:spcAft>
                <a:spcPts val="0"/>
              </a:spcAft>
              <a:buSzPts val="1800"/>
              <a:buAutoNum type="arabicPeriod"/>
            </a:pPr>
            <a:r>
              <a:rPr lang="en"/>
              <a:t>Check your Django project.</a:t>
            </a:r>
            <a:endParaRPr/>
          </a:p>
          <a:p>
            <a:pPr indent="-342900" lvl="0" marL="914400" rtl="0" algn="l">
              <a:spcBef>
                <a:spcPts val="0"/>
              </a:spcBef>
              <a:spcAft>
                <a:spcPts val="0"/>
              </a:spcAft>
              <a:buSzPts val="1800"/>
              <a:buAutoNum type="arabicPeriod"/>
            </a:pPr>
            <a:r>
              <a:rPr lang="en"/>
              <a:t>Create portfolio_app and explore the files Django generated.</a:t>
            </a:r>
            <a:endParaRPr/>
          </a:p>
          <a:p>
            <a:pPr indent="-342900" lvl="0" marL="914400" rtl="0" algn="l">
              <a:spcBef>
                <a:spcPts val="0"/>
              </a:spcBef>
              <a:spcAft>
                <a:spcPts val="0"/>
              </a:spcAft>
              <a:buSzPts val="1800"/>
              <a:buAutoNum type="arabicPeriod"/>
            </a:pPr>
            <a:r>
              <a:rPr lang="en"/>
              <a:t>Connect the app to the project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will go slowly to understand the commands and what is created. After completing these steps go to the next slides.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177250" y="2029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Database</a:t>
            </a:r>
            <a:endParaRPr/>
          </a:p>
        </p:txBody>
      </p:sp>
      <p:sp>
        <p:nvSpPr>
          <p:cNvPr id="208" name="Google Shape;208;p35"/>
          <p:cNvSpPr txBox="1"/>
          <p:nvPr>
            <p:ph idx="1" type="body"/>
          </p:nvPr>
        </p:nvSpPr>
        <p:spPr>
          <a:xfrm>
            <a:off x="177250" y="863550"/>
            <a:ext cx="8638800" cy="1478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u="sng">
                <a:solidFill>
                  <a:schemeClr val="hlink"/>
                </a:solidFill>
                <a:hlinkClick r:id="rId3"/>
              </a:rPr>
              <a:t>SQLite Sample Database And Its Diagram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a:t>A database contains tables and relationship to logically connect and organize information. </a:t>
            </a:r>
            <a:endParaRPr/>
          </a:p>
        </p:txBody>
      </p:sp>
      <p:pic>
        <p:nvPicPr>
          <p:cNvPr id="209" name="Google Shape;209;p35"/>
          <p:cNvPicPr preferRelativeResize="0"/>
          <p:nvPr/>
        </p:nvPicPr>
        <p:blipFill rotWithShape="1">
          <a:blip r:embed="rId4">
            <a:alphaModFix/>
          </a:blip>
          <a:srcRect b="0" l="0" r="0" t="0"/>
          <a:stretch/>
        </p:blipFill>
        <p:spPr>
          <a:xfrm>
            <a:off x="1193025" y="2421525"/>
            <a:ext cx="4796850" cy="2023975"/>
          </a:xfrm>
          <a:prstGeom prst="rect">
            <a:avLst/>
          </a:prstGeom>
          <a:noFill/>
          <a:ln>
            <a:noFill/>
          </a:ln>
        </p:spPr>
      </p:pic>
      <p:sp>
        <p:nvSpPr>
          <p:cNvPr id="210" name="Google Shape;210;p35"/>
          <p:cNvSpPr txBox="1"/>
          <p:nvPr/>
        </p:nvSpPr>
        <p:spPr>
          <a:xfrm>
            <a:off x="2072450" y="4445500"/>
            <a:ext cx="369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5"/>
              </a:rPr>
              <a:t>https://mywebscribbles.blogspot.com/</a:t>
            </a: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189725" y="1235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How Django Models Connect to the Database</a:t>
            </a:r>
            <a:endParaRPr/>
          </a:p>
        </p:txBody>
      </p:sp>
      <p:sp>
        <p:nvSpPr>
          <p:cNvPr id="216" name="Google Shape;216;p36"/>
          <p:cNvSpPr txBox="1"/>
          <p:nvPr>
            <p:ph idx="1" type="body"/>
          </p:nvPr>
        </p:nvSpPr>
        <p:spPr>
          <a:xfrm>
            <a:off x="229625" y="696250"/>
            <a:ext cx="8520600" cy="4288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500"/>
              <a:t>A model is a Python class that describes the information we want to store. In this module, we will create Student, Portfolio, and Project models.</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Each model maps to a database table. Each saved object becomes a record.</a:t>
            </a:r>
            <a:endParaRPr sz="1500"/>
          </a:p>
          <a:p>
            <a:pPr indent="-323850" lvl="0" marL="457200" rtl="0" algn="l">
              <a:spcBef>
                <a:spcPts val="0"/>
              </a:spcBef>
              <a:spcAft>
                <a:spcPts val="0"/>
              </a:spcAft>
              <a:buSzPts val="1500"/>
              <a:buChar char="●"/>
            </a:pPr>
            <a:r>
              <a:rPr lang="en" sz="1500"/>
              <a:t>Django adds an id primary key if we do not define one.</a:t>
            </a:r>
            <a:endParaRPr sz="1500"/>
          </a:p>
          <a:p>
            <a:pPr indent="-323850" lvl="0" marL="457200" rtl="0" algn="l">
              <a:spcBef>
                <a:spcPts val="0"/>
              </a:spcBef>
              <a:spcAft>
                <a:spcPts val="0"/>
              </a:spcAft>
              <a:buSzPts val="1500"/>
              <a:buChar char="●"/>
            </a:pPr>
            <a:r>
              <a:rPr lang="en" sz="1500"/>
              <a:t>Relationship fields connect records: one Student has one Portfolio, and one Portfolio can have many Projects.</a:t>
            </a:r>
            <a:endParaRPr sz="1500"/>
          </a:p>
          <a:p>
            <a:pPr indent="-323850" lvl="0" marL="457200" rtl="0" algn="l">
              <a:spcBef>
                <a:spcPts val="0"/>
              </a:spcBef>
              <a:spcAft>
                <a:spcPts val="0"/>
              </a:spcAft>
              <a:buSzPts val="1500"/>
              <a:buChar char="●"/>
            </a:pPr>
            <a:r>
              <a:rPr lang="en" sz="1500"/>
              <a:t>A migration records a change to the model structure. makemigrations creates the migration; migrate applies it to the database.</a:t>
            </a:r>
            <a:endParaRPr sz="1500"/>
          </a:p>
          <a:p>
            <a:pPr indent="-323850" lvl="0" marL="457200" rtl="0" algn="l">
              <a:spcBef>
                <a:spcPts val="0"/>
              </a:spcBef>
              <a:spcAft>
                <a:spcPts val="0"/>
              </a:spcAft>
              <a:buSzPts val="1500"/>
              <a:buChar char="●"/>
            </a:pPr>
            <a:r>
              <a:rPr lang="en" sz="1500"/>
              <a:t>Django’s ORM lets us work with these records through Python objects, managers, and QuerySets instead of writing SQL for each query.</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Connection to design patterns: Django models and its ORM use Active Record concepts. The automatically created id illustrates an identity field. These are the two pattern connections we will examine</a:t>
            </a:r>
            <a:endParaRPr sz="1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7"/>
          <p:cNvSpPr txBox="1"/>
          <p:nvPr>
            <p:ph type="title"/>
          </p:nvPr>
        </p:nvSpPr>
        <p:spPr>
          <a:xfrm>
            <a:off x="231000" y="1492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Django Database</a:t>
            </a:r>
            <a:endParaRPr/>
          </a:p>
        </p:txBody>
      </p:sp>
      <p:sp>
        <p:nvSpPr>
          <p:cNvPr id="222" name="Google Shape;222;p37"/>
          <p:cNvSpPr txBox="1"/>
          <p:nvPr>
            <p:ph idx="1" type="body"/>
          </p:nvPr>
        </p:nvSpPr>
        <p:spPr>
          <a:xfrm>
            <a:off x="311700" y="789400"/>
            <a:ext cx="8520600" cy="1204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You have a default database  db.sqlites to use with your django project. This configuration is in the settings.py file.  </a:t>
            </a:r>
            <a:endParaRPr/>
          </a:p>
          <a:p>
            <a:pPr indent="0" lvl="0" marL="0" rtl="0" algn="l">
              <a:lnSpc>
                <a:spcPct val="115000"/>
              </a:lnSpc>
              <a:spcBef>
                <a:spcPts val="0"/>
              </a:spcBef>
              <a:spcAft>
                <a:spcPts val="0"/>
              </a:spcAft>
              <a:buSzPts val="1800"/>
              <a:buNone/>
            </a:pPr>
            <a:r>
              <a:rPr lang="en"/>
              <a:t>Currently the database has not been set up. </a:t>
            </a:r>
            <a:endParaRPr/>
          </a:p>
        </p:txBody>
      </p:sp>
      <p:pic>
        <p:nvPicPr>
          <p:cNvPr id="223" name="Google Shape;223;p37"/>
          <p:cNvPicPr preferRelativeResize="0"/>
          <p:nvPr/>
        </p:nvPicPr>
        <p:blipFill rotWithShape="1">
          <a:blip r:embed="rId3">
            <a:alphaModFix/>
          </a:blip>
          <a:srcRect b="0" l="0" r="29547" t="0"/>
          <a:stretch/>
        </p:blipFill>
        <p:spPr>
          <a:xfrm>
            <a:off x="123425" y="2571750"/>
            <a:ext cx="4007526" cy="2422899"/>
          </a:xfrm>
          <a:prstGeom prst="rect">
            <a:avLst/>
          </a:prstGeom>
          <a:noFill/>
          <a:ln>
            <a:noFill/>
          </a:ln>
        </p:spPr>
      </p:pic>
      <p:pic>
        <p:nvPicPr>
          <p:cNvPr id="224" name="Google Shape;224;p37"/>
          <p:cNvPicPr preferRelativeResize="0"/>
          <p:nvPr/>
        </p:nvPicPr>
        <p:blipFill rotWithShape="1">
          <a:blip r:embed="rId4">
            <a:alphaModFix/>
          </a:blip>
          <a:srcRect b="0" l="0" r="0" t="0"/>
          <a:stretch/>
        </p:blipFill>
        <p:spPr>
          <a:xfrm>
            <a:off x="231000" y="1993900"/>
            <a:ext cx="5943600" cy="504825"/>
          </a:xfrm>
          <a:prstGeom prst="rect">
            <a:avLst/>
          </a:prstGeom>
          <a:noFill/>
          <a:ln>
            <a:noFill/>
          </a:ln>
        </p:spPr>
      </p:pic>
      <p:pic>
        <p:nvPicPr>
          <p:cNvPr id="225" name="Google Shape;225;p37"/>
          <p:cNvPicPr preferRelativeResize="0"/>
          <p:nvPr/>
        </p:nvPicPr>
        <p:blipFill rotWithShape="1">
          <a:blip r:embed="rId5">
            <a:alphaModFix/>
          </a:blip>
          <a:srcRect b="0" l="0" r="0" t="0"/>
          <a:stretch/>
        </p:blipFill>
        <p:spPr>
          <a:xfrm>
            <a:off x="4457175" y="2760838"/>
            <a:ext cx="4686824" cy="2153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ph type="title"/>
          </p:nvPr>
        </p:nvSpPr>
        <p:spPr>
          <a:xfrm>
            <a:off x="231000" y="1492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Django Database Migration</a:t>
            </a:r>
            <a:endParaRPr/>
          </a:p>
        </p:txBody>
      </p:sp>
      <p:sp>
        <p:nvSpPr>
          <p:cNvPr id="231" name="Google Shape;231;p38"/>
          <p:cNvSpPr txBox="1"/>
          <p:nvPr>
            <p:ph idx="1" type="body"/>
          </p:nvPr>
        </p:nvSpPr>
        <p:spPr>
          <a:xfrm>
            <a:off x="311700" y="789400"/>
            <a:ext cx="8520600" cy="1474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u="sng">
                <a:solidFill>
                  <a:schemeClr val="hlink"/>
                </a:solidFill>
                <a:hlinkClick r:id="rId3"/>
              </a:rPr>
              <a:t>Making Django migrations in Python </a:t>
            </a:r>
            <a:r>
              <a:rPr lang="en"/>
              <a:t>Migrations are Django’s way of propagating changes you make to your models (adding a field, deleting a model, etc.) into your database schema. The command python manage.py migrate will set up the database with the default tables</a:t>
            </a:r>
            <a:endParaRPr/>
          </a:p>
        </p:txBody>
      </p:sp>
      <p:pic>
        <p:nvPicPr>
          <p:cNvPr id="232" name="Google Shape;232;p38"/>
          <p:cNvPicPr preferRelativeResize="0"/>
          <p:nvPr/>
        </p:nvPicPr>
        <p:blipFill rotWithShape="1">
          <a:blip r:embed="rId4">
            <a:alphaModFix/>
          </a:blip>
          <a:srcRect b="0" l="0" r="0" t="0"/>
          <a:stretch/>
        </p:blipFill>
        <p:spPr>
          <a:xfrm>
            <a:off x="540575" y="2263950"/>
            <a:ext cx="5943348" cy="27396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216450" y="254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ORM and Active Record Pattern</a:t>
            </a:r>
            <a:endParaRPr/>
          </a:p>
        </p:txBody>
      </p:sp>
      <p:sp>
        <p:nvSpPr>
          <p:cNvPr id="238" name="Google Shape;238;p39"/>
          <p:cNvSpPr txBox="1"/>
          <p:nvPr>
            <p:ph idx="1" type="body"/>
          </p:nvPr>
        </p:nvSpPr>
        <p:spPr>
          <a:xfrm>
            <a:off x="97400" y="863550"/>
            <a:ext cx="8989500" cy="4034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Object Relational Mapping is  an Architectural Design Pattern </a:t>
            </a:r>
            <a:endParaRPr/>
          </a:p>
          <a:p>
            <a:pPr indent="0" lvl="0" marL="0" rtl="0" algn="l">
              <a:lnSpc>
                <a:spcPct val="115000"/>
              </a:lnSpc>
              <a:spcBef>
                <a:spcPts val="0"/>
              </a:spcBef>
              <a:spcAft>
                <a:spcPts val="0"/>
              </a:spcAft>
              <a:buSzPts val="1800"/>
              <a:buNone/>
            </a:pPr>
            <a:r>
              <a:rPr lang="en" u="sng">
                <a:solidFill>
                  <a:schemeClr val="hlink"/>
                </a:solidFill>
                <a:hlinkClick r:id="rId3"/>
              </a:rPr>
              <a:t>The Active Record and Data Mappers of ORM Pattern</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u="sng">
                <a:solidFill>
                  <a:schemeClr val="hlink"/>
                </a:solidFill>
                <a:hlinkClick r:id="rId4"/>
              </a:rPr>
              <a:t>Overview of the Active Record Pattern</a:t>
            </a:r>
            <a:r>
              <a:rPr lang="en"/>
              <a:t> </a:t>
            </a:r>
            <a:endParaRPr/>
          </a:p>
          <a:p>
            <a:pPr indent="0" lvl="0" marL="0" rtl="0" algn="l">
              <a:lnSpc>
                <a:spcPct val="115000"/>
              </a:lnSpc>
              <a:spcBef>
                <a:spcPts val="0"/>
              </a:spcBef>
              <a:spcAft>
                <a:spcPts val="0"/>
              </a:spcAft>
              <a:buSzPts val="1800"/>
              <a:buNone/>
            </a:pPr>
            <a:r>
              <a:rPr lang="en"/>
              <a:t>“The active record design pattern (considered an architectural pattern) is an approach that connects the application's business logic to a database table, allowing developers to work with the database using an object-oriented paradigm.”</a:t>
            </a:r>
            <a:r>
              <a:rPr lang="en" u="sng">
                <a:solidFill>
                  <a:schemeClr val="hlink"/>
                </a:solidFill>
                <a:hlinkClick r:id="rId5"/>
              </a:rPr>
              <a:t>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a:t>A table in the database represents model</a:t>
            </a:r>
            <a:endParaRPr/>
          </a:p>
          <a:p>
            <a:pPr indent="-342900" lvl="0" marL="457200" rtl="0" algn="l">
              <a:lnSpc>
                <a:spcPct val="115000"/>
              </a:lnSpc>
              <a:spcBef>
                <a:spcPts val="0"/>
              </a:spcBef>
              <a:spcAft>
                <a:spcPts val="0"/>
              </a:spcAft>
              <a:buSzPts val="1800"/>
              <a:buChar char="●"/>
            </a:pPr>
            <a:r>
              <a:rPr lang="en"/>
              <a:t>Each row maps to an instance of the object</a:t>
            </a:r>
            <a:endParaRPr/>
          </a:p>
          <a:p>
            <a:pPr indent="-342900" lvl="0" marL="457200" rtl="0" algn="l">
              <a:lnSpc>
                <a:spcPct val="115000"/>
              </a:lnSpc>
              <a:spcBef>
                <a:spcPts val="0"/>
              </a:spcBef>
              <a:spcAft>
                <a:spcPts val="0"/>
              </a:spcAft>
              <a:buSzPts val="1800"/>
              <a:buChar char="●"/>
            </a:pPr>
            <a:r>
              <a:rPr lang="en"/>
              <a:t>Each column maps fields of the model for that object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t>Lab: Create the Portfolio App, Student Model, and Admin Login</a:t>
            </a:r>
            <a:endParaRPr sz="2220"/>
          </a:p>
        </p:txBody>
      </p:sp>
      <p:sp>
        <p:nvSpPr>
          <p:cNvPr id="244" name="Google Shape;244;p40"/>
          <p:cNvSpPr txBox="1"/>
          <p:nvPr>
            <p:ph idx="1" type="body"/>
          </p:nvPr>
        </p:nvSpPr>
        <p:spPr>
          <a:xfrm>
            <a:off x="311700" y="1152475"/>
            <a:ext cx="8520600" cy="3416400"/>
          </a:xfrm>
          <a:prstGeom prst="rect">
            <a:avLst/>
          </a:prstGeom>
          <a:solidFill>
            <a:srgbClr val="674EA7"/>
          </a:solidFill>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latin typeface="Lexend"/>
                <a:ea typeface="Lexend"/>
                <a:cs typeface="Lexend"/>
                <a:sym typeface="Lexend"/>
              </a:rPr>
              <a:t>Complete </a:t>
            </a:r>
            <a:r>
              <a:rPr lang="en" sz="1600">
                <a:solidFill>
                  <a:schemeClr val="dk1"/>
                </a:solidFill>
                <a:latin typeface="Lexend"/>
                <a:ea typeface="Lexend"/>
                <a:cs typeface="Lexend"/>
                <a:sym typeface="Lexend"/>
              </a:rPr>
              <a:t>Steps 4–5: define Student, predict the table, run migrations, inspect SQLite</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Go slowly to to make sense out of the concepts. After completing these steps go to the next slides.</a:t>
            </a:r>
            <a:endParaRPr sz="160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Superuser and Admin Tool</a:t>
            </a:r>
            <a:endParaRPr/>
          </a:p>
        </p:txBody>
      </p:sp>
      <p:sp>
        <p:nvSpPr>
          <p:cNvPr id="250" name="Google Shape;25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Django Tutorial Part 4: Django admin site </a:t>
            </a:r>
            <a:endParaRPr/>
          </a:p>
          <a:p>
            <a:pPr indent="0" lvl="0" marL="0" rtl="0" algn="l">
              <a:spcBef>
                <a:spcPts val="0"/>
              </a:spcBef>
              <a:spcAft>
                <a:spcPts val="0"/>
              </a:spcAft>
              <a:buNone/>
            </a:pPr>
            <a:r>
              <a:rPr lang="en"/>
              <a:t>You will create a superuser to access the admin tool. </a:t>
            </a:r>
            <a:endParaRPr/>
          </a:p>
          <a:p>
            <a:pPr indent="0" lvl="0" marL="0" rtl="0" algn="l">
              <a:spcBef>
                <a:spcPts val="0"/>
              </a:spcBef>
              <a:spcAft>
                <a:spcPts val="0"/>
              </a:spcAft>
              <a:buNone/>
            </a:pPr>
            <a:r>
              <a:rPr lang="en" sz="1000" u="sng">
                <a:solidFill>
                  <a:schemeClr val="hlink"/>
                </a:solidFill>
                <a:highlight>
                  <a:srgbClr val="343434"/>
                </a:highlight>
                <a:latin typeface="Consolas"/>
                <a:ea typeface="Consolas"/>
                <a:cs typeface="Consolas"/>
                <a:sym typeface="Consolas"/>
                <a:hlinkClick r:id="rId4"/>
              </a:rPr>
              <a:t>http://127.0.0.1:8000/admin</a:t>
            </a:r>
            <a:r>
              <a:rPr lang="en" sz="1000">
                <a:solidFill>
                  <a:srgbClr val="FFFFFF"/>
                </a:solidFill>
                <a:highlight>
                  <a:srgbClr val="343434"/>
                </a:highlight>
                <a:latin typeface="Consolas"/>
                <a:ea typeface="Consolas"/>
                <a:cs typeface="Consolas"/>
                <a:sym typeface="Consolas"/>
              </a:rPr>
              <a:t> </a:t>
            </a:r>
            <a:endParaRPr/>
          </a:p>
        </p:txBody>
      </p:sp>
      <p:pic>
        <p:nvPicPr>
          <p:cNvPr id="251" name="Google Shape;251;p41"/>
          <p:cNvPicPr preferRelativeResize="0"/>
          <p:nvPr/>
        </p:nvPicPr>
        <p:blipFill>
          <a:blip r:embed="rId5">
            <a:alphaModFix/>
          </a:blip>
          <a:stretch>
            <a:fillRect/>
          </a:stretch>
        </p:blipFill>
        <p:spPr>
          <a:xfrm>
            <a:off x="358600" y="2571751"/>
            <a:ext cx="7053549" cy="1708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title"/>
          </p:nvPr>
        </p:nvSpPr>
        <p:spPr>
          <a:xfrm>
            <a:off x="311700" y="171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Django Admin App</a:t>
            </a:r>
            <a:endParaRPr/>
          </a:p>
        </p:txBody>
      </p:sp>
      <p:sp>
        <p:nvSpPr>
          <p:cNvPr id="257" name="Google Shape;257;p42"/>
          <p:cNvSpPr txBox="1"/>
          <p:nvPr>
            <p:ph idx="1" type="body"/>
          </p:nvPr>
        </p:nvSpPr>
        <p:spPr>
          <a:xfrm>
            <a:off x="204550" y="743900"/>
            <a:ext cx="8328900" cy="252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API that lets you create, retrieve, update and delete objects. </a:t>
            </a:r>
            <a:endParaRPr sz="1600"/>
          </a:p>
          <a:p>
            <a:pPr indent="0" lvl="0" marL="0" rtl="0" algn="l">
              <a:spcBef>
                <a:spcPts val="0"/>
              </a:spcBef>
              <a:spcAft>
                <a:spcPts val="0"/>
              </a:spcAft>
              <a:buNone/>
            </a:pPr>
            <a:r>
              <a:rPr lang="en" sz="1600" u="sng">
                <a:solidFill>
                  <a:schemeClr val="hlink"/>
                </a:solidFill>
                <a:hlinkClick r:id="rId3"/>
              </a:rPr>
              <a:t>CRUDI</a:t>
            </a:r>
            <a:r>
              <a:rPr lang="en" sz="1600"/>
              <a:t> </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u="sng">
                <a:solidFill>
                  <a:schemeClr val="hlink"/>
                </a:solidFill>
                <a:hlinkClick r:id="rId4"/>
              </a:rPr>
              <a:t>http://127.0.0.1:8000/admin/portfolio_app/student/2/change/</a:t>
            </a:r>
            <a:r>
              <a:rPr lang="en" sz="1600"/>
              <a:t> </a:t>
            </a:r>
            <a:endParaRPr sz="1600"/>
          </a:p>
          <a:p>
            <a:pPr indent="-330200" lvl="0" marL="457200" rtl="0" algn="l">
              <a:spcBef>
                <a:spcPts val="0"/>
              </a:spcBef>
              <a:spcAft>
                <a:spcPts val="0"/>
              </a:spcAft>
              <a:buSzPts val="1600"/>
              <a:buChar char="●"/>
            </a:pPr>
            <a:r>
              <a:rPr lang="en" sz="1600" u="sng">
                <a:solidFill>
                  <a:schemeClr val="hlink"/>
                </a:solidFill>
                <a:hlinkClick r:id="rId5"/>
              </a:rPr>
              <a:t>http://127.0.0.1:8000/admin/portfolio_app/student/2/delete/</a:t>
            </a:r>
            <a:r>
              <a:rPr lang="en" sz="1600"/>
              <a:t>  </a:t>
            </a:r>
            <a:endParaRPr sz="1600"/>
          </a:p>
          <a:p>
            <a:pPr indent="-330200" lvl="0" marL="457200" rtl="0" algn="l">
              <a:spcBef>
                <a:spcPts val="0"/>
              </a:spcBef>
              <a:spcAft>
                <a:spcPts val="0"/>
              </a:spcAft>
              <a:buSzPts val="1600"/>
              <a:buChar char="●"/>
            </a:pPr>
            <a:r>
              <a:rPr lang="en" sz="1600" u="sng">
                <a:solidFill>
                  <a:schemeClr val="hlink"/>
                </a:solidFill>
                <a:hlinkClick r:id="rId6"/>
              </a:rPr>
              <a:t>http://127.0.0.1:8000/admin/portfolio_app/student/</a:t>
            </a:r>
            <a:r>
              <a:rPr lang="en" sz="1600"/>
              <a:t>  </a:t>
            </a:r>
            <a:endParaRPr sz="1600"/>
          </a:p>
        </p:txBody>
      </p:sp>
      <p:pic>
        <p:nvPicPr>
          <p:cNvPr id="258" name="Google Shape;258;p42"/>
          <p:cNvPicPr preferRelativeResize="0"/>
          <p:nvPr/>
        </p:nvPicPr>
        <p:blipFill>
          <a:blip r:embed="rId7">
            <a:alphaModFix/>
          </a:blip>
          <a:stretch>
            <a:fillRect/>
          </a:stretch>
        </p:blipFill>
        <p:spPr>
          <a:xfrm>
            <a:off x="150500" y="3699900"/>
            <a:ext cx="7179899" cy="1104588"/>
          </a:xfrm>
          <a:prstGeom prst="rect">
            <a:avLst/>
          </a:prstGeom>
          <a:noFill/>
          <a:ln>
            <a:noFill/>
          </a:ln>
        </p:spPr>
      </p:pic>
      <p:pic>
        <p:nvPicPr>
          <p:cNvPr id="259" name="Google Shape;259;p42"/>
          <p:cNvPicPr preferRelativeResize="0"/>
          <p:nvPr/>
        </p:nvPicPr>
        <p:blipFill>
          <a:blip r:embed="rId8">
            <a:alphaModFix/>
          </a:blip>
          <a:stretch>
            <a:fillRect/>
          </a:stretch>
        </p:blipFill>
        <p:spPr>
          <a:xfrm rot="10800000">
            <a:off x="150512" y="4991100"/>
            <a:ext cx="1888" cy="3776"/>
          </a:xfrm>
          <a:prstGeom prst="rect">
            <a:avLst/>
          </a:prstGeom>
          <a:noFill/>
          <a:ln>
            <a:noFill/>
          </a:ln>
        </p:spPr>
      </p:pic>
      <p:pic>
        <p:nvPicPr>
          <p:cNvPr id="260" name="Google Shape;260;p42"/>
          <p:cNvPicPr preferRelativeResize="0"/>
          <p:nvPr/>
        </p:nvPicPr>
        <p:blipFill>
          <a:blip r:embed="rId9">
            <a:alphaModFix/>
          </a:blip>
          <a:stretch>
            <a:fillRect/>
          </a:stretch>
        </p:blipFill>
        <p:spPr>
          <a:xfrm>
            <a:off x="150500" y="2689776"/>
            <a:ext cx="7225874" cy="943825"/>
          </a:xfrm>
          <a:prstGeom prst="rect">
            <a:avLst/>
          </a:prstGeom>
          <a:noFill/>
          <a:ln>
            <a:noFill/>
          </a:ln>
        </p:spPr>
      </p:pic>
      <p:sp>
        <p:nvSpPr>
          <p:cNvPr id="261" name="Google Shape;261;p42"/>
          <p:cNvSpPr/>
          <p:nvPr/>
        </p:nvSpPr>
        <p:spPr>
          <a:xfrm>
            <a:off x="7178825" y="3002900"/>
            <a:ext cx="1890900" cy="1025400"/>
          </a:xfrm>
          <a:prstGeom prst="left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Notice log for server </a:t>
            </a:r>
            <a:endParaRPr/>
          </a:p>
        </p:txBody>
      </p:sp>
      <p:sp>
        <p:nvSpPr>
          <p:cNvPr id="262" name="Google Shape;262;p42"/>
          <p:cNvSpPr/>
          <p:nvPr/>
        </p:nvSpPr>
        <p:spPr>
          <a:xfrm>
            <a:off x="6642550" y="1452550"/>
            <a:ext cx="1890900" cy="1025400"/>
          </a:xfrm>
          <a:prstGeom prst="left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Notice URI for admin web app</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ph type="title"/>
          </p:nvPr>
        </p:nvSpPr>
        <p:spPr>
          <a:xfrm>
            <a:off x="156900" y="664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Active Record Applied in Django</a:t>
            </a:r>
            <a:endParaRPr/>
          </a:p>
        </p:txBody>
      </p:sp>
      <p:pic>
        <p:nvPicPr>
          <p:cNvPr id="268" name="Google Shape;268;p43"/>
          <p:cNvPicPr preferRelativeResize="0"/>
          <p:nvPr/>
        </p:nvPicPr>
        <p:blipFill rotWithShape="1">
          <a:blip r:embed="rId3">
            <a:alphaModFix/>
          </a:blip>
          <a:srcRect b="0" l="0" r="0" t="0"/>
          <a:stretch/>
        </p:blipFill>
        <p:spPr>
          <a:xfrm>
            <a:off x="466000" y="3159900"/>
            <a:ext cx="7616225" cy="1833375"/>
          </a:xfrm>
          <a:prstGeom prst="rect">
            <a:avLst/>
          </a:prstGeom>
          <a:noFill/>
          <a:ln>
            <a:noFill/>
          </a:ln>
        </p:spPr>
      </p:pic>
      <p:sp>
        <p:nvSpPr>
          <p:cNvPr id="269" name="Google Shape;269;p43"/>
          <p:cNvSpPr txBox="1"/>
          <p:nvPr/>
        </p:nvSpPr>
        <p:spPr>
          <a:xfrm>
            <a:off x="262175" y="886950"/>
            <a:ext cx="7421400" cy="122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100"/>
              </a:spcBef>
              <a:spcAft>
                <a:spcPts val="0"/>
              </a:spcAft>
              <a:buClr>
                <a:srgbClr val="000000"/>
              </a:buClr>
              <a:buSzPts val="1500"/>
              <a:buFont typeface="Arial"/>
              <a:buNone/>
            </a:pPr>
            <a:r>
              <a:rPr b="0" i="0" lang="en" sz="1500" u="none" cap="none" strike="noStrike">
                <a:solidFill>
                  <a:schemeClr val="dk1"/>
                </a:solidFill>
                <a:latin typeface="Arial"/>
                <a:ea typeface="Arial"/>
                <a:cs typeface="Arial"/>
                <a:sym typeface="Arial"/>
              </a:rPr>
              <a:t>Django ORM implements concepts from Active Record Pattern</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100"/>
              </a:spcBef>
              <a:spcAft>
                <a:spcPts val="0"/>
              </a:spcAft>
              <a:buClr>
                <a:srgbClr val="000000"/>
              </a:buClr>
              <a:buSzPts val="1500"/>
              <a:buFont typeface="Arial"/>
              <a:buNone/>
            </a:pPr>
            <a:r>
              <a:rPr b="0" i="0" lang="en" sz="1500" u="none" cap="none" strike="noStrike">
                <a:solidFill>
                  <a:schemeClr val="dk1"/>
                </a:solidFill>
                <a:latin typeface="Arial"/>
                <a:ea typeface="Arial"/>
                <a:cs typeface="Arial"/>
                <a:sym typeface="Arial"/>
              </a:rPr>
              <a:t>A database table is wrapped in a class</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100"/>
              </a:spcBef>
              <a:spcAft>
                <a:spcPts val="1100"/>
              </a:spcAft>
              <a:buClr>
                <a:srgbClr val="000000"/>
              </a:buClr>
              <a:buSzPts val="1500"/>
              <a:buFont typeface="Arial"/>
              <a:buNone/>
            </a:pPr>
            <a:r>
              <a:rPr b="0" i="0" lang="en" sz="1500" u="none" cap="none" strike="noStrike">
                <a:solidFill>
                  <a:schemeClr val="dk1"/>
                </a:solidFill>
                <a:latin typeface="Arial"/>
                <a:ea typeface="Arial"/>
                <a:cs typeface="Arial"/>
                <a:sym typeface="Arial"/>
              </a:rPr>
              <a:t>The model maps to a database table</a:t>
            </a:r>
            <a:endParaRPr b="0" i="0" sz="1800" u="none" cap="none" strike="noStrike">
              <a:solidFill>
                <a:schemeClr val="dk1"/>
              </a:solidFill>
              <a:latin typeface="Arial"/>
              <a:ea typeface="Arial"/>
              <a:cs typeface="Arial"/>
              <a:sym typeface="Arial"/>
            </a:endParaRPr>
          </a:p>
        </p:txBody>
      </p:sp>
      <p:sp>
        <p:nvSpPr>
          <p:cNvPr id="270" name="Google Shape;270;p43"/>
          <p:cNvSpPr/>
          <p:nvPr/>
        </p:nvSpPr>
        <p:spPr>
          <a:xfrm>
            <a:off x="2621750" y="3386125"/>
            <a:ext cx="809700" cy="14289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5181625" y="2381250"/>
            <a:ext cx="3857700" cy="921600"/>
          </a:xfrm>
          <a:prstGeom prst="wedgeEllipseCallout">
            <a:avLst>
              <a:gd fmla="val -105201" name="adj1"/>
              <a:gd fmla="val 48700" name="adj2"/>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Notice the id field that was created but is not listed in the class. Why is an id needed?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380800" y="2187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Migrations</a:t>
            </a:r>
            <a:endParaRPr/>
          </a:p>
        </p:txBody>
      </p:sp>
      <p:sp>
        <p:nvSpPr>
          <p:cNvPr id="277" name="Google Shape;277;p44"/>
          <p:cNvSpPr txBox="1"/>
          <p:nvPr>
            <p:ph idx="1" type="body"/>
          </p:nvPr>
        </p:nvSpPr>
        <p:spPr>
          <a:xfrm>
            <a:off x="273625" y="791475"/>
            <a:ext cx="7528200" cy="124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Every Migration is tracked in Django.</a:t>
            </a:r>
            <a:endParaRPr/>
          </a:p>
          <a:p>
            <a:pPr indent="0" lvl="0" marL="0" rtl="0" algn="l">
              <a:lnSpc>
                <a:spcPct val="115000"/>
              </a:lnSpc>
              <a:spcBef>
                <a:spcPts val="0"/>
              </a:spcBef>
              <a:spcAft>
                <a:spcPts val="0"/>
              </a:spcAft>
              <a:buSzPts val="1800"/>
              <a:buNone/>
            </a:pPr>
            <a:r>
              <a:t/>
            </a:r>
            <a:endParaRPr/>
          </a:p>
        </p:txBody>
      </p:sp>
      <p:pic>
        <p:nvPicPr>
          <p:cNvPr id="278" name="Google Shape;278;p44"/>
          <p:cNvPicPr preferRelativeResize="0"/>
          <p:nvPr/>
        </p:nvPicPr>
        <p:blipFill rotWithShape="1">
          <a:blip r:embed="rId3">
            <a:alphaModFix/>
          </a:blip>
          <a:srcRect b="0" l="0" r="0" t="0"/>
          <a:stretch/>
        </p:blipFill>
        <p:spPr>
          <a:xfrm>
            <a:off x="346150" y="1741975"/>
            <a:ext cx="6962125" cy="26890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142325" y="59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Migrations</a:t>
            </a:r>
            <a:endParaRPr/>
          </a:p>
        </p:txBody>
      </p:sp>
      <p:sp>
        <p:nvSpPr>
          <p:cNvPr id="284" name="Google Shape;284;p45"/>
          <p:cNvSpPr txBox="1"/>
          <p:nvPr>
            <p:ph idx="1" type="body"/>
          </p:nvPr>
        </p:nvSpPr>
        <p:spPr>
          <a:xfrm>
            <a:off x="141000" y="575225"/>
            <a:ext cx="8862000" cy="1893300"/>
          </a:xfrm>
          <a:prstGeom prst="rect">
            <a:avLst/>
          </a:prstGeom>
        </p:spPr>
        <p:txBody>
          <a:bodyPr anchorCtr="0" anchor="t" bIns="91425" lIns="91425" spcFirstLastPara="1" rIns="91425" wrap="square" tIns="91425">
            <a:normAutofit/>
          </a:bodyPr>
          <a:lstStyle/>
          <a:p>
            <a:pPr indent="-330200" lvl="0" marL="457200" rtl="0" algn="l">
              <a:lnSpc>
                <a:spcPct val="95000"/>
              </a:lnSpc>
              <a:spcBef>
                <a:spcPts val="0"/>
              </a:spcBef>
              <a:spcAft>
                <a:spcPts val="0"/>
              </a:spcAft>
              <a:buSzPts val="1600"/>
              <a:buChar char="●"/>
            </a:pPr>
            <a:r>
              <a:rPr lang="en" sz="1600" u="sng">
                <a:solidFill>
                  <a:schemeClr val="hlink"/>
                </a:solidFill>
                <a:hlinkClick r:id="rId3"/>
              </a:rPr>
              <a:t>What is a Database Schema?</a:t>
            </a:r>
            <a:r>
              <a:rPr lang="en" sz="1600"/>
              <a:t> </a:t>
            </a:r>
            <a:endParaRPr sz="1600"/>
          </a:p>
          <a:p>
            <a:pPr indent="-330200" lvl="0" marL="457200" rtl="0" algn="l">
              <a:lnSpc>
                <a:spcPct val="95000"/>
              </a:lnSpc>
              <a:spcBef>
                <a:spcPts val="0"/>
              </a:spcBef>
              <a:spcAft>
                <a:spcPts val="0"/>
              </a:spcAft>
              <a:buSzPts val="1600"/>
              <a:buChar char="●"/>
            </a:pPr>
            <a:r>
              <a:rPr lang="en" sz="1600" u="sng">
                <a:solidFill>
                  <a:schemeClr val="hlink"/>
                </a:solidFill>
                <a:hlinkClick r:id="rId4"/>
              </a:rPr>
              <a:t>Database Migrations: What are the Types of DB Migrations?</a:t>
            </a:r>
            <a:r>
              <a:rPr lang="en" sz="1600"/>
              <a:t> </a:t>
            </a:r>
            <a:endParaRPr sz="1600"/>
          </a:p>
          <a:p>
            <a:pPr indent="-330200" lvl="0" marL="457200" rtl="0" algn="l">
              <a:lnSpc>
                <a:spcPct val="95000"/>
              </a:lnSpc>
              <a:spcBef>
                <a:spcPts val="0"/>
              </a:spcBef>
              <a:spcAft>
                <a:spcPts val="0"/>
              </a:spcAft>
              <a:buSzPts val="1600"/>
              <a:buChar char="●"/>
            </a:pPr>
            <a:r>
              <a:rPr lang="en" sz="1600" u="sng">
                <a:solidFill>
                  <a:schemeClr val="hlink"/>
                </a:solidFill>
                <a:hlinkClick r:id="rId5"/>
              </a:rPr>
              <a:t>https://developer.mozilla.org/en-US/docs/Learn/Server-side/Django/skeleton_website#running_database_migrations</a:t>
            </a:r>
            <a:r>
              <a:rPr lang="en" sz="1600"/>
              <a:t> </a:t>
            </a:r>
            <a:endParaRPr sz="1600"/>
          </a:p>
          <a:p>
            <a:pPr indent="-330200" lvl="1" marL="914400" rtl="0" algn="l">
              <a:lnSpc>
                <a:spcPct val="95000"/>
              </a:lnSpc>
              <a:spcBef>
                <a:spcPts val="0"/>
              </a:spcBef>
              <a:spcAft>
                <a:spcPts val="0"/>
              </a:spcAft>
              <a:buSzPts val="1600"/>
              <a:buChar char="○"/>
            </a:pPr>
            <a:r>
              <a:rPr lang="en" sz="1500">
                <a:solidFill>
                  <a:srgbClr val="FFE599"/>
                </a:solidFill>
                <a:latin typeface="Arial"/>
                <a:ea typeface="Arial"/>
                <a:cs typeface="Arial"/>
                <a:sym typeface="Arial"/>
              </a:rPr>
              <a:t>python3 manage.py migrate,</a:t>
            </a:r>
            <a:r>
              <a:rPr lang="en" sz="1500">
                <a:solidFill>
                  <a:srgbClr val="FFFFFF"/>
                </a:solidFill>
                <a:latin typeface="Arial"/>
                <a:ea typeface="Arial"/>
                <a:cs typeface="Arial"/>
                <a:sym typeface="Arial"/>
              </a:rPr>
              <a:t> </a:t>
            </a:r>
            <a:r>
              <a:rPr lang="en" sz="1600"/>
              <a:t>which is responsible for applying and unapplying migrations.</a:t>
            </a:r>
            <a:endParaRPr sz="1600"/>
          </a:p>
          <a:p>
            <a:pPr indent="-330200" lvl="1" marL="914400" rtl="0" algn="l">
              <a:lnSpc>
                <a:spcPct val="95000"/>
              </a:lnSpc>
              <a:spcBef>
                <a:spcPts val="0"/>
              </a:spcBef>
              <a:spcAft>
                <a:spcPts val="0"/>
              </a:spcAft>
              <a:buSzPts val="1600"/>
              <a:buChar char="○"/>
            </a:pPr>
            <a:r>
              <a:rPr lang="en" sz="1500">
                <a:solidFill>
                  <a:srgbClr val="FFE599"/>
                </a:solidFill>
                <a:latin typeface="Arial"/>
                <a:ea typeface="Arial"/>
                <a:cs typeface="Arial"/>
                <a:sym typeface="Arial"/>
              </a:rPr>
              <a:t>python3 manage.py </a:t>
            </a:r>
            <a:r>
              <a:rPr lang="en" sz="1500">
                <a:solidFill>
                  <a:srgbClr val="FFFFFF"/>
                </a:solidFill>
                <a:latin typeface="Arial"/>
                <a:ea typeface="Arial"/>
                <a:cs typeface="Arial"/>
                <a:sym typeface="Arial"/>
              </a:rPr>
              <a:t>makemigrations </a:t>
            </a:r>
            <a:r>
              <a:rPr lang="en" sz="1600"/>
              <a:t>which is responsible for creating new migrations based on the changes you have made to your models.</a:t>
            </a:r>
            <a:endParaRPr sz="2100"/>
          </a:p>
        </p:txBody>
      </p:sp>
      <p:pic>
        <p:nvPicPr>
          <p:cNvPr id="285" name="Google Shape;285;p45"/>
          <p:cNvPicPr preferRelativeResize="0"/>
          <p:nvPr/>
        </p:nvPicPr>
        <p:blipFill>
          <a:blip r:embed="rId6">
            <a:alphaModFix/>
          </a:blip>
          <a:stretch>
            <a:fillRect/>
          </a:stretch>
        </p:blipFill>
        <p:spPr>
          <a:xfrm>
            <a:off x="3759931" y="2468525"/>
            <a:ext cx="4364820" cy="2487349"/>
          </a:xfrm>
          <a:prstGeom prst="rect">
            <a:avLst/>
          </a:prstGeom>
          <a:noFill/>
          <a:ln>
            <a:noFill/>
          </a:ln>
        </p:spPr>
      </p:pic>
      <p:sp>
        <p:nvSpPr>
          <p:cNvPr id="286" name="Google Shape;286;p45"/>
          <p:cNvSpPr/>
          <p:nvPr/>
        </p:nvSpPr>
        <p:spPr>
          <a:xfrm>
            <a:off x="976325" y="2815500"/>
            <a:ext cx="2626200" cy="487800"/>
          </a:xfrm>
          <a:prstGeom prst="rightArrow">
            <a:avLst>
              <a:gd fmla="val 50000" name="adj1"/>
              <a:gd fmla="val 5000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Every migration is tracked</a:t>
            </a:r>
            <a:endParaRPr/>
          </a:p>
        </p:txBody>
      </p:sp>
      <p:sp>
        <p:nvSpPr>
          <p:cNvPr id="287" name="Google Shape;287;p45"/>
          <p:cNvSpPr/>
          <p:nvPr/>
        </p:nvSpPr>
        <p:spPr>
          <a:xfrm rot="698633">
            <a:off x="6209559" y="3875056"/>
            <a:ext cx="2513526" cy="947141"/>
          </a:xfrm>
          <a:prstGeom prst="leftArrowCallout">
            <a:avLst>
              <a:gd fmla="val 25000" name="adj1"/>
              <a:gd fmla="val 25000" name="adj2"/>
              <a:gd fmla="val 25000" name="adj3"/>
              <a:gd fmla="val 75000"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List of django tables for handling different users and permissions </a:t>
            </a:r>
            <a:endParaRPr sz="1300"/>
          </a:p>
        </p:txBody>
      </p:sp>
      <p:pic>
        <p:nvPicPr>
          <p:cNvPr id="288" name="Google Shape;288;p45"/>
          <p:cNvPicPr preferRelativeResize="0"/>
          <p:nvPr/>
        </p:nvPicPr>
        <p:blipFill>
          <a:blip r:embed="rId7">
            <a:alphaModFix/>
          </a:blip>
          <a:stretch>
            <a:fillRect/>
          </a:stretch>
        </p:blipFill>
        <p:spPr>
          <a:xfrm>
            <a:off x="265175" y="4104725"/>
            <a:ext cx="3043864" cy="487800"/>
          </a:xfrm>
          <a:prstGeom prst="rect">
            <a:avLst/>
          </a:prstGeom>
          <a:noFill/>
          <a:ln>
            <a:noFill/>
          </a:ln>
        </p:spPr>
      </p:pic>
      <p:sp>
        <p:nvSpPr>
          <p:cNvPr id="289" name="Google Shape;289;p45"/>
          <p:cNvSpPr/>
          <p:nvPr/>
        </p:nvSpPr>
        <p:spPr>
          <a:xfrm>
            <a:off x="169700" y="3584550"/>
            <a:ext cx="2775900" cy="4128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Extension for view database</a:t>
            </a:r>
            <a:endParaRPr/>
          </a:p>
        </p:txBody>
      </p:sp>
      <p:sp>
        <p:nvSpPr>
          <p:cNvPr id="290" name="Google Shape;290;p45"/>
          <p:cNvSpPr/>
          <p:nvPr/>
        </p:nvSpPr>
        <p:spPr>
          <a:xfrm>
            <a:off x="8282150" y="2899925"/>
            <a:ext cx="722100" cy="412800"/>
          </a:xfrm>
          <a:prstGeom prst="leftArrow">
            <a:avLst>
              <a:gd fmla="val 50000" name="adj1"/>
              <a:gd fmla="val 5000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6"/>
          <p:cNvSpPr txBox="1"/>
          <p:nvPr>
            <p:ph type="title"/>
          </p:nvPr>
        </p:nvSpPr>
        <p:spPr>
          <a:xfrm>
            <a:off x="142325" y="59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Database Issue</a:t>
            </a:r>
            <a:endParaRPr/>
          </a:p>
        </p:txBody>
      </p:sp>
      <p:sp>
        <p:nvSpPr>
          <p:cNvPr id="296" name="Google Shape;296;p46"/>
          <p:cNvSpPr txBox="1"/>
          <p:nvPr>
            <p:ph idx="1" type="body"/>
          </p:nvPr>
        </p:nvSpPr>
        <p:spPr>
          <a:xfrm>
            <a:off x="142325" y="688325"/>
            <a:ext cx="8449200" cy="19401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935"/>
              <a:buNone/>
            </a:pPr>
            <a:r>
              <a:rPr lang="en" sz="1530"/>
              <a:t>You can use the admin tool to delete information  from database. Don’t worry if the database gets messed up as this happens when developing an app and working with a database. That is why you have a local database associated with your own development environment. </a:t>
            </a:r>
            <a:endParaRPr sz="1530"/>
          </a:p>
          <a:p>
            <a:pPr indent="0" lvl="0" marL="0" rtl="0" algn="l">
              <a:lnSpc>
                <a:spcPct val="105000"/>
              </a:lnSpc>
              <a:spcBef>
                <a:spcPts val="0"/>
              </a:spcBef>
              <a:spcAft>
                <a:spcPts val="0"/>
              </a:spcAft>
              <a:buSzPts val="935"/>
              <a:buNone/>
            </a:pPr>
            <a:r>
              <a:t/>
            </a:r>
            <a:endParaRPr sz="1530"/>
          </a:p>
          <a:p>
            <a:pPr indent="0" lvl="0" marL="0" rtl="0" algn="l">
              <a:lnSpc>
                <a:spcPct val="105000"/>
              </a:lnSpc>
              <a:spcBef>
                <a:spcPts val="0"/>
              </a:spcBef>
              <a:spcAft>
                <a:spcPts val="0"/>
              </a:spcAft>
              <a:buSzPts val="935"/>
              <a:buNone/>
            </a:pPr>
            <a:r>
              <a:rPr lang="en" sz="1530"/>
              <a:t>If your database is not working: Save the error message and ask for help before running flush, deleting db.sqlite3, or changing migration files. We will choose the recovery steps based on the error.</a:t>
            </a:r>
            <a:endParaRPr sz="1530"/>
          </a:p>
        </p:txBody>
      </p:sp>
      <p:graphicFrame>
        <p:nvGraphicFramePr>
          <p:cNvPr id="297" name="Google Shape;297;p46"/>
          <p:cNvGraphicFramePr/>
          <p:nvPr/>
        </p:nvGraphicFramePr>
        <p:xfrm>
          <a:off x="236550" y="2767500"/>
          <a:ext cx="3000000" cy="3000000"/>
        </p:xfrm>
        <a:graphic>
          <a:graphicData uri="http://schemas.openxmlformats.org/drawingml/2006/table">
            <a:tbl>
              <a:tblPr>
                <a:noFill/>
                <a:tableStyleId>{B04B8266-6B84-4D76-BBC4-F41AC56C74CB}</a:tableStyleId>
              </a:tblPr>
              <a:tblGrid>
                <a:gridCol w="2346675"/>
                <a:gridCol w="3193500"/>
                <a:gridCol w="3130725"/>
              </a:tblGrid>
              <a:tr h="381000">
                <a:tc>
                  <a:txBody>
                    <a:bodyPr/>
                    <a:lstStyle/>
                    <a:p>
                      <a:pPr indent="0" lvl="0" marL="0" rtl="0" algn="ctr">
                        <a:lnSpc>
                          <a:spcPct val="115000"/>
                        </a:lnSpc>
                        <a:spcBef>
                          <a:spcPts val="0"/>
                        </a:spcBef>
                        <a:spcAft>
                          <a:spcPts val="0"/>
                        </a:spcAft>
                        <a:buNone/>
                      </a:pPr>
                      <a:r>
                        <a:rPr b="1" lang="en" sz="1300">
                          <a:solidFill>
                            <a:schemeClr val="dk1"/>
                          </a:solidFill>
                        </a:rPr>
                        <a:t>Goal</a:t>
                      </a:r>
                      <a:endParaRPr b="1" sz="1300">
                        <a:solidFill>
                          <a:schemeClr val="dk1"/>
                        </a:solidFill>
                      </a:endParaRPr>
                    </a:p>
                  </a:txBody>
                  <a:tcPr marT="91425" marB="91425" marR="28575" marL="28575" anchor="b"/>
                </a:tc>
                <a:tc>
                  <a:txBody>
                    <a:bodyPr/>
                    <a:lstStyle/>
                    <a:p>
                      <a:pPr indent="0" lvl="0" marL="0" rtl="0" algn="ctr">
                        <a:lnSpc>
                          <a:spcPct val="115000"/>
                        </a:lnSpc>
                        <a:spcBef>
                          <a:spcPts val="0"/>
                        </a:spcBef>
                        <a:spcAft>
                          <a:spcPts val="0"/>
                        </a:spcAft>
                        <a:buNone/>
                      </a:pPr>
                      <a:r>
                        <a:rPr b="1" lang="en" sz="1300">
                          <a:solidFill>
                            <a:schemeClr val="dk1"/>
                          </a:solidFill>
                        </a:rPr>
                        <a:t>Command</a:t>
                      </a:r>
                      <a:endParaRPr b="1" sz="1300">
                        <a:solidFill>
                          <a:schemeClr val="dk1"/>
                        </a:solidFill>
                      </a:endParaRPr>
                    </a:p>
                  </a:txBody>
                  <a:tcPr marT="91425" marB="91425" marR="28575" marL="28575" anchor="b"/>
                </a:tc>
                <a:tc>
                  <a:txBody>
                    <a:bodyPr/>
                    <a:lstStyle/>
                    <a:p>
                      <a:pPr indent="0" lvl="0" marL="0" rtl="0" algn="ctr">
                        <a:lnSpc>
                          <a:spcPct val="115000"/>
                        </a:lnSpc>
                        <a:spcBef>
                          <a:spcPts val="0"/>
                        </a:spcBef>
                        <a:spcAft>
                          <a:spcPts val="0"/>
                        </a:spcAft>
                        <a:buNone/>
                      </a:pPr>
                      <a:r>
                        <a:rPr b="1" lang="en" sz="1300">
                          <a:solidFill>
                            <a:schemeClr val="dk1"/>
                          </a:solidFill>
                        </a:rPr>
                        <a:t>Result</a:t>
                      </a:r>
                      <a:endParaRPr b="1" sz="1300">
                        <a:solidFill>
                          <a:schemeClr val="dk1"/>
                        </a:solidFill>
                      </a:endParaRPr>
                    </a:p>
                  </a:txBody>
                  <a:tcPr marT="91425" marB="91425" marR="28575" marL="28575" anchor="b"/>
                </a:tc>
              </a:tr>
              <a:tr h="381000">
                <a:tc>
                  <a:txBody>
                    <a:bodyPr/>
                    <a:lstStyle/>
                    <a:p>
                      <a:pPr indent="0" lvl="0" marL="0" rtl="0" algn="l">
                        <a:lnSpc>
                          <a:spcPct val="115000"/>
                        </a:lnSpc>
                        <a:spcBef>
                          <a:spcPts val="0"/>
                        </a:spcBef>
                        <a:spcAft>
                          <a:spcPts val="0"/>
                        </a:spcAft>
                        <a:buNone/>
                      </a:pPr>
                      <a:r>
                        <a:rPr lang="en" sz="1300">
                          <a:solidFill>
                            <a:schemeClr val="dk1"/>
                          </a:solidFill>
                        </a:rPr>
                        <a:t>Clear all records but keep the tables</a:t>
                      </a:r>
                      <a:endParaRPr sz="13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300">
                          <a:solidFill>
                            <a:schemeClr val="dk1"/>
                          </a:solidFill>
                        </a:rPr>
                        <a:t>python manage.py flush</a:t>
                      </a:r>
                      <a:endParaRPr sz="13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300">
                          <a:solidFill>
                            <a:schemeClr val="dk1"/>
                          </a:solidFill>
                        </a:rPr>
                        <a:t>Deletes Student records and the superuser. Migrations remain applied; migrate usually has nothing to do.</a:t>
                      </a:r>
                      <a:endParaRPr sz="1300">
                        <a:solidFill>
                          <a:schemeClr val="dk1"/>
                        </a:solidFill>
                      </a:endParaRPr>
                    </a:p>
                  </a:txBody>
                  <a:tcPr marT="91425" marB="91425" marR="91425" marL="91425" anchor="b">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300">
                          <a:solidFill>
                            <a:schemeClr val="dk1"/>
                          </a:solidFill>
                        </a:rPr>
                        <a:t>Rebuild a broken local SQLite database</a:t>
                      </a:r>
                      <a:endParaRPr sz="13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300">
                          <a:solidFill>
                            <a:schemeClr val="dk1"/>
                          </a:solidFill>
                        </a:rPr>
                        <a:t>Delete db.sqlite3, then run python manage.py migrate</a:t>
                      </a:r>
                      <a:endParaRPr sz="13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300">
                          <a:solidFill>
                            <a:schemeClr val="dk1"/>
                          </a:solidFill>
                        </a:rPr>
                        <a:t>Recreates the tables from migration files. Records and the superuser must be created again.</a:t>
                      </a:r>
                      <a:endParaRPr sz="1300">
                        <a:solidFill>
                          <a:schemeClr val="dk1"/>
                        </a:solidFill>
                      </a:endParaRPr>
                    </a:p>
                  </a:txBody>
                  <a:tcPr marT="91425" marB="91425" marR="91425" marL="91425" anchor="b">
                    <a:lnR cap="flat" cmpd="sng" w="9525">
                      <a:solidFill>
                        <a:srgbClr val="000000"/>
                      </a:solidFill>
                      <a:prstDash val="solid"/>
                      <a:round/>
                      <a:headEnd len="sm" w="sm" type="none"/>
                      <a:tailEnd len="sm" w="sm" type="none"/>
                    </a:lnR>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t>Lab: </a:t>
            </a:r>
            <a:r>
              <a:rPr lang="en" sz="2220"/>
              <a:t>admin and identity field</a:t>
            </a:r>
            <a:endParaRPr sz="2220"/>
          </a:p>
        </p:txBody>
      </p:sp>
      <p:sp>
        <p:nvSpPr>
          <p:cNvPr id="303" name="Google Shape;303;p47"/>
          <p:cNvSpPr txBox="1"/>
          <p:nvPr>
            <p:ph idx="1" type="body"/>
          </p:nvPr>
        </p:nvSpPr>
        <p:spPr>
          <a:xfrm>
            <a:off x="311700" y="1152475"/>
            <a:ext cx="8520600" cy="3416400"/>
          </a:xfrm>
          <a:prstGeom prst="rect">
            <a:avLst/>
          </a:prstGeom>
          <a:solidFill>
            <a:srgbClr val="674EA7"/>
          </a:solidFill>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latin typeface="Lexend"/>
                <a:ea typeface="Lexend"/>
                <a:cs typeface="Lexend"/>
                <a:sym typeface="Lexend"/>
              </a:rPr>
              <a:t>Complete Steps 6–7: create the superuser, register Student, add two records, inspect their IDs</a:t>
            </a:r>
            <a:endParaRPr sz="1400">
              <a:solidFill>
                <a:schemeClr val="dk1"/>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8"/>
          <p:cNvSpPr/>
          <p:nvPr/>
        </p:nvSpPr>
        <p:spPr>
          <a:xfrm>
            <a:off x="1783775" y="230975"/>
            <a:ext cx="5065500" cy="3397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48"/>
          <p:cNvSpPr txBox="1"/>
          <p:nvPr>
            <p:ph idx="1" type="subTitle"/>
          </p:nvPr>
        </p:nvSpPr>
        <p:spPr>
          <a:xfrm>
            <a:off x="406950" y="3528225"/>
            <a:ext cx="8520600" cy="1329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SzPts val="2400"/>
              <a:buNone/>
            </a:pPr>
            <a:r>
              <a:rPr lang="en" sz="3200"/>
              <a:t>Django ORM</a:t>
            </a:r>
            <a:endParaRPr sz="3200"/>
          </a:p>
          <a:p>
            <a:pPr indent="0" lvl="0" marL="0" rtl="0" algn="ctr">
              <a:spcBef>
                <a:spcPts val="0"/>
              </a:spcBef>
              <a:spcAft>
                <a:spcPts val="0"/>
              </a:spcAft>
              <a:buNone/>
            </a:pPr>
            <a:r>
              <a:rPr lang="en" sz="3200"/>
              <a:t>Models, Database and Queries</a:t>
            </a:r>
            <a:endParaRPr sz="3200"/>
          </a:p>
        </p:txBody>
      </p:sp>
      <p:pic>
        <p:nvPicPr>
          <p:cNvPr id="310" name="Google Shape;310;p48"/>
          <p:cNvPicPr preferRelativeResize="0"/>
          <p:nvPr/>
        </p:nvPicPr>
        <p:blipFill>
          <a:blip r:embed="rId3">
            <a:alphaModFix/>
          </a:blip>
          <a:stretch>
            <a:fillRect/>
          </a:stretch>
        </p:blipFill>
        <p:spPr>
          <a:xfrm>
            <a:off x="2109295" y="248850"/>
            <a:ext cx="3813231" cy="32793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9"/>
          <p:cNvSpPr txBox="1"/>
          <p:nvPr>
            <p:ph type="title"/>
          </p:nvPr>
        </p:nvSpPr>
        <p:spPr>
          <a:xfrm>
            <a:off x="311700" y="266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does the ORM do?</a:t>
            </a:r>
            <a:endParaRPr/>
          </a:p>
        </p:txBody>
      </p:sp>
      <p:sp>
        <p:nvSpPr>
          <p:cNvPr id="316" name="Google Shape;316;p49"/>
          <p:cNvSpPr txBox="1"/>
          <p:nvPr>
            <p:ph idx="1" type="body"/>
          </p:nvPr>
        </p:nvSpPr>
        <p:spPr>
          <a:xfrm>
            <a:off x="274000" y="781875"/>
            <a:ext cx="8520600" cy="230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A database stores information in tables. In this project, the Student model corresponds to the portfolio_app_student table. Each Student object represents a record (row), and fields such as name and major correspond to columns.</a:t>
            </a:r>
            <a:endParaRPr sz="1400"/>
          </a:p>
          <a:p>
            <a:pPr indent="0" lvl="0" marL="0" rtl="0" algn="l">
              <a:spcBef>
                <a:spcPts val="0"/>
              </a:spcBef>
              <a:spcAft>
                <a:spcPts val="0"/>
              </a:spcAft>
              <a:buNone/>
            </a:pPr>
            <a:r>
              <a:rPr lang="en" sz="1400"/>
              <a:t>The Django ORM (Object-Relational Mapper) lets us work with those records using Python. Django translates ORM queries into SQL, the language the database understands.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u="sng">
                <a:solidFill>
                  <a:schemeClr val="hlink"/>
                </a:solidFill>
                <a:hlinkClick r:id="rId3"/>
              </a:rPr>
              <a:t>SQLBolt - Learn SQL - SQL Lesson 1: SELECT queries 101</a:t>
            </a:r>
            <a:r>
              <a:rPr lang="en" sz="1400"/>
              <a:t> </a:t>
            </a:r>
            <a:endParaRPr sz="1400"/>
          </a:p>
          <a:p>
            <a:pPr indent="0" lvl="0" marL="0" rtl="0" algn="l">
              <a:spcBef>
                <a:spcPts val="0"/>
              </a:spcBef>
              <a:spcAft>
                <a:spcPts val="0"/>
              </a:spcAft>
              <a:buNone/>
            </a:pPr>
            <a:r>
              <a:rPr lang="en" sz="1400" u="sng">
                <a:solidFill>
                  <a:schemeClr val="hlink"/>
                </a:solidFill>
                <a:hlinkClick r:id="rId4"/>
              </a:rPr>
              <a:t>SQLBolt - Learn SQL - SQL Lesson 2: Queries with constraints (Pt. 1)</a:t>
            </a:r>
            <a:r>
              <a:rPr lang="en" sz="1400"/>
              <a:t> </a:t>
            </a:r>
            <a:endParaRPr sz="1400"/>
          </a:p>
        </p:txBody>
      </p:sp>
      <p:graphicFrame>
        <p:nvGraphicFramePr>
          <p:cNvPr id="317" name="Google Shape;317;p49"/>
          <p:cNvGraphicFramePr/>
          <p:nvPr/>
        </p:nvGraphicFramePr>
        <p:xfrm>
          <a:off x="368450" y="2956475"/>
          <a:ext cx="3000000" cy="3000000"/>
        </p:xfrm>
        <a:graphic>
          <a:graphicData uri="http://schemas.openxmlformats.org/drawingml/2006/table">
            <a:tbl>
              <a:tblPr>
                <a:noFill/>
                <a:tableStyleId>{B04B8266-6B84-4D76-BBC4-F41AC56C74CB}</a:tableStyleId>
              </a:tblPr>
              <a:tblGrid>
                <a:gridCol w="2950025"/>
                <a:gridCol w="2215250"/>
                <a:gridCol w="3260900"/>
              </a:tblGrid>
              <a:tr h="100000">
                <a:tc>
                  <a:txBody>
                    <a:bodyPr/>
                    <a:lstStyle/>
                    <a:p>
                      <a:pPr indent="0" lvl="0" marL="0" rtl="0" algn="ctr">
                        <a:lnSpc>
                          <a:spcPct val="115000"/>
                        </a:lnSpc>
                        <a:spcBef>
                          <a:spcPts val="0"/>
                        </a:spcBef>
                        <a:spcAft>
                          <a:spcPts val="0"/>
                        </a:spcAft>
                        <a:buNone/>
                      </a:pPr>
                      <a:r>
                        <a:rPr b="1" lang="en" sz="1200">
                          <a:solidFill>
                            <a:schemeClr val="dk1"/>
                          </a:solidFill>
                        </a:rPr>
                        <a:t>Django ORM query</a:t>
                      </a:r>
                      <a:endParaRPr b="1" sz="1200">
                        <a:solidFill>
                          <a:schemeClr val="dk1"/>
                        </a:solidFill>
                      </a:endParaRPr>
                    </a:p>
                  </a:txBody>
                  <a:tcPr marT="91425" marB="91425" marR="28575" marL="28575" anchor="b"/>
                </a:tc>
                <a:tc>
                  <a:txBody>
                    <a:bodyPr/>
                    <a:lstStyle/>
                    <a:p>
                      <a:pPr indent="0" lvl="0" marL="0" rtl="0" algn="ctr">
                        <a:lnSpc>
                          <a:spcPct val="115000"/>
                        </a:lnSpc>
                        <a:spcBef>
                          <a:spcPts val="0"/>
                        </a:spcBef>
                        <a:spcAft>
                          <a:spcPts val="0"/>
                        </a:spcAft>
                        <a:buNone/>
                      </a:pPr>
                      <a:r>
                        <a:rPr b="1" lang="en" sz="1200">
                          <a:solidFill>
                            <a:schemeClr val="dk1"/>
                          </a:solidFill>
                        </a:rPr>
                        <a:t>What it asks for</a:t>
                      </a:r>
                      <a:endParaRPr b="1" sz="1200">
                        <a:solidFill>
                          <a:schemeClr val="dk1"/>
                        </a:solidFill>
                      </a:endParaRPr>
                    </a:p>
                  </a:txBody>
                  <a:tcPr marT="91425" marB="91425" marR="28575" marL="28575" anchor="b"/>
                </a:tc>
                <a:tc>
                  <a:txBody>
                    <a:bodyPr/>
                    <a:lstStyle/>
                    <a:p>
                      <a:pPr indent="0" lvl="0" marL="0" rtl="0" algn="ctr">
                        <a:lnSpc>
                          <a:spcPct val="115000"/>
                        </a:lnSpc>
                        <a:spcBef>
                          <a:spcPts val="0"/>
                        </a:spcBef>
                        <a:spcAft>
                          <a:spcPts val="0"/>
                        </a:spcAft>
                        <a:buNone/>
                      </a:pPr>
                      <a:r>
                        <a:rPr b="1" lang="en" sz="1200">
                          <a:solidFill>
                            <a:schemeClr val="dk1"/>
                          </a:solidFill>
                        </a:rPr>
                        <a:t>SQL idea</a:t>
                      </a:r>
                      <a:endParaRPr b="1" sz="1200">
                        <a:solidFill>
                          <a:schemeClr val="dk1"/>
                        </a:solidFill>
                      </a:endParaRPr>
                    </a:p>
                  </a:txBody>
                  <a:tcPr marT="91425" marB="91425" marR="28575" marL="28575" anchor="b"/>
                </a:tc>
              </a:tr>
              <a:tr h="381000">
                <a:tc>
                  <a:txBody>
                    <a:bodyPr/>
                    <a:lstStyle/>
                    <a:p>
                      <a:pPr indent="0" lvl="0" marL="0" rtl="0" algn="l">
                        <a:lnSpc>
                          <a:spcPct val="115000"/>
                        </a:lnSpc>
                        <a:spcBef>
                          <a:spcPts val="0"/>
                        </a:spcBef>
                        <a:spcAft>
                          <a:spcPts val="0"/>
                        </a:spcAft>
                        <a:buNone/>
                      </a:pPr>
                      <a:r>
                        <a:rPr lang="en" sz="1200">
                          <a:solidFill>
                            <a:schemeClr val="dk1"/>
                          </a:solidFill>
                        </a:rPr>
                        <a:t>Student.objects.all()</a:t>
                      </a:r>
                      <a:endParaRPr sz="12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200">
                          <a:solidFill>
                            <a:schemeClr val="dk1"/>
                          </a:solidFill>
                        </a:rPr>
                        <a:t>All Student records</a:t>
                      </a:r>
                      <a:endParaRPr sz="12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200">
                          <a:solidFill>
                            <a:schemeClr val="dk1"/>
                          </a:solidFill>
                        </a:rPr>
                        <a:t>SELECT ... FROM portfolio_app_student</a:t>
                      </a:r>
                      <a:endParaRPr sz="1200">
                        <a:solidFill>
                          <a:schemeClr val="dk1"/>
                        </a:solidFill>
                      </a:endParaRPr>
                    </a:p>
                  </a:txBody>
                  <a:tcPr marT="91425" marB="91425" marR="91425" marL="91425" anchor="b">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solidFill>
                            <a:schemeClr val="dk1"/>
                          </a:solidFill>
                        </a:rPr>
                        <a:t>Student.objects.filter(major="CSCI-BS")</a:t>
                      </a:r>
                      <a:endParaRPr sz="12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200">
                          <a:solidFill>
                            <a:schemeClr val="dk1"/>
                          </a:solidFill>
                        </a:rPr>
                        <a:t>Students with this major</a:t>
                      </a:r>
                      <a:endParaRPr sz="12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200">
                          <a:solidFill>
                            <a:schemeClr val="dk1"/>
                          </a:solidFill>
                        </a:rPr>
                        <a:t>SELECT ... WHERE major = 'CSCI-BS'</a:t>
                      </a:r>
                      <a:endParaRPr sz="1200">
                        <a:solidFill>
                          <a:schemeClr val="dk1"/>
                        </a:solidFill>
                      </a:endParaRPr>
                    </a:p>
                  </a:txBody>
                  <a:tcPr marT="91425" marB="91425" marR="91425" marL="91425" anchor="b">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solidFill>
                            <a:schemeClr val="dk1"/>
                          </a:solidFill>
                        </a:rPr>
                        <a:t>Student.objects.count()</a:t>
                      </a:r>
                      <a:endParaRPr sz="12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200">
                          <a:solidFill>
                            <a:schemeClr val="dk1"/>
                          </a:solidFill>
                        </a:rPr>
                        <a:t>Number of Student records</a:t>
                      </a:r>
                      <a:endParaRPr sz="12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200">
                          <a:solidFill>
                            <a:schemeClr val="dk1"/>
                          </a:solidFill>
                        </a:rPr>
                        <a:t>SELECT COUNT(*) ...</a:t>
                      </a:r>
                      <a:endParaRPr sz="1200">
                        <a:solidFill>
                          <a:schemeClr val="dk1"/>
                        </a:solidFill>
                      </a:endParaRPr>
                    </a:p>
                  </a:txBody>
                  <a:tcPr marT="91425" marB="91425" marR="28575" marL="28575" anchor="b"/>
                </a:tc>
              </a:tr>
              <a:tr h="381000">
                <a:tc>
                  <a:txBody>
                    <a:bodyPr/>
                    <a:lstStyle/>
                    <a:p>
                      <a:pPr indent="0" lvl="0" marL="0" rtl="0" algn="l">
                        <a:lnSpc>
                          <a:spcPct val="115000"/>
                        </a:lnSpc>
                        <a:spcBef>
                          <a:spcPts val="0"/>
                        </a:spcBef>
                        <a:spcAft>
                          <a:spcPts val="0"/>
                        </a:spcAft>
                        <a:buNone/>
                      </a:pPr>
                      <a:r>
                        <a:rPr lang="en" sz="1200">
                          <a:solidFill>
                            <a:schemeClr val="dk1"/>
                          </a:solidFill>
                        </a:rPr>
                        <a:t>Student.objects.first()</a:t>
                      </a:r>
                      <a:endParaRPr sz="12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200">
                          <a:solidFill>
                            <a:schemeClr val="dk1"/>
                          </a:solidFill>
                        </a:rPr>
                        <a:t>The first Student record</a:t>
                      </a:r>
                      <a:endParaRPr sz="1200">
                        <a:solidFill>
                          <a:schemeClr val="dk1"/>
                        </a:solidFill>
                      </a:endParaRPr>
                    </a:p>
                  </a:txBody>
                  <a:tcPr marT="91425" marB="91425" marR="28575" marL="28575" anchor="b"/>
                </a:tc>
                <a:tc>
                  <a:txBody>
                    <a:bodyPr/>
                    <a:lstStyle/>
                    <a:p>
                      <a:pPr indent="0" lvl="0" marL="0" rtl="0" algn="l">
                        <a:lnSpc>
                          <a:spcPct val="115000"/>
                        </a:lnSpc>
                        <a:spcBef>
                          <a:spcPts val="0"/>
                        </a:spcBef>
                        <a:spcAft>
                          <a:spcPts val="0"/>
                        </a:spcAft>
                        <a:buNone/>
                      </a:pPr>
                      <a:r>
                        <a:rPr lang="en" sz="1200">
                          <a:solidFill>
                            <a:schemeClr val="dk1"/>
                          </a:solidFill>
                        </a:rPr>
                        <a:t>SELECT ... LIMIT 1</a:t>
                      </a:r>
                      <a:endParaRPr sz="1200">
                        <a:solidFill>
                          <a:schemeClr val="dk1"/>
                        </a:solidFill>
                      </a:endParaRPr>
                    </a:p>
                  </a:txBody>
                  <a:tcPr marT="91425" marB="91425" marR="28575" marL="28575" anchor="b"/>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0"/>
          <p:cNvSpPr txBox="1"/>
          <p:nvPr/>
        </p:nvSpPr>
        <p:spPr>
          <a:xfrm>
            <a:off x="4548125" y="756550"/>
            <a:ext cx="3912300" cy="1602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3F3F3"/>
                </a:solidFill>
                <a:latin typeface="Lato"/>
                <a:ea typeface="Lato"/>
                <a:cs typeface="Lato"/>
                <a:sym typeface="Lato"/>
              </a:rPr>
              <a:t>Django operation to perform query </a:t>
            </a:r>
            <a:endParaRPr b="0" i="0" sz="1800" u="none" cap="none" strike="noStrike">
              <a:solidFill>
                <a:srgbClr val="F3F3F3"/>
              </a:solidFill>
              <a:latin typeface="Lato"/>
              <a:ea typeface="Lato"/>
              <a:cs typeface="Lato"/>
              <a:sym typeface="Lato"/>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3F3F3"/>
                </a:solidFill>
                <a:latin typeface="Lato"/>
                <a:ea typeface="Lato"/>
                <a:cs typeface="Lato"/>
                <a:sym typeface="Lato"/>
              </a:rPr>
              <a:t>using model class</a:t>
            </a:r>
            <a:endParaRPr b="0" i="0" sz="1800" u="none" cap="none" strike="noStrike">
              <a:solidFill>
                <a:srgbClr val="F3F3F3"/>
              </a:solidFill>
              <a:latin typeface="Lato"/>
              <a:ea typeface="Lato"/>
              <a:cs typeface="Lato"/>
              <a:sym typeface="Lato"/>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3F3F3"/>
                </a:solidFill>
                <a:latin typeface="Lato"/>
                <a:ea typeface="Lato"/>
                <a:cs typeface="Lato"/>
                <a:sym typeface="Lato"/>
              </a:rPr>
              <a:t>	</a:t>
            </a:r>
            <a:r>
              <a:rPr lang="en" sz="3000">
                <a:solidFill>
                  <a:srgbClr val="F3F3F3"/>
                </a:solidFill>
                <a:latin typeface="Lato"/>
                <a:ea typeface="Lato"/>
                <a:cs typeface="Lato"/>
                <a:sym typeface="Lato"/>
              </a:rPr>
              <a:t>S</a:t>
            </a:r>
            <a:r>
              <a:rPr b="0" i="0" lang="en" sz="3000" u="none" cap="none" strike="noStrike">
                <a:solidFill>
                  <a:srgbClr val="F3F3F3"/>
                </a:solidFill>
                <a:latin typeface="Lato"/>
                <a:ea typeface="Lato"/>
                <a:cs typeface="Lato"/>
                <a:sym typeface="Lato"/>
              </a:rPr>
              <a:t>tudent.objects.all()</a:t>
            </a:r>
            <a:endParaRPr b="0" i="0" sz="1400" u="none" cap="none" strike="noStrike">
              <a:solidFill>
                <a:srgbClr val="000000"/>
              </a:solidFill>
              <a:latin typeface="Arial"/>
              <a:ea typeface="Arial"/>
              <a:cs typeface="Arial"/>
              <a:sym typeface="Arial"/>
            </a:endParaRPr>
          </a:p>
        </p:txBody>
      </p:sp>
      <p:sp>
        <p:nvSpPr>
          <p:cNvPr id="323" name="Google Shape;323;p50"/>
          <p:cNvSpPr txBox="1"/>
          <p:nvPr>
            <p:ph type="title"/>
          </p:nvPr>
        </p:nvSpPr>
        <p:spPr>
          <a:xfrm>
            <a:off x="311700" y="1354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Django Model Manager and QuerySet API</a:t>
            </a:r>
            <a:endParaRPr/>
          </a:p>
        </p:txBody>
      </p:sp>
      <p:sp>
        <p:nvSpPr>
          <p:cNvPr id="324" name="Google Shape;324;p50"/>
          <p:cNvSpPr txBox="1"/>
          <p:nvPr>
            <p:ph idx="1" type="body"/>
          </p:nvPr>
        </p:nvSpPr>
        <p:spPr>
          <a:xfrm>
            <a:off x="5305500" y="3920000"/>
            <a:ext cx="3396000" cy="926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SQL query</a:t>
            </a:r>
            <a:endParaRPr/>
          </a:p>
          <a:p>
            <a:pPr indent="457200" lvl="0" marL="0" rtl="0" algn="l">
              <a:lnSpc>
                <a:spcPct val="115000"/>
              </a:lnSpc>
              <a:spcBef>
                <a:spcPts val="0"/>
              </a:spcBef>
              <a:spcAft>
                <a:spcPts val="0"/>
              </a:spcAft>
              <a:buSzPts val="1800"/>
              <a:buNone/>
            </a:pPr>
            <a:r>
              <a:rPr lang="en" sz="2300"/>
              <a:t>select * from student</a:t>
            </a:r>
            <a:endParaRPr sz="3000"/>
          </a:p>
        </p:txBody>
      </p:sp>
      <p:pic>
        <p:nvPicPr>
          <p:cNvPr id="325" name="Google Shape;325;p50"/>
          <p:cNvPicPr preferRelativeResize="0"/>
          <p:nvPr/>
        </p:nvPicPr>
        <p:blipFill rotWithShape="1">
          <a:blip r:embed="rId3">
            <a:alphaModFix/>
          </a:blip>
          <a:srcRect b="0" l="9112" r="7058" t="3873"/>
          <a:stretch/>
        </p:blipFill>
        <p:spPr>
          <a:xfrm>
            <a:off x="62650" y="3841550"/>
            <a:ext cx="4952274" cy="1083600"/>
          </a:xfrm>
          <a:prstGeom prst="rect">
            <a:avLst/>
          </a:prstGeom>
          <a:noFill/>
          <a:ln>
            <a:noFill/>
          </a:ln>
        </p:spPr>
      </p:pic>
      <p:sp>
        <p:nvSpPr>
          <p:cNvPr id="326" name="Google Shape;326;p50"/>
          <p:cNvSpPr/>
          <p:nvPr/>
        </p:nvSpPr>
        <p:spPr>
          <a:xfrm rot="1106097">
            <a:off x="4153695" y="2244285"/>
            <a:ext cx="965760" cy="654876"/>
          </a:xfrm>
          <a:prstGeom prst="up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327" name="Google Shape;327;p50"/>
          <p:cNvSpPr/>
          <p:nvPr/>
        </p:nvSpPr>
        <p:spPr>
          <a:xfrm>
            <a:off x="5706875" y="2268850"/>
            <a:ext cx="1693200" cy="844500"/>
          </a:xfrm>
          <a:prstGeom prst="up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Default manager for every model </a:t>
            </a:r>
            <a:endParaRPr b="0" i="0" sz="1400" u="none" cap="none" strike="noStrike">
              <a:solidFill>
                <a:srgbClr val="000000"/>
              </a:solidFill>
              <a:latin typeface="Arial"/>
              <a:ea typeface="Arial"/>
              <a:cs typeface="Arial"/>
              <a:sym typeface="Arial"/>
            </a:endParaRPr>
          </a:p>
        </p:txBody>
      </p:sp>
      <p:sp>
        <p:nvSpPr>
          <p:cNvPr id="328" name="Google Shape;328;p50"/>
          <p:cNvSpPr/>
          <p:nvPr/>
        </p:nvSpPr>
        <p:spPr>
          <a:xfrm rot="-940165">
            <a:off x="7563029" y="2402363"/>
            <a:ext cx="1437316" cy="916646"/>
          </a:xfrm>
          <a:prstGeom prst="up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QuerySet API method</a:t>
            </a:r>
            <a:endParaRPr b="0" i="0" sz="1400" u="none" cap="none" strike="noStrike">
              <a:solidFill>
                <a:srgbClr val="000000"/>
              </a:solidFill>
              <a:latin typeface="Arial"/>
              <a:ea typeface="Arial"/>
              <a:cs typeface="Arial"/>
              <a:sym typeface="Arial"/>
            </a:endParaRPr>
          </a:p>
        </p:txBody>
      </p:sp>
      <p:sp>
        <p:nvSpPr>
          <p:cNvPr id="329" name="Google Shape;329;p50"/>
          <p:cNvSpPr txBox="1"/>
          <p:nvPr/>
        </p:nvSpPr>
        <p:spPr>
          <a:xfrm>
            <a:off x="62650" y="839325"/>
            <a:ext cx="4012200" cy="1287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n" sz="1700" u="none" cap="none" strike="noStrike">
                <a:solidFill>
                  <a:srgbClr val="F3F3F3"/>
                </a:solidFill>
                <a:latin typeface="Lato"/>
                <a:ea typeface="Lato"/>
                <a:cs typeface="Lato"/>
                <a:sym typeface="Lato"/>
              </a:rPr>
              <a:t>Once you create the data models Django provides the  model manager to  </a:t>
            </a:r>
            <a:r>
              <a:rPr b="0" i="0" lang="en" sz="1700" u="sng" cap="none" strike="noStrike">
                <a:solidFill>
                  <a:schemeClr val="accent5"/>
                </a:solidFill>
                <a:latin typeface="Lato"/>
                <a:ea typeface="Lato"/>
                <a:cs typeface="Lato"/>
                <a:sym typeface="Lato"/>
                <a:hlinkClick r:id="rId4">
                  <a:extLst>
                    <a:ext uri="{A12FA001-AC4F-418D-AE19-62706E023703}">
                      <ahyp:hlinkClr val="tx"/>
                    </a:ext>
                  </a:extLst>
                </a:hlinkClick>
              </a:rPr>
              <a:t> query </a:t>
            </a:r>
            <a:r>
              <a:rPr b="0" i="0" lang="en" sz="1700" u="none" cap="none" strike="noStrike">
                <a:solidFill>
                  <a:srgbClr val="F3F3F3"/>
                </a:solidFill>
                <a:latin typeface="Lato"/>
                <a:ea typeface="Lato"/>
                <a:cs typeface="Lato"/>
                <a:sym typeface="Lato"/>
              </a:rPr>
              <a:t>the database using </a:t>
            </a:r>
            <a:r>
              <a:rPr b="0" i="0" lang="en" sz="1700" u="sng" cap="none" strike="noStrike">
                <a:solidFill>
                  <a:schemeClr val="hlink"/>
                </a:solidFill>
                <a:latin typeface="Arial"/>
                <a:ea typeface="Arial"/>
                <a:cs typeface="Arial"/>
                <a:sym typeface="Arial"/>
                <a:hlinkClick r:id="rId5"/>
              </a:rPr>
              <a:t>QuerySet API</a:t>
            </a:r>
            <a:r>
              <a:rPr b="0" i="0" lang="en" sz="1700" u="none" cap="none" strike="noStrike">
                <a:solidFill>
                  <a:srgbClr val="F3F3F3"/>
                </a:solidFill>
                <a:latin typeface="Lato"/>
                <a:ea typeface="Lato"/>
                <a:cs typeface="Lato"/>
                <a:sym typeface="Lato"/>
              </a:rPr>
              <a:t>. </a:t>
            </a:r>
            <a:endParaRPr b="0" i="0" sz="1700" u="none" cap="none" strike="noStrike">
              <a:solidFill>
                <a:srgbClr val="F3F3F3"/>
              </a:solidFill>
              <a:latin typeface="Lato"/>
              <a:ea typeface="Lato"/>
              <a:cs typeface="Lato"/>
              <a:sym typeface="Lato"/>
            </a:endParaRPr>
          </a:p>
          <a:p>
            <a:pPr indent="0" lvl="0" marL="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type="title"/>
          </p:nvPr>
        </p:nvSpPr>
        <p:spPr>
          <a:xfrm>
            <a:off x="311700" y="1499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Python Shell</a:t>
            </a:r>
            <a:endParaRPr/>
          </a:p>
        </p:txBody>
      </p:sp>
      <p:sp>
        <p:nvSpPr>
          <p:cNvPr id="335" name="Google Shape;335;p51"/>
          <p:cNvSpPr txBox="1"/>
          <p:nvPr>
            <p:ph idx="1" type="body"/>
          </p:nvPr>
        </p:nvSpPr>
        <p:spPr>
          <a:xfrm>
            <a:off x="240250" y="722625"/>
            <a:ext cx="8520600" cy="1199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You can use the python shell to perform commands to see how they work.  Here we will define a collection of objects from the database. </a:t>
            </a:r>
            <a:endParaRPr/>
          </a:p>
          <a:p>
            <a:pPr indent="0" lvl="0" marL="0" rtl="0" algn="l">
              <a:lnSpc>
                <a:spcPct val="115000"/>
              </a:lnSpc>
              <a:spcBef>
                <a:spcPts val="0"/>
              </a:spcBef>
              <a:spcAft>
                <a:spcPts val="0"/>
              </a:spcAft>
              <a:buSzPts val="1800"/>
              <a:buNone/>
            </a:pPr>
            <a:r>
              <a:t/>
            </a:r>
            <a:endParaRPr sz="1100"/>
          </a:p>
          <a:p>
            <a:pPr indent="0" lvl="0" marL="0" rtl="0" algn="l">
              <a:lnSpc>
                <a:spcPct val="115000"/>
              </a:lnSpc>
              <a:spcBef>
                <a:spcPts val="0"/>
              </a:spcBef>
              <a:spcAft>
                <a:spcPts val="0"/>
              </a:spcAft>
              <a:buSzPts val="1800"/>
              <a:buNone/>
            </a:pPr>
            <a:r>
              <a:rPr lang="en"/>
              <a:t>Start python shell:   python manage.py shell </a:t>
            </a:r>
            <a:endParaRPr/>
          </a:p>
        </p:txBody>
      </p:sp>
      <p:sp>
        <p:nvSpPr>
          <p:cNvPr id="336" name="Google Shape;336;p51"/>
          <p:cNvSpPr txBox="1"/>
          <p:nvPr/>
        </p:nvSpPr>
        <p:spPr>
          <a:xfrm>
            <a:off x="240250" y="1809775"/>
            <a:ext cx="8832300" cy="3231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50"/>
              <a:buFont typeface="Arial"/>
              <a:buNone/>
            </a:pPr>
            <a:r>
              <a:rPr b="0" i="0" lang="en" sz="1450" u="none" cap="none" strike="noStrike">
                <a:solidFill>
                  <a:srgbClr val="CFE2F3"/>
                </a:solidFill>
                <a:latin typeface="Arial"/>
                <a:ea typeface="Arial"/>
                <a:cs typeface="Arial"/>
                <a:sym typeface="Arial"/>
              </a:rPr>
              <a:t>&gt;&gt;&gt; from portfolio_app.models import Student</a:t>
            </a:r>
            <a:endParaRPr b="0" i="0" sz="1450" u="none" cap="none" strike="noStrike">
              <a:solidFill>
                <a:srgbClr val="CFE2F3"/>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50"/>
              <a:buFont typeface="Arial"/>
              <a:buNone/>
            </a:pPr>
            <a:r>
              <a:rPr b="0" i="0" lang="en" sz="1450" u="none" cap="none" strike="noStrike">
                <a:solidFill>
                  <a:srgbClr val="CFE2F3"/>
                </a:solidFill>
                <a:latin typeface="Arial"/>
                <a:ea typeface="Arial"/>
                <a:cs typeface="Arial"/>
                <a:sym typeface="Arial"/>
              </a:rPr>
              <a:t>&gt;&gt;&gt; queryset = Student.objects.all()</a:t>
            </a:r>
            <a:endParaRPr b="0" i="0" sz="1450" u="none" cap="none" strike="noStrike">
              <a:solidFill>
                <a:srgbClr val="CFE2F3"/>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50"/>
              <a:buFont typeface="Arial"/>
              <a:buNone/>
            </a:pPr>
            <a:r>
              <a:rPr b="0" i="0" lang="en" sz="1450" u="none" cap="none" strike="noStrike">
                <a:solidFill>
                  <a:srgbClr val="CFE2F3"/>
                </a:solidFill>
                <a:latin typeface="Arial"/>
                <a:ea typeface="Arial"/>
                <a:cs typeface="Arial"/>
                <a:sym typeface="Arial"/>
              </a:rPr>
              <a:t>&gt;&gt;&gt; print(queryset)</a:t>
            </a:r>
            <a:endParaRPr b="0" i="0" sz="1450" u="none" cap="none" strike="noStrike">
              <a:solidFill>
                <a:srgbClr val="CFE2F3"/>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50"/>
              <a:buFont typeface="Arial"/>
              <a:buNone/>
            </a:pPr>
            <a:r>
              <a:rPr b="0" i="0" lang="en" sz="1450" u="none" cap="none" strike="noStrike">
                <a:solidFill>
                  <a:srgbClr val="D9EAD3"/>
                </a:solidFill>
                <a:latin typeface="Arial"/>
                <a:ea typeface="Arial"/>
                <a:cs typeface="Arial"/>
                <a:sym typeface="Arial"/>
              </a:rPr>
              <a:t>&lt;QuerySet [&lt;Student: Student1&gt;, &lt;Student: student 2&gt;]&gt;</a:t>
            </a:r>
            <a:endParaRPr b="0" i="0" sz="1450" u="none" cap="none" strike="noStrike">
              <a:solidFill>
                <a:srgbClr val="D9EAD3"/>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50"/>
              <a:buFont typeface="Arial"/>
              <a:buNone/>
            </a:pPr>
            <a:r>
              <a:rPr b="0" i="0" lang="en" sz="1450" u="none" cap="none" strike="noStrike">
                <a:solidFill>
                  <a:srgbClr val="FFD966"/>
                </a:solidFill>
                <a:latin typeface="Arial"/>
                <a:ea typeface="Arial"/>
                <a:cs typeface="Arial"/>
                <a:sym typeface="Arial"/>
              </a:rPr>
              <a:t>&gt;&gt;&gt; from django.db import connection</a:t>
            </a:r>
            <a:endParaRPr b="0" i="0" sz="1450" u="none" cap="none" strike="noStrike">
              <a:solidFill>
                <a:srgbClr val="FFD966"/>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50"/>
              <a:buFont typeface="Arial"/>
              <a:buNone/>
            </a:pPr>
            <a:r>
              <a:rPr b="0" i="0" lang="en" sz="1450" u="none" cap="none" strike="noStrike">
                <a:solidFill>
                  <a:srgbClr val="FFD966"/>
                </a:solidFill>
                <a:latin typeface="Arial"/>
                <a:ea typeface="Arial"/>
                <a:cs typeface="Arial"/>
                <a:sym typeface="Arial"/>
              </a:rPr>
              <a:t>&gt;&gt;&gt; print(connection.queries)</a:t>
            </a:r>
            <a:endParaRPr b="0" i="0" sz="1450" u="none" cap="none" strike="noStrike">
              <a:solidFill>
                <a:srgbClr val="FFD966"/>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50"/>
              <a:buFont typeface="Arial"/>
              <a:buNone/>
            </a:pPr>
            <a:r>
              <a:t/>
            </a:r>
            <a:endParaRPr b="0" i="0" sz="14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50"/>
              <a:buFont typeface="Arial"/>
              <a:buNone/>
            </a:pPr>
            <a:r>
              <a:rPr b="0" i="0" lang="en" sz="1450" u="none" cap="none" strike="noStrike">
                <a:solidFill>
                  <a:schemeClr val="dk1"/>
                </a:solidFill>
                <a:latin typeface="Arial"/>
                <a:ea typeface="Arial"/>
                <a:cs typeface="Arial"/>
                <a:sym typeface="Arial"/>
              </a:rPr>
              <a:t>[{'sql': 'SELECT "portfolio_app_student"."id", "portfolio_app_student"."name", "portfolio_app_student"."email", "portfolio_app_student"."major", "portfolio_app_student"."portfolio_id" FROM "portfolio_app_student" LIMIT 21', 'time': '0.001'}, {'sql': 'SELECT "portfolio_app_student"."id", "portfolio_app_student"."name", "portfolio_app_student"."email", "portfolio_app_student"."major", "portfolio_app_student"."portfolio_id" FROM "portfolio_app_student" LIMIT 21', 'time': '0.000'}]</a:t>
            </a:r>
            <a:endParaRPr b="0" i="0" sz="1350" u="none" cap="none" strike="noStrike">
              <a:solidFill>
                <a:schemeClr val="dk1"/>
              </a:solidFill>
              <a:latin typeface="Arial"/>
              <a:ea typeface="Arial"/>
              <a:cs typeface="Arial"/>
              <a:sym typeface="Arial"/>
            </a:endParaRPr>
          </a:p>
        </p:txBody>
      </p:sp>
      <p:sp>
        <p:nvSpPr>
          <p:cNvPr id="337" name="Google Shape;337;p51"/>
          <p:cNvSpPr/>
          <p:nvPr/>
        </p:nvSpPr>
        <p:spPr>
          <a:xfrm>
            <a:off x="3467050" y="2921800"/>
            <a:ext cx="5151000" cy="464400"/>
          </a:xfrm>
          <a:prstGeom prst="leftArrowCallout">
            <a:avLst>
              <a:gd fmla="val 25000" name="adj1"/>
              <a:gd fmla="val 25000" name="adj2"/>
              <a:gd fmla="val 25000" name="adj3"/>
              <a:gd fmla="val 86131" name="adj4"/>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Import connection allows you to view the query that was generated from the model action</a:t>
            </a:r>
            <a:endParaRPr b="0" i="0" sz="1400" u="none" cap="none" strike="noStrike">
              <a:solidFill>
                <a:srgbClr val="000000"/>
              </a:solidFill>
              <a:latin typeface="Arial"/>
              <a:ea typeface="Arial"/>
              <a:cs typeface="Arial"/>
              <a:sym typeface="Arial"/>
            </a:endParaRPr>
          </a:p>
        </p:txBody>
      </p:sp>
      <p:sp>
        <p:nvSpPr>
          <p:cNvPr id="338" name="Google Shape;338;p51"/>
          <p:cNvSpPr/>
          <p:nvPr/>
        </p:nvSpPr>
        <p:spPr>
          <a:xfrm>
            <a:off x="4395750" y="1809775"/>
            <a:ext cx="4512600" cy="897600"/>
          </a:xfrm>
          <a:prstGeom prst="leftArrowCallout">
            <a:avLst>
              <a:gd fmla="val 25000" name="adj1"/>
              <a:gd fmla="val 25000" name="adj2"/>
              <a:gd fmla="val 25000" name="adj3"/>
              <a:gd fmla="val 86131" name="adj4"/>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Import model and then retrieve </a:t>
            </a:r>
            <a:r>
              <a:rPr b="0" i="0" lang="en" sz="1400" u="sng" cap="none" strike="noStrike">
                <a:solidFill>
                  <a:srgbClr val="0000FF"/>
                </a:solidFill>
                <a:latin typeface="Arial"/>
                <a:ea typeface="Arial"/>
                <a:cs typeface="Arial"/>
                <a:sym typeface="Arial"/>
                <a:hlinkClick r:id="rId3">
                  <a:extLst>
                    <a:ext uri="{A12FA001-AC4F-418D-AE19-62706E023703}">
                      <ahyp:hlinkClr val="tx"/>
                    </a:ext>
                  </a:extLst>
                </a:hlinkClick>
              </a:rPr>
              <a:t>all objects</a:t>
            </a:r>
            <a:r>
              <a:rPr b="0" i="0" lang="en" sz="1400" u="none" cap="none" strike="noStrike">
                <a:solidFill>
                  <a:schemeClr val="lt1"/>
                </a:solidFill>
                <a:latin typeface="Arial"/>
                <a:ea typeface="Arial"/>
                <a:cs typeface="Arial"/>
                <a:sym typeface="Arial"/>
              </a:rPr>
              <a:t> and store them in queryset.</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Print to see the objects returned.</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Filter to Query</a:t>
            </a:r>
            <a:endParaRPr/>
          </a:p>
        </p:txBody>
      </p:sp>
      <p:sp>
        <p:nvSpPr>
          <p:cNvPr id="344" name="Google Shape;344;p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350">
              <a:solidFill>
                <a:srgbClr val="00000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a:p>
        </p:txBody>
      </p:sp>
      <p:sp>
        <p:nvSpPr>
          <p:cNvPr id="345" name="Google Shape;345;p52"/>
          <p:cNvSpPr txBox="1"/>
          <p:nvPr/>
        </p:nvSpPr>
        <p:spPr>
          <a:xfrm>
            <a:off x="311700" y="1357325"/>
            <a:ext cx="5128800" cy="182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 sz="1350" u="none" cap="none" strike="noStrike">
                <a:solidFill>
                  <a:schemeClr val="dk1"/>
                </a:solidFill>
                <a:latin typeface="Arial"/>
                <a:ea typeface="Arial"/>
                <a:cs typeface="Arial"/>
                <a:sym typeface="Arial"/>
              </a:rPr>
              <a:t>&gt;&gt;&gt; queryset = Student.objects.filter(name = "Student1")</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 sz="1350" u="none" cap="none" strike="noStrike">
                <a:solidFill>
                  <a:schemeClr val="dk1"/>
                </a:solidFill>
                <a:latin typeface="Arial"/>
                <a:ea typeface="Arial"/>
                <a:cs typeface="Arial"/>
                <a:sym typeface="Arial"/>
              </a:rPr>
              <a:t>&lt;QuerySet [&lt;Student: Student1&gt;]&gt;</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 sz="1350" u="none" cap="none" strike="noStrike">
                <a:solidFill>
                  <a:schemeClr val="dk1"/>
                </a:solidFill>
                <a:latin typeface="Arial"/>
                <a:ea typeface="Arial"/>
                <a:cs typeface="Arial"/>
                <a:sym typeface="Arial"/>
              </a:rPr>
              <a:t>&gt;&gt;&gt; print(queryset[</a:t>
            </a:r>
            <a:r>
              <a:rPr b="0" i="0" lang="en" sz="1350" u="none" cap="none" strike="noStrike">
                <a:solidFill>
                  <a:srgbClr val="FFD966"/>
                </a:solidFill>
                <a:latin typeface="Arial"/>
                <a:ea typeface="Arial"/>
                <a:cs typeface="Arial"/>
                <a:sym typeface="Arial"/>
              </a:rPr>
              <a:t>0</a:t>
            </a:r>
            <a:r>
              <a:rPr b="0" i="0" lang="en" sz="1350" u="none" cap="none" strike="noStrike">
                <a:solidFill>
                  <a:schemeClr val="dk1"/>
                </a:solidFill>
                <a:latin typeface="Arial"/>
                <a:ea typeface="Arial"/>
                <a:cs typeface="Arial"/>
                <a:sym typeface="Arial"/>
              </a:rPr>
              <a:t>])</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 sz="1350" u="none" cap="none" strike="noStrike">
                <a:solidFill>
                  <a:schemeClr val="dk1"/>
                </a:solidFill>
                <a:latin typeface="Arial"/>
                <a:ea typeface="Arial"/>
                <a:cs typeface="Arial"/>
                <a:sym typeface="Arial"/>
              </a:rPr>
              <a:t>Student1</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 sz="1350" u="none" cap="none" strike="noStrike">
                <a:solidFill>
                  <a:schemeClr val="dk1"/>
                </a:solidFill>
                <a:latin typeface="Arial"/>
                <a:ea typeface="Arial"/>
                <a:cs typeface="Arial"/>
                <a:sym typeface="Arial"/>
              </a:rPr>
              <a:t>&gt;&gt;&gt; print(queryset[</a:t>
            </a:r>
            <a:r>
              <a:rPr b="0" i="0" lang="en" sz="1350" u="none" cap="none" strike="noStrike">
                <a:solidFill>
                  <a:srgbClr val="FFE599"/>
                </a:solidFill>
                <a:latin typeface="Arial"/>
                <a:ea typeface="Arial"/>
                <a:cs typeface="Arial"/>
                <a:sym typeface="Arial"/>
              </a:rPr>
              <a:t>0</a:t>
            </a:r>
            <a:r>
              <a:rPr b="0" i="0" lang="en" sz="1350" u="none" cap="none" strike="noStrike">
                <a:solidFill>
                  <a:schemeClr val="dk1"/>
                </a:solidFill>
                <a:latin typeface="Arial"/>
                <a:ea typeface="Arial"/>
                <a:cs typeface="Arial"/>
                <a:sym typeface="Arial"/>
              </a:rPr>
              <a:t>].major)</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 sz="1350" u="none" cap="none" strike="noStrike">
                <a:solidFill>
                  <a:schemeClr val="dk1"/>
                </a:solidFill>
                <a:latin typeface="Arial"/>
                <a:ea typeface="Arial"/>
                <a:cs typeface="Arial"/>
                <a:sym typeface="Arial"/>
              </a:rPr>
              <a:t>BIGD-BI</a:t>
            </a:r>
            <a:endParaRPr b="0" i="0" sz="1400" u="none" cap="none" strike="noStrike">
              <a:solidFill>
                <a:schemeClr val="dk1"/>
              </a:solidFill>
              <a:latin typeface="Arial"/>
              <a:ea typeface="Arial"/>
              <a:cs typeface="Arial"/>
              <a:sym typeface="Arial"/>
            </a:endParaRPr>
          </a:p>
        </p:txBody>
      </p:sp>
      <p:pic>
        <p:nvPicPr>
          <p:cNvPr id="346" name="Google Shape;346;p52"/>
          <p:cNvPicPr preferRelativeResize="0"/>
          <p:nvPr/>
        </p:nvPicPr>
        <p:blipFill rotWithShape="1">
          <a:blip r:embed="rId3">
            <a:alphaModFix/>
          </a:blip>
          <a:srcRect b="0" l="9112" r="7058" t="3873"/>
          <a:stretch/>
        </p:blipFill>
        <p:spPr>
          <a:xfrm>
            <a:off x="193625" y="3523325"/>
            <a:ext cx="6043639" cy="1322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t>Lab: </a:t>
            </a:r>
            <a:r>
              <a:rPr lang="en" sz="2220"/>
              <a:t>ORM and SQL</a:t>
            </a:r>
            <a:endParaRPr sz="2220"/>
          </a:p>
        </p:txBody>
      </p:sp>
      <p:sp>
        <p:nvSpPr>
          <p:cNvPr id="352" name="Google Shape;352;p53"/>
          <p:cNvSpPr txBox="1"/>
          <p:nvPr>
            <p:ph idx="1" type="body"/>
          </p:nvPr>
        </p:nvSpPr>
        <p:spPr>
          <a:xfrm>
            <a:off x="311700" y="1152475"/>
            <a:ext cx="8520600" cy="3416400"/>
          </a:xfrm>
          <a:prstGeom prst="rect">
            <a:avLst/>
          </a:prstGeom>
          <a:solidFill>
            <a:srgbClr val="674EA7"/>
          </a:solidFill>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FFFFFF"/>
                </a:solidFill>
                <a:latin typeface="Lexend"/>
                <a:ea typeface="Lexend"/>
                <a:cs typeface="Lexend"/>
                <a:sym typeface="Lexend"/>
              </a:rPr>
              <a:t>Complete Steps 10: </a:t>
            </a:r>
            <a:r>
              <a:rPr lang="en" sz="1600">
                <a:solidFill>
                  <a:srgbClr val="FFFFFF"/>
                </a:solidFill>
                <a:latin typeface="Lexend"/>
                <a:ea typeface="Lexend"/>
                <a:cs typeface="Lexend"/>
                <a:sym typeface="Lexend"/>
              </a:rPr>
              <a:t>query the records and inspect print(students.query)</a:t>
            </a:r>
            <a:endParaRPr sz="1600">
              <a:solidFill>
                <a:srgbClr val="FFFFFF"/>
              </a:solidFill>
              <a:latin typeface="Lexend"/>
              <a:ea typeface="Lexend"/>
              <a:cs typeface="Lexend"/>
              <a:sym typeface="Lexend"/>
            </a:endParaRPr>
          </a:p>
          <a:p>
            <a:pPr indent="0" lvl="0" marL="0" rtl="0" algn="l">
              <a:spcBef>
                <a:spcPts val="0"/>
              </a:spcBef>
              <a:spcAft>
                <a:spcPts val="0"/>
              </a:spcAft>
              <a:buNone/>
            </a:pPr>
            <a:r>
              <a:t/>
            </a:r>
            <a:endParaRPr sz="1600">
              <a:solidFill>
                <a:srgbClr val="FFFFFF"/>
              </a:solidFill>
              <a:latin typeface="Lexend"/>
              <a:ea typeface="Lexend"/>
              <a:cs typeface="Lexend"/>
              <a:sym typeface="Lexend"/>
            </a:endParaRPr>
          </a:p>
          <a:p>
            <a:pPr indent="0" lvl="0" marL="0" rtl="0" algn="l">
              <a:spcBef>
                <a:spcPts val="0"/>
              </a:spcBef>
              <a:spcAft>
                <a:spcPts val="0"/>
              </a:spcAft>
              <a:buNone/>
            </a:pPr>
            <a:r>
              <a:rPr lang="en" sz="1600">
                <a:solidFill>
                  <a:srgbClr val="FFFFFF"/>
                </a:solidFill>
                <a:latin typeface="Lexend"/>
                <a:ea typeface="Lexend"/>
                <a:cs typeface="Lexend"/>
                <a:sym typeface="Lexend"/>
              </a:rPr>
              <a:t>Steps 8–9 and 11: complete the observations, commit and push, then write the summary</a:t>
            </a:r>
            <a:endParaRPr sz="1600">
              <a:solidFill>
                <a:srgbClr val="FFFFFF"/>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t>
            </a:r>
            <a:r>
              <a:rPr lang="en"/>
              <a:t>rom Model to Database Query</a:t>
            </a:r>
            <a:endParaRPr/>
          </a:p>
        </p:txBody>
      </p:sp>
      <p:sp>
        <p:nvSpPr>
          <p:cNvPr id="358" name="Google Shape;358;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0"/>
              </a:spcBef>
              <a:spcAft>
                <a:spcPts val="0"/>
              </a:spcAft>
              <a:buSzPts val="1800"/>
              <a:buAutoNum type="arabicPeriod"/>
            </a:pPr>
            <a:r>
              <a:rPr lang="en"/>
              <a:t>We defined Student as a Python class with fields.</a:t>
            </a:r>
            <a:endParaRPr/>
          </a:p>
          <a:p>
            <a:pPr indent="-342900" lvl="0" marL="457200" rtl="0" algn="l">
              <a:spcBef>
                <a:spcPts val="0"/>
              </a:spcBef>
              <a:spcAft>
                <a:spcPts val="0"/>
              </a:spcAft>
              <a:buSzPts val="1800"/>
              <a:buAutoNum type="arabicPeriod"/>
            </a:pPr>
            <a:r>
              <a:rPr lang="en"/>
              <a:t>makemigrations created a migration file describing the change.</a:t>
            </a:r>
            <a:endParaRPr/>
          </a:p>
          <a:p>
            <a:pPr indent="-342900" lvl="0" marL="457200" rtl="0" algn="l">
              <a:spcBef>
                <a:spcPts val="0"/>
              </a:spcBef>
              <a:spcAft>
                <a:spcPts val="0"/>
              </a:spcAft>
              <a:buSzPts val="1800"/>
              <a:buAutoNum type="arabicPeriod"/>
            </a:pPr>
            <a:r>
              <a:rPr lang="en"/>
              <a:t>migrate applied that change to SQLite, creating the portfolio_app_student table.</a:t>
            </a:r>
            <a:endParaRPr/>
          </a:p>
          <a:p>
            <a:pPr indent="-342900" lvl="0" marL="457200" rtl="0" algn="l">
              <a:spcBef>
                <a:spcPts val="0"/>
              </a:spcBef>
              <a:spcAft>
                <a:spcPts val="0"/>
              </a:spcAft>
              <a:buSzPts val="1800"/>
              <a:buAutoNum type="arabicPeriod"/>
            </a:pPr>
            <a:r>
              <a:rPr lang="en"/>
              <a:t>We used the admin to create Student records.</a:t>
            </a:r>
            <a:endParaRPr/>
          </a:p>
          <a:p>
            <a:pPr indent="-342900" lvl="0" marL="457200" rtl="0" algn="l">
              <a:spcBef>
                <a:spcPts val="0"/>
              </a:spcBef>
              <a:spcAft>
                <a:spcPts val="0"/>
              </a:spcAft>
              <a:buSzPts val="1800"/>
              <a:buAutoNum type="arabicPeriod"/>
            </a:pPr>
            <a:r>
              <a:rPr lang="en"/>
              <a:t>We used the Django ORM to query those records. Django translated the query into SQL.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 Deb">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